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7" r:id="rId2"/>
    <p:sldId id="258" r:id="rId3"/>
    <p:sldId id="259" r:id="rId4"/>
    <p:sldId id="286" r:id="rId5"/>
    <p:sldId id="288" r:id="rId6"/>
    <p:sldId id="300" r:id="rId7"/>
    <p:sldId id="289" r:id="rId8"/>
    <p:sldId id="270" r:id="rId9"/>
    <p:sldId id="282" r:id="rId10"/>
    <p:sldId id="291" r:id="rId11"/>
    <p:sldId id="292" r:id="rId12"/>
    <p:sldId id="284" r:id="rId13"/>
    <p:sldId id="293" r:id="rId14"/>
    <p:sldId id="294" r:id="rId15"/>
    <p:sldId id="295" r:id="rId16"/>
    <p:sldId id="304" r:id="rId17"/>
    <p:sldId id="305" r:id="rId18"/>
    <p:sldId id="285" r:id="rId19"/>
    <p:sldId id="262" r:id="rId20"/>
    <p:sldId id="302" r:id="rId21"/>
    <p:sldId id="301" r:id="rId22"/>
    <p:sldId id="303" r:id="rId23"/>
    <p:sldId id="298" r:id="rId24"/>
    <p:sldId id="299" r:id="rId25"/>
    <p:sldId id="297" r:id="rId26"/>
    <p:sldId id="279" r:id="rId27"/>
    <p:sldId id="306" r:id="rId28"/>
    <p:sldId id="28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1365DAE-5D47-4E53-B6C0-F0B6111DDFA4}">
          <p14:sldIdLst>
            <p14:sldId id="257"/>
          </p14:sldIdLst>
        </p14:section>
        <p14:section name="Content" id="{83116F56-84A5-4504-9BCB-36660D9C1DF1}">
          <p14:sldIdLst>
            <p14:sldId id="258"/>
          </p14:sldIdLst>
        </p14:section>
        <p14:section name="Introduction" id="{3C868B75-6140-4C4C-A905-16EF9D10F406}">
          <p14:sldIdLst>
            <p14:sldId id="259"/>
            <p14:sldId id="286"/>
            <p14:sldId id="288"/>
          </p14:sldIdLst>
        </p14:section>
        <p14:section name="Background Work" id="{9444D36A-2C7E-4FB2-9C18-F56A3375BBC9}">
          <p14:sldIdLst>
            <p14:sldId id="300"/>
            <p14:sldId id="289"/>
          </p14:sldIdLst>
        </p14:section>
        <p14:section name="Proposed Work" id="{2FD83B65-8DD8-4B2D-A2D9-DABD08BF4516}">
          <p14:sldIdLst>
            <p14:sldId id="270"/>
            <p14:sldId id="282"/>
            <p14:sldId id="291"/>
            <p14:sldId id="292"/>
            <p14:sldId id="284"/>
            <p14:sldId id="293"/>
            <p14:sldId id="294"/>
            <p14:sldId id="295"/>
            <p14:sldId id="304"/>
            <p14:sldId id="305"/>
            <p14:sldId id="285"/>
          </p14:sldIdLst>
        </p14:section>
        <p14:section name="Experiment &amp; Result" id="{0788CFBA-1603-4881-A205-12580DB4C704}">
          <p14:sldIdLst>
            <p14:sldId id="262"/>
            <p14:sldId id="302"/>
            <p14:sldId id="301"/>
            <p14:sldId id="303"/>
            <p14:sldId id="298"/>
            <p14:sldId id="299"/>
          </p14:sldIdLst>
        </p14:section>
        <p14:section name="Conclusion &amp; Future Work" id="{3E6D0449-FD72-447B-9109-E286B33FCF14}">
          <p14:sldIdLst>
            <p14:sldId id="297"/>
          </p14:sldIdLst>
        </p14:section>
        <p14:section name="References" id="{48D192D3-A3FE-429F-A445-0356B35DC95F}">
          <p14:sldIdLst>
            <p14:sldId id="279"/>
            <p14:sldId id="306"/>
          </p14:sldIdLst>
        </p14:section>
        <p14:section name="End" id="{7DE3202D-A0BC-49C5-B91C-475A98BB1725}">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61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snapToGrid="0">
      <p:cViewPr varScale="1">
        <p:scale>
          <a:sx n="69" d="100"/>
          <a:sy n="69" d="100"/>
        </p:scale>
        <p:origin x="63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347011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3518676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2399650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330265-6A9B-4FBC-AF90-323C092F7ED6}" type="datetimeFigureOut">
              <a:rPr lang="en-IN" smtClean="0"/>
              <a:t>27-07-2019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237090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9330265-6A9B-4FBC-AF90-323C092F7ED6}" type="datetimeFigureOut">
              <a:rPr lang="en-IN" smtClean="0"/>
              <a:t>27-07-2019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663024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1683991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28698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167580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9330265-6A9B-4FBC-AF90-323C092F7ED6}" type="datetimeFigureOut">
              <a:rPr lang="en-IN" smtClean="0"/>
              <a:t>27-07-2019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1516399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9330265-6A9B-4FBC-AF90-323C092F7ED6}" type="datetimeFigureOut">
              <a:rPr lang="en-IN" smtClean="0"/>
              <a:t>27-07-2019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470866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859248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262129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982620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3747706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76589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3008708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330265-6A9B-4FBC-AF90-323C092F7ED6}" type="datetimeFigureOut">
              <a:rPr lang="en-IN" smtClean="0"/>
              <a:t>27-07-2019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288E09-DE0C-46F4-8D05-9EC23F5B2F3D}" type="slidenum">
              <a:rPr lang="en-IN" smtClean="0"/>
              <a:t>‹#›</a:t>
            </a:fld>
            <a:endParaRPr lang="en-IN"/>
          </a:p>
        </p:txBody>
      </p:sp>
    </p:spTree>
    <p:extLst>
      <p:ext uri="{BB962C8B-B14F-4D97-AF65-F5344CB8AC3E}">
        <p14:creationId xmlns:p14="http://schemas.microsoft.com/office/powerpoint/2010/main" val="381820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9330265-6A9B-4FBC-AF90-323C092F7ED6}" type="datetimeFigureOut">
              <a:rPr lang="en-IN" smtClean="0"/>
              <a:t>27-07-2019</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8288E09-DE0C-46F4-8D05-9EC23F5B2F3D}" type="slidenum">
              <a:rPr lang="en-IN" smtClean="0"/>
              <a:t>‹#›</a:t>
            </a:fld>
            <a:endParaRPr lang="en-IN"/>
          </a:p>
        </p:txBody>
      </p:sp>
    </p:spTree>
    <p:extLst>
      <p:ext uri="{BB962C8B-B14F-4D97-AF65-F5344CB8AC3E}">
        <p14:creationId xmlns:p14="http://schemas.microsoft.com/office/powerpoint/2010/main" val="1189290510"/>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rowData/csv.xlsx" TargetMode="External"/><Relationship Id="rId2" Type="http://schemas.openxmlformats.org/officeDocument/2006/relationships/hyperlink" Target="file:///D:\SemIV\dataanalysisProject\presentation\rowData\xml.xml" TargetMode="External"/><Relationship Id="rId1" Type="http://schemas.openxmlformats.org/officeDocument/2006/relationships/slideLayout" Target="../slideLayouts/slideLayout7.xml"/><Relationship Id="rId6" Type="http://schemas.openxmlformats.org/officeDocument/2006/relationships/hyperlink" Target="../data/RainFallData.xlsx" TargetMode="External"/><Relationship Id="rId5" Type="http://schemas.openxmlformats.org/officeDocument/2006/relationships/hyperlink" Target="RainFallData.xlsx" TargetMode="External"/><Relationship Id="rId4" Type="http://schemas.openxmlformats.org/officeDocument/2006/relationships/hyperlink" Target="rowData/json"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data/RainFallData.xlsx"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screenshorts"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www.thegeekstuff.com/" TargetMode="External"/><Relationship Id="rId2" Type="http://schemas.openxmlformats.org/officeDocument/2006/relationships/hyperlink" Target="https://www.nasa.gov/"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www.imd.gov.in/pages/services_climate.php"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091" y="168717"/>
            <a:ext cx="11376835" cy="4154984"/>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6600" b="1" dirty="0" smtClean="0">
                <a:ln>
                  <a:solidFill>
                    <a:schemeClr val="tx1"/>
                  </a:solidFill>
                </a:ln>
                <a:latin typeface="Algerian" panose="04020705040A02060702" pitchFamily="82" charset="0"/>
              </a:rPr>
              <a:t>ANALYSIS </a:t>
            </a:r>
            <a:r>
              <a:rPr lang="en-IN" sz="6600" b="1" dirty="0">
                <a:ln>
                  <a:solidFill>
                    <a:schemeClr val="tx1"/>
                  </a:solidFill>
                </a:ln>
                <a:latin typeface="Algerian" panose="04020705040A02060702" pitchFamily="82" charset="0"/>
              </a:rPr>
              <a:t>OF </a:t>
            </a:r>
            <a:endParaRPr lang="en-IN" sz="6600" b="1" dirty="0" smtClean="0">
              <a:ln>
                <a:solidFill>
                  <a:schemeClr val="tx1"/>
                </a:solidFill>
              </a:ln>
              <a:latin typeface="Algerian" panose="04020705040A02060702" pitchFamily="82" charset="0"/>
            </a:endParaRPr>
          </a:p>
          <a:p>
            <a:pPr algn="ctr"/>
            <a:r>
              <a:rPr lang="en-IN" sz="6600" b="1" dirty="0" smtClean="0">
                <a:ln>
                  <a:solidFill>
                    <a:schemeClr val="tx1"/>
                  </a:solidFill>
                </a:ln>
                <a:latin typeface="Algerian" panose="04020705040A02060702" pitchFamily="82" charset="0"/>
              </a:rPr>
              <a:t>INDIAN </a:t>
            </a:r>
            <a:r>
              <a:rPr lang="en-IN" sz="6600" b="1" dirty="0">
                <a:ln>
                  <a:solidFill>
                    <a:schemeClr val="tx1"/>
                  </a:solidFill>
                </a:ln>
                <a:latin typeface="Algerian" panose="04020705040A02060702" pitchFamily="82" charset="0"/>
              </a:rPr>
              <a:t>RAINFALL DATA </a:t>
            </a:r>
            <a:endParaRPr lang="en-IN" sz="6600" b="1" dirty="0" smtClean="0">
              <a:ln>
                <a:solidFill>
                  <a:schemeClr val="tx1"/>
                </a:solidFill>
              </a:ln>
              <a:latin typeface="Algerian" panose="04020705040A02060702" pitchFamily="82" charset="0"/>
            </a:endParaRPr>
          </a:p>
          <a:p>
            <a:pPr algn="ctr"/>
            <a:r>
              <a:rPr lang="en-IN" sz="6600" b="1" dirty="0" smtClean="0">
                <a:ln>
                  <a:solidFill>
                    <a:schemeClr val="tx1"/>
                  </a:solidFill>
                </a:ln>
                <a:latin typeface="Algerian" panose="04020705040A02060702" pitchFamily="82" charset="0"/>
              </a:rPr>
              <a:t>FOR </a:t>
            </a:r>
          </a:p>
          <a:p>
            <a:pPr algn="ctr"/>
            <a:r>
              <a:rPr lang="en-IN" sz="6600" b="1" dirty="0" smtClean="0">
                <a:ln>
                  <a:solidFill>
                    <a:schemeClr val="tx1"/>
                  </a:solidFill>
                </a:ln>
                <a:latin typeface="Algerian" panose="04020705040A02060702" pitchFamily="82" charset="0"/>
              </a:rPr>
              <a:t>FUTURE </a:t>
            </a:r>
            <a:r>
              <a:rPr lang="en-IN" sz="6600" b="1" dirty="0">
                <a:ln>
                  <a:solidFill>
                    <a:schemeClr val="tx1"/>
                  </a:solidFill>
                </a:ln>
                <a:latin typeface="Algerian" panose="04020705040A02060702" pitchFamily="82" charset="0"/>
              </a:rPr>
              <a:t>PREDICTION</a:t>
            </a:r>
            <a:endParaRPr lang="en-US" sz="6600" b="1" dirty="0">
              <a:ln>
                <a:solidFill>
                  <a:schemeClr val="tx1"/>
                </a:solidFill>
              </a:ln>
              <a:latin typeface="Algerian" panose="04020705040A02060702" pitchFamily="82" charset="0"/>
            </a:endParaRPr>
          </a:p>
        </p:txBody>
      </p:sp>
      <p:sp>
        <p:nvSpPr>
          <p:cNvPr id="3" name="TextBox 2"/>
          <p:cNvSpPr txBox="1"/>
          <p:nvPr/>
        </p:nvSpPr>
        <p:spPr>
          <a:xfrm>
            <a:off x="6677891" y="4724400"/>
            <a:ext cx="5389417" cy="1938992"/>
          </a:xfrm>
          <a:prstGeom prst="rect">
            <a:avLst/>
          </a:prstGeom>
          <a:noFill/>
        </p:spPr>
        <p:txBody>
          <a:bodyPr wrap="square" rtlCol="0">
            <a:spAutoFit/>
          </a:bodyPr>
          <a:lstStyle/>
          <a:p>
            <a:r>
              <a:rPr lang="en-IN" sz="2000" b="1" dirty="0" smtClean="0">
                <a:latin typeface="Consolas" panose="020B0609020204030204" pitchFamily="49" charset="0"/>
              </a:rPr>
              <a:t>Name: Biswasindhu Mandal</a:t>
            </a:r>
          </a:p>
          <a:p>
            <a:r>
              <a:rPr lang="en-IN" sz="2000" b="1" dirty="0" smtClean="0">
                <a:latin typeface="Consolas" panose="020B0609020204030204" pitchFamily="49" charset="0"/>
              </a:rPr>
              <a:t>Master of Computer Application(CSE)</a:t>
            </a:r>
          </a:p>
          <a:p>
            <a:r>
              <a:rPr lang="en-IN" sz="2000" b="1" dirty="0" smtClean="0">
                <a:latin typeface="Consolas" panose="020B0609020204030204" pitchFamily="49" charset="0"/>
              </a:rPr>
              <a:t>Class Roll No.- 001610503028</a:t>
            </a:r>
          </a:p>
          <a:p>
            <a:r>
              <a:rPr lang="en-IN" sz="2000" b="1" dirty="0" smtClean="0">
                <a:latin typeface="Consolas" panose="020B0609020204030204" pitchFamily="49" charset="0"/>
              </a:rPr>
              <a:t>Exam Roll No.- MCA196024</a:t>
            </a:r>
          </a:p>
          <a:p>
            <a:r>
              <a:rPr lang="en-IN" sz="2000" b="1" dirty="0" smtClean="0">
                <a:latin typeface="Consolas" panose="020B0609020204030204" pitchFamily="49" charset="0"/>
              </a:rPr>
              <a:t>Registration No.- 137335 of 2016-2017</a:t>
            </a:r>
          </a:p>
          <a:p>
            <a:r>
              <a:rPr lang="en-IN" sz="2000" b="1" dirty="0" smtClean="0">
                <a:latin typeface="Consolas" panose="020B0609020204030204" pitchFamily="49" charset="0"/>
              </a:rPr>
              <a:t>Jadavpur University</a:t>
            </a:r>
          </a:p>
        </p:txBody>
      </p:sp>
    </p:spTree>
    <p:extLst>
      <p:ext uri="{BB962C8B-B14F-4D97-AF65-F5344CB8AC3E}">
        <p14:creationId xmlns:p14="http://schemas.microsoft.com/office/powerpoint/2010/main" val="118551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22525" y="249381"/>
            <a:ext cx="2608406" cy="923330"/>
          </a:xfrm>
          <a:prstGeom prst="rect">
            <a:avLst/>
          </a:prstGeom>
          <a:noFill/>
        </p:spPr>
        <p:txBody>
          <a:bodyPr wrap="none" lIns="91440" tIns="45720" rIns="91440" bIns="45720">
            <a:spAutoFit/>
          </a:bodyPr>
          <a:lstStyle/>
          <a:p>
            <a:pPr algn="ctr"/>
            <a:r>
              <a:rPr lang="en-US" sz="5400" b="0" cap="none" spc="0" dirty="0" smtClean="0">
                <a:ln w="0"/>
                <a:solidFill>
                  <a:schemeClr val="tx1"/>
                </a:solidFill>
                <a:effectLst>
                  <a:outerShdw blurRad="38100" dist="19050" dir="2700000" algn="tl" rotWithShape="0">
                    <a:schemeClr val="dk1">
                      <a:alpha val="40000"/>
                    </a:schemeClr>
                  </a:outerShdw>
                </a:effectLst>
                <a:latin typeface="Calibri (Body)"/>
              </a:rPr>
              <a:t>Content</a:t>
            </a:r>
            <a:endParaRPr lang="en-US" sz="5400" b="0"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Rectangle 2"/>
          <p:cNvSpPr/>
          <p:nvPr/>
        </p:nvSpPr>
        <p:spPr>
          <a:xfrm>
            <a:off x="816091" y="1985665"/>
            <a:ext cx="6081793" cy="2308324"/>
          </a:xfrm>
          <a:prstGeom prst="rect">
            <a:avLst/>
          </a:prstGeom>
          <a:noFill/>
        </p:spPr>
        <p:txBody>
          <a:bodyPr wrap="none" lIns="91440" tIns="45720" rIns="91440" bIns="45720">
            <a:spAutoFit/>
          </a:bodyPr>
          <a:lstStyle/>
          <a:p>
            <a:pPr marL="514350" indent="-514350">
              <a:buFont typeface="+mj-lt"/>
              <a:buAutoNum type="arabicPeriod"/>
            </a:pPr>
            <a:r>
              <a:rPr lang="en-US" sz="3600" dirty="0" smtClean="0">
                <a:ln w="0"/>
                <a:effectLst>
                  <a:outerShdw blurRad="38100" dist="19050" dir="2700000" algn="tl" rotWithShape="0">
                    <a:schemeClr val="dk1">
                      <a:alpha val="40000"/>
                    </a:schemeClr>
                  </a:outerShdw>
                </a:effectLst>
                <a:latin typeface="Calibri (Body)"/>
              </a:rPr>
              <a:t>Introduction</a:t>
            </a:r>
          </a:p>
          <a:p>
            <a:pPr marL="514350" indent="-514350">
              <a:buFont typeface="+mj-lt"/>
              <a:buAutoNum type="arabicPeriod"/>
            </a:pPr>
            <a:r>
              <a:rPr lang="en-US" sz="3600" dirty="0" smtClean="0">
                <a:ln w="0"/>
                <a:effectLst>
                  <a:outerShdw blurRad="38100" dist="19050" dir="2700000" algn="tl" rotWithShape="0">
                    <a:schemeClr val="dk1">
                      <a:alpha val="40000"/>
                    </a:schemeClr>
                  </a:outerShdw>
                </a:effectLst>
                <a:latin typeface="Calibri (Body)"/>
              </a:rPr>
              <a:t>Proposed Work</a:t>
            </a:r>
          </a:p>
          <a:p>
            <a:pPr marL="514350" indent="-514350">
              <a:buFont typeface="+mj-lt"/>
              <a:buAutoNum type="arabicPeriod"/>
            </a:pPr>
            <a:r>
              <a:rPr lang="en-US" sz="3600" dirty="0" smtClean="0">
                <a:ln w="0"/>
                <a:effectLst>
                  <a:outerShdw blurRad="38100" dist="19050" dir="2700000" algn="tl" rotWithShape="0">
                    <a:schemeClr val="dk1">
                      <a:alpha val="40000"/>
                    </a:schemeClr>
                  </a:outerShdw>
                </a:effectLst>
                <a:latin typeface="Calibri (Body)"/>
              </a:rPr>
              <a:t>Experiment &amp; Result</a:t>
            </a:r>
          </a:p>
          <a:p>
            <a:pPr marL="514350" indent="-514350">
              <a:buFont typeface="+mj-lt"/>
              <a:buAutoNum type="arabicPeriod"/>
            </a:pPr>
            <a:r>
              <a:rPr lang="en-US" sz="3600" dirty="0" smtClean="0">
                <a:ln w="0"/>
                <a:effectLst>
                  <a:outerShdw blurRad="38100" dist="19050" dir="2700000" algn="tl" rotWithShape="0">
                    <a:schemeClr val="dk1">
                      <a:alpha val="40000"/>
                    </a:schemeClr>
                  </a:outerShdw>
                </a:effectLst>
                <a:latin typeface="Calibri (Body)"/>
              </a:rPr>
              <a:t>Conclusion &amp; Future Work</a:t>
            </a:r>
          </a:p>
        </p:txBody>
      </p:sp>
    </p:spTree>
    <p:extLst>
      <p:ext uri="{BB962C8B-B14F-4D97-AF65-F5344CB8AC3E}">
        <p14:creationId xmlns:p14="http://schemas.microsoft.com/office/powerpoint/2010/main" val="67582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642" y="435905"/>
            <a:ext cx="5379237" cy="769441"/>
          </a:xfrm>
          <a:prstGeom prst="rect">
            <a:avLst/>
          </a:prstGeom>
          <a:noFill/>
        </p:spPr>
        <p:txBody>
          <a:bodyPr wrap="square" lIns="91440" tIns="45720" rIns="91440" bIns="45720">
            <a:spAutoFit/>
          </a:bodyPr>
          <a:lstStyle/>
          <a:p>
            <a:pPr algn="ctr"/>
            <a:r>
              <a:rPr lang="en-US" sz="4400" b="1" dirty="0" smtClean="0">
                <a:ln w="0"/>
                <a:effectLst>
                  <a:outerShdw blurRad="38100" dist="19050" dir="2700000" algn="tl" rotWithShape="0">
                    <a:schemeClr val="dk1">
                      <a:alpha val="40000"/>
                    </a:schemeClr>
                  </a:outerShdw>
                </a:effectLst>
                <a:latin typeface="Calibri (Body)"/>
              </a:rPr>
              <a:t>Introduction: Basic</a:t>
            </a:r>
            <a:endParaRPr lang="en-US" sz="4400" b="1" dirty="0">
              <a:ln w="0"/>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274642" y="1773382"/>
            <a:ext cx="11501721" cy="3908762"/>
          </a:xfrm>
          <a:prstGeom prst="rect">
            <a:avLst/>
          </a:prstGeom>
          <a:noFill/>
        </p:spPr>
        <p:txBody>
          <a:bodyPr wrap="square" rtlCol="0">
            <a:spAutoFit/>
          </a:bodyPr>
          <a:lstStyle/>
          <a:p>
            <a:pPr marL="342900" indent="-342900">
              <a:buFont typeface="Wingdings" panose="05000000000000000000" pitchFamily="2" charset="2"/>
              <a:buChar char="v"/>
            </a:pPr>
            <a:r>
              <a:rPr lang="en-IN" sz="3200" dirty="0" smtClean="0">
                <a:latin typeface="Calibri (Body)"/>
              </a:rPr>
              <a:t>Difference of weather &amp; climate</a:t>
            </a:r>
          </a:p>
          <a:p>
            <a:endParaRPr lang="en-IN" sz="2400" dirty="0" smtClean="0">
              <a:latin typeface="Calibri (Body)"/>
            </a:endParaRPr>
          </a:p>
          <a:p>
            <a:pPr marL="342900" indent="-342900">
              <a:buFont typeface="Wingdings" panose="05000000000000000000" pitchFamily="2" charset="2"/>
              <a:buChar char="ü"/>
            </a:pPr>
            <a:r>
              <a:rPr lang="en-IN" sz="2400" dirty="0" smtClean="0">
                <a:latin typeface="Calibri (Body)"/>
              </a:rPr>
              <a:t>weather </a:t>
            </a:r>
            <a:r>
              <a:rPr lang="en-IN" sz="2400" dirty="0">
                <a:latin typeface="Calibri (Body)"/>
              </a:rPr>
              <a:t>and climate is a measure of time. </a:t>
            </a:r>
            <a:endParaRPr lang="en-IN" sz="2400" dirty="0" smtClean="0">
              <a:latin typeface="Calibri (Body)"/>
            </a:endParaRPr>
          </a:p>
          <a:p>
            <a:pPr marL="342900" indent="-342900">
              <a:buFont typeface="Wingdings" panose="05000000000000000000" pitchFamily="2" charset="2"/>
              <a:buChar char="ü"/>
            </a:pPr>
            <a:endParaRPr lang="en-IN" sz="2400" dirty="0" smtClean="0">
              <a:latin typeface="Calibri (Body)"/>
            </a:endParaRPr>
          </a:p>
          <a:p>
            <a:pPr marL="342900" indent="-342900">
              <a:buFont typeface="Wingdings" panose="05000000000000000000" pitchFamily="2" charset="2"/>
              <a:buChar char="ü"/>
            </a:pPr>
            <a:r>
              <a:rPr lang="en-IN" sz="2400" dirty="0" smtClean="0">
                <a:latin typeface="Calibri (Body)"/>
              </a:rPr>
              <a:t>Weather </a:t>
            </a:r>
            <a:r>
              <a:rPr lang="en-IN" sz="2400" dirty="0">
                <a:latin typeface="Calibri (Body)"/>
              </a:rPr>
              <a:t>is </a:t>
            </a:r>
            <a:r>
              <a:rPr lang="en-IN" sz="2400" dirty="0" smtClean="0">
                <a:latin typeface="Calibri (Body)"/>
              </a:rPr>
              <a:t>conditions </a:t>
            </a:r>
            <a:r>
              <a:rPr lang="en-IN" sz="2400" dirty="0">
                <a:latin typeface="Calibri (Body)"/>
              </a:rPr>
              <a:t>of the atmosphere are over a short period of </a:t>
            </a:r>
            <a:r>
              <a:rPr lang="en-IN" sz="2400" dirty="0" smtClean="0">
                <a:latin typeface="Calibri (Body)"/>
              </a:rPr>
              <a:t>time.</a:t>
            </a:r>
          </a:p>
          <a:p>
            <a:r>
              <a:rPr lang="en-IN" sz="2400" dirty="0">
                <a:latin typeface="Calibri (Body)"/>
              </a:rPr>
              <a:t> </a:t>
            </a:r>
            <a:r>
              <a:rPr lang="en-IN" sz="2400" dirty="0" smtClean="0">
                <a:latin typeface="Calibri (Body)"/>
              </a:rPr>
              <a:t>    Climate </a:t>
            </a:r>
            <a:r>
              <a:rPr lang="en-IN" sz="2400" dirty="0">
                <a:latin typeface="Calibri (Body)"/>
              </a:rPr>
              <a:t>is how the atmosphere </a:t>
            </a:r>
            <a:r>
              <a:rPr lang="en-IN" sz="2400" dirty="0" smtClean="0">
                <a:latin typeface="Calibri (Body)"/>
              </a:rPr>
              <a:t>behaves </a:t>
            </a:r>
            <a:r>
              <a:rPr lang="en-IN" sz="2400" dirty="0">
                <a:latin typeface="Calibri (Body)"/>
              </a:rPr>
              <a:t>over relatively long periods of time</a:t>
            </a:r>
            <a:r>
              <a:rPr lang="en-IN" sz="2400" dirty="0" smtClean="0">
                <a:latin typeface="Calibri (Body)"/>
              </a:rPr>
              <a:t>.</a:t>
            </a:r>
          </a:p>
          <a:p>
            <a:pPr marL="342900" indent="-342900">
              <a:buFont typeface="Wingdings" panose="05000000000000000000" pitchFamily="2" charset="2"/>
              <a:buChar char="ü"/>
            </a:pPr>
            <a:endParaRPr lang="en-IN" sz="2400" dirty="0" smtClean="0">
              <a:latin typeface="Calibri (Body)"/>
            </a:endParaRPr>
          </a:p>
          <a:p>
            <a:pPr marL="342900" indent="-342900">
              <a:buFont typeface="Wingdings" panose="05000000000000000000" pitchFamily="2" charset="2"/>
              <a:buChar char="ü"/>
            </a:pPr>
            <a:r>
              <a:rPr lang="en-IN" sz="2400" dirty="0" smtClean="0">
                <a:latin typeface="Calibri (Body)"/>
              </a:rPr>
              <a:t>An </a:t>
            </a:r>
            <a:r>
              <a:rPr lang="en-IN" sz="2400" dirty="0">
                <a:latin typeface="Calibri (Body)"/>
              </a:rPr>
              <a:t>easy way to remember the difference is </a:t>
            </a:r>
            <a:r>
              <a:rPr lang="en-IN" sz="2400" dirty="0" smtClean="0">
                <a:latin typeface="Calibri (Body)"/>
              </a:rPr>
              <a:t>that,</a:t>
            </a:r>
          </a:p>
          <a:p>
            <a:r>
              <a:rPr lang="en-IN" sz="2400" dirty="0">
                <a:latin typeface="Calibri (Body)"/>
              </a:rPr>
              <a:t> </a:t>
            </a:r>
            <a:r>
              <a:rPr lang="en-IN" sz="2400" dirty="0" smtClean="0">
                <a:latin typeface="Calibri (Body)"/>
              </a:rPr>
              <a:t>    weather </a:t>
            </a:r>
            <a:r>
              <a:rPr lang="en-IN" sz="2400" dirty="0">
                <a:latin typeface="Calibri (Body)"/>
              </a:rPr>
              <a:t>is </a:t>
            </a:r>
            <a:r>
              <a:rPr lang="en-IN" sz="2400" dirty="0" smtClean="0">
                <a:latin typeface="Calibri (Body)"/>
              </a:rPr>
              <a:t>like </a:t>
            </a:r>
            <a:r>
              <a:rPr lang="en-IN" sz="2400" dirty="0">
                <a:latin typeface="Calibri (Body)"/>
              </a:rPr>
              <a:t>a hot day with pop-up </a:t>
            </a:r>
            <a:r>
              <a:rPr lang="en-IN" sz="2400" dirty="0" smtClean="0">
                <a:latin typeface="Calibri (Body)"/>
              </a:rPr>
              <a:t>thunderstorms and </a:t>
            </a:r>
          </a:p>
          <a:p>
            <a:r>
              <a:rPr lang="en-IN" sz="2400" dirty="0">
                <a:latin typeface="Calibri (Body)"/>
              </a:rPr>
              <a:t> </a:t>
            </a:r>
            <a:r>
              <a:rPr lang="en-IN" sz="2400" dirty="0" smtClean="0">
                <a:latin typeface="Calibri (Body)"/>
              </a:rPr>
              <a:t>    climate </a:t>
            </a:r>
            <a:r>
              <a:rPr lang="en-IN" sz="2400" dirty="0">
                <a:latin typeface="Calibri (Body)"/>
              </a:rPr>
              <a:t>is what you expect, like a very hot </a:t>
            </a:r>
            <a:r>
              <a:rPr lang="en-IN" sz="2400" dirty="0" smtClean="0">
                <a:latin typeface="Calibri (Body)"/>
              </a:rPr>
              <a:t>summer, cold winter.2</a:t>
            </a:r>
          </a:p>
        </p:txBody>
      </p:sp>
    </p:spTree>
    <p:extLst>
      <p:ext uri="{BB962C8B-B14F-4D97-AF65-F5344CB8AC3E}">
        <p14:creationId xmlns:p14="http://schemas.microsoft.com/office/powerpoint/2010/main" val="365739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769" y="279223"/>
            <a:ext cx="7933582" cy="769441"/>
          </a:xfrm>
          <a:prstGeom prst="rect">
            <a:avLst/>
          </a:prstGeom>
          <a:noFill/>
        </p:spPr>
        <p:txBody>
          <a:bodyPr wrap="none" lIns="91440" tIns="45720" rIns="91440" bIns="45720">
            <a:spAutoFit/>
          </a:bodyPr>
          <a:lstStyle/>
          <a:p>
            <a:pPr algn="ctr"/>
            <a:r>
              <a:rPr lang="en-US" sz="4400" b="1" dirty="0" smtClean="0">
                <a:ln w="0"/>
                <a:effectLst>
                  <a:outerShdw blurRad="38100" dist="19050" dir="2700000" algn="tl" rotWithShape="0">
                    <a:schemeClr val="dk1">
                      <a:alpha val="40000"/>
                    </a:schemeClr>
                  </a:outerShdw>
                </a:effectLst>
              </a:rPr>
              <a:t>Introduction : Indian Rainfall</a:t>
            </a:r>
            <a:endParaRPr lang="en-US" sz="4400" b="1" dirty="0">
              <a:ln w="0"/>
              <a:effectLst>
                <a:outerShdw blurRad="38100" dist="19050" dir="2700000" algn="tl" rotWithShape="0">
                  <a:schemeClr val="dk1">
                    <a:alpha val="40000"/>
                  </a:schemeClr>
                </a:outerShdw>
              </a:effectLst>
            </a:endParaRPr>
          </a:p>
        </p:txBody>
      </p:sp>
      <p:sp>
        <p:nvSpPr>
          <p:cNvPr id="3" name="TextBox 2"/>
          <p:cNvSpPr txBox="1"/>
          <p:nvPr/>
        </p:nvSpPr>
        <p:spPr>
          <a:xfrm>
            <a:off x="357769" y="1323111"/>
            <a:ext cx="10808995" cy="830997"/>
          </a:xfrm>
          <a:prstGeom prst="rect">
            <a:avLst/>
          </a:prstGeom>
          <a:noFill/>
        </p:spPr>
        <p:txBody>
          <a:bodyPr wrap="square" rtlCol="0">
            <a:spAutoFit/>
          </a:bodyPr>
          <a:lstStyle/>
          <a:p>
            <a:pPr marL="342900" indent="-342900">
              <a:buFont typeface="Wingdings" panose="05000000000000000000" pitchFamily="2" charset="2"/>
              <a:buChar char="ü"/>
            </a:pPr>
            <a:r>
              <a:rPr lang="en-IN" sz="2400" dirty="0" smtClean="0">
                <a:latin typeface="Calibri (Body)"/>
              </a:rPr>
              <a:t>Rainfall </a:t>
            </a:r>
            <a:r>
              <a:rPr lang="en-IN" sz="2400" dirty="0">
                <a:latin typeface="Calibri (Body)"/>
              </a:rPr>
              <a:t>is </a:t>
            </a:r>
            <a:r>
              <a:rPr lang="en-IN" sz="2400" dirty="0" smtClean="0">
                <a:latin typeface="Calibri (Body)"/>
              </a:rPr>
              <a:t>part of climate. </a:t>
            </a:r>
            <a:r>
              <a:rPr lang="en-IN" sz="2400" dirty="0">
                <a:latin typeface="Calibri (Body)"/>
              </a:rPr>
              <a:t>It plays an important role in the assessment of climatic water balance of a region</a:t>
            </a:r>
            <a:r>
              <a:rPr lang="en-IN" sz="2400" dirty="0" smtClean="0">
                <a:latin typeface="Calibri (Body)"/>
              </a:rPr>
              <a:t>.</a:t>
            </a:r>
          </a:p>
        </p:txBody>
      </p:sp>
      <p:sp>
        <p:nvSpPr>
          <p:cNvPr id="4" name="TextBox 3"/>
          <p:cNvSpPr txBox="1"/>
          <p:nvPr/>
        </p:nvSpPr>
        <p:spPr>
          <a:xfrm>
            <a:off x="357769" y="2428555"/>
            <a:ext cx="11349322" cy="4216539"/>
          </a:xfrm>
          <a:prstGeom prst="rect">
            <a:avLst/>
          </a:prstGeom>
          <a:noFill/>
        </p:spPr>
        <p:txBody>
          <a:bodyPr wrap="square" rtlCol="0">
            <a:spAutoFit/>
          </a:bodyPr>
          <a:lstStyle/>
          <a:p>
            <a:pPr marL="285750" indent="-285750">
              <a:buFont typeface="Wingdings" panose="05000000000000000000" pitchFamily="2" charset="2"/>
              <a:buChar char="v"/>
            </a:pPr>
            <a:r>
              <a:rPr lang="en-IN" sz="2800" b="1" dirty="0" smtClean="0">
                <a:latin typeface="Calibri (Body)"/>
              </a:rPr>
              <a:t>Importance of Indian Rainfall</a:t>
            </a:r>
          </a:p>
          <a:p>
            <a:pPr marL="285750" indent="-285750">
              <a:buFont typeface="Wingdings" panose="05000000000000000000" pitchFamily="2" charset="2"/>
              <a:buChar char="v"/>
            </a:pPr>
            <a:endParaRPr lang="en-IN" sz="2400" dirty="0" smtClean="0">
              <a:latin typeface="Calibri (Body)"/>
            </a:endParaRPr>
          </a:p>
          <a:p>
            <a:pPr marL="342900" indent="-342900">
              <a:buFont typeface="Wingdings" panose="05000000000000000000" pitchFamily="2" charset="2"/>
              <a:buChar char="ü"/>
            </a:pPr>
            <a:r>
              <a:rPr lang="en-IN" sz="2400" dirty="0">
                <a:latin typeface="Calibri (Body)"/>
              </a:rPr>
              <a:t>India is a riverine country. It falls under the active monsoon region of the world</a:t>
            </a:r>
            <a:r>
              <a:rPr lang="en-IN" sz="2400" dirty="0" smtClean="0">
                <a:latin typeface="Calibri (Body)"/>
              </a:rPr>
              <a:t>.</a:t>
            </a:r>
          </a:p>
          <a:p>
            <a:pPr marL="342900" indent="-342900">
              <a:buFont typeface="Wingdings" panose="05000000000000000000" pitchFamily="2" charset="2"/>
              <a:buChar char="ü"/>
            </a:pPr>
            <a:endParaRPr lang="en-IN" sz="2400" dirty="0" smtClean="0">
              <a:latin typeface="Calibri (Body)"/>
            </a:endParaRPr>
          </a:p>
          <a:p>
            <a:pPr marL="342900" indent="-342900">
              <a:buFont typeface="Wingdings" panose="05000000000000000000" pitchFamily="2" charset="2"/>
              <a:buChar char="ü"/>
            </a:pPr>
            <a:r>
              <a:rPr lang="en-IN" sz="2400" dirty="0" smtClean="0">
                <a:latin typeface="Calibri (Body)"/>
              </a:rPr>
              <a:t>The river area holds 81% of our country. </a:t>
            </a:r>
          </a:p>
          <a:p>
            <a:pPr marL="342900" indent="-342900">
              <a:buFont typeface="Wingdings" panose="05000000000000000000" pitchFamily="2" charset="2"/>
              <a:buChar char="ü"/>
            </a:pPr>
            <a:endParaRPr lang="en-IN" sz="2400" dirty="0" smtClean="0">
              <a:latin typeface="Calibri (Body)"/>
            </a:endParaRPr>
          </a:p>
          <a:p>
            <a:pPr marL="342900" indent="-342900">
              <a:buFont typeface="Wingdings" panose="05000000000000000000" pitchFamily="2" charset="2"/>
              <a:buChar char="ü"/>
            </a:pPr>
            <a:r>
              <a:rPr lang="en-IN" sz="2400" dirty="0" smtClean="0">
                <a:latin typeface="Calibri (Body)"/>
              </a:rPr>
              <a:t>Almost 60%-70% of the total population of this country are directly or indirectly related to agriculture. Hence, rainfall plays a crucial part the economy </a:t>
            </a:r>
            <a:r>
              <a:rPr lang="en-IN" sz="2400" dirty="0">
                <a:latin typeface="Calibri (Body)"/>
              </a:rPr>
              <a:t>of India. </a:t>
            </a:r>
            <a:endParaRPr lang="en-IN" sz="2400" dirty="0" smtClean="0">
              <a:latin typeface="Calibri (Body)"/>
            </a:endParaRPr>
          </a:p>
          <a:p>
            <a:pPr marL="342900" indent="-342900">
              <a:buFont typeface="Wingdings" panose="05000000000000000000" pitchFamily="2" charset="2"/>
              <a:buChar char="ü"/>
            </a:pPr>
            <a:endParaRPr lang="en-IN" sz="2400" dirty="0" smtClean="0">
              <a:latin typeface="Calibri (Body)"/>
            </a:endParaRPr>
          </a:p>
          <a:p>
            <a:pPr marL="342900" indent="-342900">
              <a:buFont typeface="Wingdings" panose="05000000000000000000" pitchFamily="2" charset="2"/>
              <a:buChar char="ü"/>
            </a:pPr>
            <a:r>
              <a:rPr lang="en-IN" sz="2400" dirty="0">
                <a:latin typeface="Calibri (Body)"/>
              </a:rPr>
              <a:t>H</a:t>
            </a:r>
            <a:r>
              <a:rPr lang="en-IN" sz="2400" dirty="0" smtClean="0">
                <a:latin typeface="Calibri (Body)"/>
              </a:rPr>
              <a:t>eavy rainfall or low rainfall may </a:t>
            </a:r>
            <a:r>
              <a:rPr lang="en-IN" sz="2400" dirty="0">
                <a:latin typeface="Calibri (Body)"/>
              </a:rPr>
              <a:t>affect ecosystems, agriculture, food security, </a:t>
            </a:r>
            <a:r>
              <a:rPr lang="en-IN" sz="2400" dirty="0" smtClean="0">
                <a:latin typeface="Calibri (Body)"/>
              </a:rPr>
              <a:t>water </a:t>
            </a:r>
            <a:r>
              <a:rPr lang="en-IN" sz="2400" dirty="0">
                <a:latin typeface="Calibri (Body)"/>
              </a:rPr>
              <a:t>availability, water </a:t>
            </a:r>
            <a:r>
              <a:rPr lang="en-IN" sz="2400" dirty="0" smtClean="0">
                <a:latin typeface="Calibri (Body)"/>
              </a:rPr>
              <a:t>quality, health etc.</a:t>
            </a:r>
          </a:p>
        </p:txBody>
      </p:sp>
    </p:spTree>
    <p:extLst>
      <p:ext uri="{BB962C8B-B14F-4D97-AF65-F5344CB8AC3E}">
        <p14:creationId xmlns:p14="http://schemas.microsoft.com/office/powerpoint/2010/main" val="270506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7879" y="256585"/>
            <a:ext cx="6149440" cy="769441"/>
          </a:xfrm>
          <a:prstGeom prst="rect">
            <a:avLst/>
          </a:prstGeom>
          <a:noFill/>
        </p:spPr>
        <p:txBody>
          <a:bodyPr wrap="none" lIns="91440" tIns="45720" rIns="91440" bIns="45720">
            <a:spAutoFit/>
          </a:bodyPr>
          <a:lstStyle/>
          <a:p>
            <a:pPr algn="ctr"/>
            <a:r>
              <a:rPr lang="en-US" sz="4400" b="1" dirty="0" smtClean="0">
                <a:ln w="0"/>
                <a:effectLst>
                  <a:outerShdw blurRad="38100" dist="19050" dir="2700000" algn="tl" rotWithShape="0">
                    <a:schemeClr val="dk1">
                      <a:alpha val="40000"/>
                    </a:schemeClr>
                  </a:outerShdw>
                </a:effectLst>
                <a:latin typeface="Calibri (Body)"/>
              </a:rPr>
              <a:t>Introduction: My Work</a:t>
            </a:r>
            <a:endParaRPr lang="en-US" sz="4400" b="1" dirty="0">
              <a:ln w="0"/>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537879" y="1447801"/>
            <a:ext cx="10573466" cy="1938992"/>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Calibri (Body)"/>
              </a:rPr>
              <a:t>In general, weather and rainfall are highly non-linear and complex phenomena, which require advanced computer modelling and recreation for their accurate prediction. </a:t>
            </a:r>
            <a:endParaRPr lang="en-IN" sz="2400" dirty="0" smtClean="0">
              <a:latin typeface="Calibri (Body)"/>
            </a:endParaRPr>
          </a:p>
          <a:p>
            <a:pPr marL="342900" indent="-342900">
              <a:buFont typeface="Wingdings" panose="05000000000000000000" pitchFamily="2" charset="2"/>
              <a:buChar char="Ø"/>
            </a:pPr>
            <a:endParaRPr lang="en-IN" sz="2400" dirty="0" smtClean="0">
              <a:latin typeface="Calibri (Body)"/>
            </a:endParaRPr>
          </a:p>
          <a:p>
            <a:pPr marL="342900" indent="-342900">
              <a:buFont typeface="Wingdings" panose="05000000000000000000" pitchFamily="2" charset="2"/>
              <a:buChar char="Ø"/>
            </a:pPr>
            <a:r>
              <a:rPr lang="en-IN" sz="2400" dirty="0" smtClean="0">
                <a:latin typeface="Calibri (Body)"/>
              </a:rPr>
              <a:t>So, to </a:t>
            </a:r>
            <a:r>
              <a:rPr lang="en-IN" sz="2400" u="sng" dirty="0" smtClean="0">
                <a:latin typeface="Calibri (Body)"/>
              </a:rPr>
              <a:t>predict </a:t>
            </a:r>
            <a:r>
              <a:rPr lang="en-IN" sz="2400" u="sng" dirty="0">
                <a:latin typeface="Calibri (Body)"/>
              </a:rPr>
              <a:t>the future </a:t>
            </a:r>
            <a:r>
              <a:rPr lang="en-IN" sz="2400" u="sng" dirty="0" smtClean="0">
                <a:latin typeface="Calibri (Body)"/>
              </a:rPr>
              <a:t>data</a:t>
            </a:r>
            <a:r>
              <a:rPr lang="en-IN" sz="2400" dirty="0" smtClean="0">
                <a:latin typeface="Calibri (Body)"/>
              </a:rPr>
              <a:t> we </a:t>
            </a:r>
            <a:r>
              <a:rPr lang="en-IN" sz="2400" dirty="0">
                <a:latin typeface="Calibri (Body)"/>
              </a:rPr>
              <a:t>using different types of techniques. </a:t>
            </a:r>
            <a:endParaRPr lang="en-IN" sz="2400" dirty="0" smtClean="0">
              <a:latin typeface="Calibri (Body)"/>
            </a:endParaRPr>
          </a:p>
        </p:txBody>
      </p:sp>
      <p:sp>
        <p:nvSpPr>
          <p:cNvPr id="4" name="Rectangle 3"/>
          <p:cNvSpPr/>
          <p:nvPr/>
        </p:nvSpPr>
        <p:spPr>
          <a:xfrm>
            <a:off x="537879" y="4172819"/>
            <a:ext cx="10573467" cy="1938992"/>
          </a:xfrm>
          <a:prstGeom prst="rect">
            <a:avLst/>
          </a:prstGeom>
        </p:spPr>
        <p:txBody>
          <a:bodyPr wrap="square">
            <a:spAutoFit/>
          </a:bodyPr>
          <a:lstStyle/>
          <a:p>
            <a:pPr marL="342900" indent="-342900">
              <a:buFont typeface="Wingdings" panose="05000000000000000000" pitchFamily="2" charset="2"/>
              <a:buChar char="Ø"/>
            </a:pPr>
            <a:r>
              <a:rPr lang="en-IN" sz="2400" b="1" dirty="0">
                <a:latin typeface="Calibri (Body)"/>
              </a:rPr>
              <a:t>In this project presents a methodology for forecasting rainfall of all regions of our country</a:t>
            </a:r>
            <a:r>
              <a:rPr lang="en-IN" sz="2400" b="1" dirty="0" smtClean="0">
                <a:latin typeface="Calibri (Body)"/>
              </a:rPr>
              <a:t>.</a:t>
            </a:r>
          </a:p>
          <a:p>
            <a:r>
              <a:rPr lang="en-IN" sz="2400" b="1" dirty="0" smtClean="0">
                <a:latin typeface="Calibri (Body)"/>
              </a:rPr>
              <a:t> </a:t>
            </a:r>
            <a:endParaRPr lang="en-IN" sz="2400" b="1" dirty="0">
              <a:latin typeface="Calibri (Body)"/>
            </a:endParaRPr>
          </a:p>
          <a:p>
            <a:pPr marL="342900" indent="-342900">
              <a:buFont typeface="Wingdings" panose="05000000000000000000" pitchFamily="2" charset="2"/>
              <a:buChar char="Ø"/>
            </a:pPr>
            <a:r>
              <a:rPr lang="en-IN" sz="2400" b="1" dirty="0" smtClean="0">
                <a:latin typeface="Calibri (Body)"/>
              </a:rPr>
              <a:t>Through clustering we update the noise data and </a:t>
            </a:r>
            <a:r>
              <a:rPr lang="en-IN" sz="2400" b="1" dirty="0">
                <a:latin typeface="Calibri (Body)"/>
              </a:rPr>
              <a:t>next using Artificial Neural Network(ANN) </a:t>
            </a:r>
            <a:r>
              <a:rPr lang="en-IN" sz="2400" b="1" dirty="0" smtClean="0">
                <a:latin typeface="Calibri (Body)"/>
              </a:rPr>
              <a:t>predict </a:t>
            </a:r>
            <a:r>
              <a:rPr lang="en-IN" sz="2400" b="1" dirty="0">
                <a:latin typeface="Calibri (Body)"/>
              </a:rPr>
              <a:t>the future rainfall.</a:t>
            </a:r>
          </a:p>
        </p:txBody>
      </p:sp>
    </p:spTree>
    <p:extLst>
      <p:ext uri="{BB962C8B-B14F-4D97-AF65-F5344CB8AC3E}">
        <p14:creationId xmlns:p14="http://schemas.microsoft.com/office/powerpoint/2010/main" val="286248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897" y="355753"/>
            <a:ext cx="10147330"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Background Work: database choice</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Rectangle 2"/>
          <p:cNvSpPr/>
          <p:nvPr/>
        </p:nvSpPr>
        <p:spPr>
          <a:xfrm>
            <a:off x="579570" y="2313432"/>
            <a:ext cx="11210648" cy="1938992"/>
          </a:xfrm>
          <a:prstGeom prst="rect">
            <a:avLst/>
          </a:prstGeom>
        </p:spPr>
        <p:txBody>
          <a:bodyPr wrap="square">
            <a:spAutoFit/>
          </a:bodyPr>
          <a:lstStyle/>
          <a:p>
            <a:pPr marL="342900" indent="-342900">
              <a:buFont typeface="Wingdings" panose="05000000000000000000" pitchFamily="2" charset="2"/>
              <a:buChar char="Ø"/>
            </a:pPr>
            <a:r>
              <a:rPr lang="en-IN" sz="2400" dirty="0" smtClean="0">
                <a:latin typeface="Calibri (Body)"/>
              </a:rPr>
              <a:t>Weather have 6 major components: </a:t>
            </a:r>
          </a:p>
          <a:p>
            <a:pPr marL="971550" lvl="1" indent="-514350">
              <a:buFontTx/>
              <a:buAutoNum type="romanLcParenBoth"/>
            </a:pPr>
            <a:r>
              <a:rPr lang="en-IN" sz="2400" dirty="0" smtClean="0">
                <a:latin typeface="Calibri (Body)"/>
              </a:rPr>
              <a:t>   Temperature</a:t>
            </a:r>
            <a:r>
              <a:rPr lang="en-IN" sz="2400" dirty="0">
                <a:latin typeface="Calibri (Body)"/>
              </a:rPr>
              <a:t> </a:t>
            </a:r>
            <a:r>
              <a:rPr lang="en-IN" sz="2400" dirty="0" smtClean="0">
                <a:latin typeface="Calibri (Body)"/>
              </a:rPr>
              <a:t>  (ii)  </a:t>
            </a:r>
            <a:r>
              <a:rPr lang="en-IN" sz="2400" dirty="0">
                <a:latin typeface="Calibri (Body)"/>
              </a:rPr>
              <a:t>A</a:t>
            </a:r>
            <a:r>
              <a:rPr lang="en-IN" sz="2400" dirty="0" smtClean="0">
                <a:latin typeface="Calibri (Body)"/>
              </a:rPr>
              <a:t>tmospheric Pressure    </a:t>
            </a:r>
            <a:r>
              <a:rPr lang="en-IN" sz="2400" dirty="0">
                <a:latin typeface="Calibri (Body)"/>
              </a:rPr>
              <a:t>(iii)  </a:t>
            </a:r>
            <a:r>
              <a:rPr lang="en-IN" sz="2400" dirty="0" smtClean="0">
                <a:latin typeface="Calibri (Body)"/>
              </a:rPr>
              <a:t>  Rainfall</a:t>
            </a:r>
            <a:endParaRPr lang="en-IN" sz="2400" dirty="0">
              <a:latin typeface="Calibri (Body)"/>
            </a:endParaRPr>
          </a:p>
          <a:p>
            <a:pPr lvl="1"/>
            <a:r>
              <a:rPr lang="en-IN" sz="2400" dirty="0" smtClean="0">
                <a:latin typeface="Calibri (Body)"/>
              </a:rPr>
              <a:t>(iv)    Wind</a:t>
            </a:r>
            <a:r>
              <a:rPr lang="en-IN" sz="2400" dirty="0">
                <a:latin typeface="Calibri (Body)"/>
              </a:rPr>
              <a:t>	</a:t>
            </a:r>
            <a:r>
              <a:rPr lang="en-IN" sz="2400" dirty="0" smtClean="0">
                <a:latin typeface="Calibri (Body)"/>
              </a:rPr>
              <a:t>		(v)  Humidity</a:t>
            </a:r>
            <a:r>
              <a:rPr lang="en-IN" sz="2400" dirty="0">
                <a:latin typeface="Calibri (Body)"/>
              </a:rPr>
              <a:t>	</a:t>
            </a:r>
            <a:r>
              <a:rPr lang="en-IN" sz="2400" dirty="0" smtClean="0">
                <a:latin typeface="Calibri (Body)"/>
              </a:rPr>
              <a:t>				 (vi)</a:t>
            </a:r>
            <a:r>
              <a:rPr lang="en-IN" sz="2400" dirty="0">
                <a:latin typeface="Calibri (Body)"/>
              </a:rPr>
              <a:t> </a:t>
            </a:r>
            <a:r>
              <a:rPr lang="en-IN" sz="2400" dirty="0" smtClean="0">
                <a:latin typeface="Calibri (Body)"/>
              </a:rPr>
              <a:t>   Cloudiness</a:t>
            </a:r>
          </a:p>
          <a:p>
            <a:pPr lvl="1"/>
            <a:endParaRPr lang="en-IN" sz="2400" dirty="0" smtClean="0">
              <a:latin typeface="Calibri (Body)"/>
            </a:endParaRPr>
          </a:p>
          <a:p>
            <a:pPr marL="342900" indent="-342900">
              <a:buFont typeface="Wingdings" panose="05000000000000000000" pitchFamily="2" charset="2"/>
              <a:buChar char="Ø"/>
            </a:pPr>
            <a:r>
              <a:rPr lang="en-IN" sz="2400" dirty="0" smtClean="0">
                <a:latin typeface="Calibri (Body)"/>
              </a:rPr>
              <a:t>In a year for a region total</a:t>
            </a:r>
            <a:r>
              <a:rPr lang="en-IN" sz="2400" dirty="0" smtClean="0">
                <a:latin typeface="Calibri (Body)"/>
                <a:sym typeface="Wingdings" panose="05000000000000000000" pitchFamily="2" charset="2"/>
              </a:rPr>
              <a:t> 12 x 6 weather data</a:t>
            </a:r>
          </a:p>
        </p:txBody>
      </p:sp>
      <p:sp>
        <p:nvSpPr>
          <p:cNvPr id="4" name="TextBox 3"/>
          <p:cNvSpPr txBox="1"/>
          <p:nvPr/>
        </p:nvSpPr>
        <p:spPr>
          <a:xfrm>
            <a:off x="579570" y="1460679"/>
            <a:ext cx="4267200" cy="523220"/>
          </a:xfrm>
          <a:prstGeom prst="rect">
            <a:avLst/>
          </a:prstGeom>
          <a:noFill/>
        </p:spPr>
        <p:txBody>
          <a:bodyPr wrap="square" rtlCol="0">
            <a:spAutoFit/>
          </a:bodyPr>
          <a:lstStyle/>
          <a:p>
            <a:r>
              <a:rPr lang="en-IN" sz="2800" b="1" dirty="0" smtClean="0">
                <a:latin typeface="Calibri (Body)"/>
              </a:rPr>
              <a:t>Why Choose Database:</a:t>
            </a:r>
            <a:endParaRPr lang="en-IN" sz="2800" b="1" dirty="0">
              <a:latin typeface="Calibri (Body)"/>
            </a:endParaRPr>
          </a:p>
        </p:txBody>
      </p:sp>
      <p:sp>
        <p:nvSpPr>
          <p:cNvPr id="5" name="Rectangle 4"/>
          <p:cNvSpPr/>
          <p:nvPr/>
        </p:nvSpPr>
        <p:spPr>
          <a:xfrm>
            <a:off x="579570" y="4480279"/>
            <a:ext cx="9925657" cy="1569660"/>
          </a:xfrm>
          <a:prstGeom prst="rect">
            <a:avLst/>
          </a:prstGeom>
        </p:spPr>
        <p:txBody>
          <a:bodyPr wrap="square">
            <a:spAutoFit/>
          </a:bodyPr>
          <a:lstStyle/>
          <a:p>
            <a:pPr marL="342900" indent="-342900">
              <a:buFont typeface="Wingdings" panose="05000000000000000000" pitchFamily="2" charset="2"/>
              <a:buChar char="Ø"/>
            </a:pPr>
            <a:endParaRPr lang="en-IN" sz="2400" dirty="0">
              <a:latin typeface="Calibri (Body)"/>
            </a:endParaRPr>
          </a:p>
          <a:p>
            <a:pPr marL="342900" indent="-342900">
              <a:buFont typeface="Wingdings" panose="05000000000000000000" pitchFamily="2" charset="2"/>
              <a:buChar char="Ø"/>
            </a:pPr>
            <a:r>
              <a:rPr lang="en-IN" sz="2400" dirty="0">
                <a:latin typeface="Calibri (Body)"/>
              </a:rPr>
              <a:t>So, There are huge amount of data to store in database</a:t>
            </a:r>
          </a:p>
          <a:p>
            <a:pPr marL="342900" indent="-342900">
              <a:buFont typeface="Wingdings" panose="05000000000000000000" pitchFamily="2" charset="2"/>
              <a:buChar char="Ø"/>
            </a:pPr>
            <a:endParaRPr lang="en-IN" sz="2400" dirty="0">
              <a:latin typeface="Calibri (Body)"/>
            </a:endParaRPr>
          </a:p>
          <a:p>
            <a:pPr marL="342900" indent="-342900">
              <a:buFont typeface="Wingdings" panose="05000000000000000000" pitchFamily="2" charset="2"/>
              <a:buChar char="Ø"/>
            </a:pPr>
            <a:r>
              <a:rPr lang="en-IN" sz="2400" dirty="0">
                <a:latin typeface="Calibri (Body)"/>
              </a:rPr>
              <a:t>Therefore, first problem is what type of database we choose</a:t>
            </a:r>
          </a:p>
        </p:txBody>
      </p:sp>
    </p:spTree>
    <p:extLst>
      <p:ext uri="{BB962C8B-B14F-4D97-AF65-F5344CB8AC3E}">
        <p14:creationId xmlns:p14="http://schemas.microsoft.com/office/powerpoint/2010/main" val="250285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circle(in)">
                                      <p:cBhvr>
                                        <p:cTn id="2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353" y="183895"/>
            <a:ext cx="10092828" cy="769441"/>
          </a:xfrm>
          <a:prstGeom prst="rect">
            <a:avLst/>
          </a:prstGeom>
          <a:noFill/>
        </p:spPr>
        <p:txBody>
          <a:bodyPr wrap="none" lIns="91440" tIns="45720" rIns="91440" bIns="45720">
            <a:spAutoFit/>
          </a:bodyPr>
          <a:lstStyle/>
          <a:p>
            <a:pPr algn="ctr"/>
            <a:r>
              <a:rPr lang="en-US" sz="4400" b="1" dirty="0">
                <a:ln w="0"/>
                <a:effectLst>
                  <a:outerShdw blurRad="38100" dist="19050" dir="2700000" algn="tl" rotWithShape="0">
                    <a:schemeClr val="dk1">
                      <a:alpha val="40000"/>
                    </a:schemeClr>
                  </a:outerShdw>
                </a:effectLst>
                <a:latin typeface="Calibri (Body)"/>
              </a:rPr>
              <a:t>Background Work: database choice</a:t>
            </a:r>
          </a:p>
        </p:txBody>
      </p:sp>
      <p:sp>
        <p:nvSpPr>
          <p:cNvPr id="3" name="Rectangle 2"/>
          <p:cNvSpPr/>
          <p:nvPr/>
        </p:nvSpPr>
        <p:spPr>
          <a:xfrm>
            <a:off x="579571" y="2374570"/>
            <a:ext cx="8841520" cy="3108543"/>
          </a:xfrm>
          <a:prstGeom prst="rect">
            <a:avLst/>
          </a:prstGeom>
        </p:spPr>
        <p:txBody>
          <a:bodyPr wrap="square">
            <a:spAutoFit/>
          </a:bodyPr>
          <a:lstStyle/>
          <a:p>
            <a:r>
              <a:rPr lang="en-IN" sz="2800" dirty="0" smtClean="0">
                <a:latin typeface="Calibri (Body)"/>
              </a:rPr>
              <a:t>Problem of SQL database:</a:t>
            </a:r>
          </a:p>
          <a:p>
            <a:pPr marL="342900" indent="-342900">
              <a:buAutoNum type="arabicPeriod"/>
            </a:pPr>
            <a:r>
              <a:rPr lang="en-IN" sz="2400" dirty="0" smtClean="0">
                <a:latin typeface="Calibri (Body)"/>
              </a:rPr>
              <a:t>Forgotten Primary Keys</a:t>
            </a:r>
          </a:p>
          <a:p>
            <a:pPr marL="342900" indent="-342900">
              <a:buFontTx/>
              <a:buAutoNum type="arabicPeriod"/>
            </a:pPr>
            <a:r>
              <a:rPr lang="en-IN" sz="2400" dirty="0" smtClean="0">
                <a:latin typeface="Calibri (Body)"/>
              </a:rPr>
              <a:t>Forgotten NULL vs. Empty String Values</a:t>
            </a:r>
          </a:p>
          <a:p>
            <a:pPr marL="342900" indent="-342900">
              <a:buAutoNum type="arabicPeriod"/>
            </a:pPr>
            <a:r>
              <a:rPr lang="en-IN" sz="2400" dirty="0" smtClean="0">
                <a:latin typeface="Calibri (Body)"/>
              </a:rPr>
              <a:t>Poorly Managed Data Redundancy</a:t>
            </a:r>
          </a:p>
          <a:p>
            <a:pPr marL="342900" indent="-342900">
              <a:buAutoNum type="arabicPeriod"/>
            </a:pPr>
            <a:r>
              <a:rPr lang="en-IN" sz="2400" dirty="0" smtClean="0">
                <a:latin typeface="Calibri (Body)"/>
              </a:rPr>
              <a:t>Dependency on Order of Columns on Result Set</a:t>
            </a:r>
          </a:p>
          <a:p>
            <a:pPr marL="342900" indent="-342900">
              <a:buAutoNum type="arabicPeriod"/>
            </a:pPr>
            <a:r>
              <a:rPr lang="en-IN" sz="2400" dirty="0" smtClean="0">
                <a:latin typeface="Calibri (Body)"/>
              </a:rPr>
              <a:t>Copying data from one table to other</a:t>
            </a:r>
          </a:p>
          <a:p>
            <a:pPr marL="342900" indent="-342900">
              <a:buAutoNum type="arabicPeriod"/>
            </a:pPr>
            <a:r>
              <a:rPr lang="en-IN" sz="2400" dirty="0" smtClean="0">
                <a:latin typeface="Calibri (Body)"/>
              </a:rPr>
              <a:t>table-based</a:t>
            </a:r>
          </a:p>
          <a:p>
            <a:pPr marL="342900" indent="-342900">
              <a:buFontTx/>
              <a:buAutoNum type="arabicPeriod"/>
            </a:pPr>
            <a:r>
              <a:rPr lang="en-IN" sz="2400" dirty="0" smtClean="0">
                <a:latin typeface="Calibri (Body)"/>
              </a:rPr>
              <a:t>fixed or static or predefined schema </a:t>
            </a:r>
            <a:endParaRPr lang="en-IN" sz="2400" dirty="0">
              <a:latin typeface="Calibri (Body)"/>
            </a:endParaRPr>
          </a:p>
        </p:txBody>
      </p:sp>
      <p:sp>
        <p:nvSpPr>
          <p:cNvPr id="4" name="TextBox 3"/>
          <p:cNvSpPr txBox="1"/>
          <p:nvPr/>
        </p:nvSpPr>
        <p:spPr>
          <a:xfrm>
            <a:off x="579571" y="5876605"/>
            <a:ext cx="6849889" cy="523220"/>
          </a:xfrm>
          <a:prstGeom prst="rect">
            <a:avLst/>
          </a:prstGeom>
          <a:noFill/>
        </p:spPr>
        <p:txBody>
          <a:bodyPr wrap="none" rtlCol="0">
            <a:spAutoFit/>
          </a:bodyPr>
          <a:lstStyle/>
          <a:p>
            <a:r>
              <a:rPr lang="en-IN" sz="2800" b="1" dirty="0" smtClean="0">
                <a:latin typeface="Calibri (Body)"/>
              </a:rPr>
              <a:t>Here I use NoSQL database: Mongo dB</a:t>
            </a:r>
            <a:endParaRPr lang="en-IN" sz="2800" b="1" dirty="0">
              <a:latin typeface="Calibri (Body)"/>
            </a:endParaRPr>
          </a:p>
        </p:txBody>
      </p:sp>
      <p:sp>
        <p:nvSpPr>
          <p:cNvPr id="5" name="Rectangle 4"/>
          <p:cNvSpPr/>
          <p:nvPr/>
        </p:nvSpPr>
        <p:spPr>
          <a:xfrm>
            <a:off x="579571" y="1150082"/>
            <a:ext cx="9520393" cy="830997"/>
          </a:xfrm>
          <a:prstGeom prst="rect">
            <a:avLst/>
          </a:prstGeom>
        </p:spPr>
        <p:txBody>
          <a:bodyPr wrap="square">
            <a:spAutoFit/>
          </a:bodyPr>
          <a:lstStyle/>
          <a:p>
            <a:r>
              <a:rPr lang="en-IN" sz="2400" dirty="0">
                <a:latin typeface="Calibri (Body)"/>
              </a:rPr>
              <a:t>We know there are two type of database.</a:t>
            </a:r>
          </a:p>
          <a:p>
            <a:pPr marL="342900" indent="-342900">
              <a:buFont typeface="Wingdings" panose="05000000000000000000" pitchFamily="2" charset="2"/>
              <a:buChar char="ü"/>
            </a:pPr>
            <a:r>
              <a:rPr lang="en-IN" sz="2400" b="1" dirty="0">
                <a:latin typeface="Calibri (Body)"/>
              </a:rPr>
              <a:t>SQL</a:t>
            </a:r>
            <a:r>
              <a:rPr lang="en-IN" sz="2400" dirty="0">
                <a:latin typeface="Calibri (Body)"/>
              </a:rPr>
              <a:t> &amp; </a:t>
            </a:r>
            <a:r>
              <a:rPr lang="en-IN" sz="2400" b="1" dirty="0">
                <a:latin typeface="Calibri (Body)"/>
              </a:rPr>
              <a:t>NoSQL</a:t>
            </a:r>
          </a:p>
        </p:txBody>
      </p:sp>
    </p:spTree>
    <p:extLst>
      <p:ext uri="{BB962C8B-B14F-4D97-AF65-F5344CB8AC3E}">
        <p14:creationId xmlns:p14="http://schemas.microsoft.com/office/powerpoint/2010/main" val="381807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ircle(in)">
                                      <p:cBhvr>
                                        <p:cTn id="2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6279" y="431719"/>
            <a:ext cx="8823249"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data collection</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9" name="TextBox 8"/>
          <p:cNvSpPr txBox="1"/>
          <p:nvPr/>
        </p:nvSpPr>
        <p:spPr>
          <a:xfrm>
            <a:off x="579571" y="1473046"/>
            <a:ext cx="11390756" cy="2308324"/>
          </a:xfrm>
          <a:prstGeom prst="rect">
            <a:avLst/>
          </a:prstGeom>
          <a:noFill/>
        </p:spPr>
        <p:txBody>
          <a:bodyPr wrap="square" rtlCol="0">
            <a:spAutoFit/>
          </a:bodyPr>
          <a:lstStyle/>
          <a:p>
            <a:pPr marL="342900" indent="-342900">
              <a:buFont typeface="Wingdings" panose="05000000000000000000" pitchFamily="2" charset="2"/>
              <a:buChar char="Ø"/>
            </a:pPr>
            <a:r>
              <a:rPr lang="en-IN" sz="2400" dirty="0" smtClean="0">
                <a:latin typeface="Calibri (Body)"/>
              </a:rPr>
              <a:t>Monsoon </a:t>
            </a:r>
            <a:r>
              <a:rPr lang="en-IN" sz="2400" dirty="0">
                <a:latin typeface="Calibri (Body)"/>
              </a:rPr>
              <a:t>data set has been received from the </a:t>
            </a:r>
            <a:r>
              <a:rPr lang="en-IN" sz="2400" dirty="0" smtClean="0">
                <a:latin typeface="Calibri (Body)"/>
              </a:rPr>
              <a:t>URL ‘</a:t>
            </a:r>
            <a:r>
              <a:rPr lang="en-IN" sz="2400" b="1" u="sng" dirty="0" smtClean="0">
                <a:latin typeface="Calibri (Body)"/>
              </a:rPr>
              <a:t>https</a:t>
            </a:r>
            <a:r>
              <a:rPr lang="en-IN" sz="2400" b="1" u="sng" dirty="0">
                <a:latin typeface="Calibri (Body)"/>
              </a:rPr>
              <a:t>://</a:t>
            </a:r>
            <a:r>
              <a:rPr lang="en-IN" sz="2400" b="1" u="sng" dirty="0" smtClean="0">
                <a:latin typeface="Calibri (Body)"/>
              </a:rPr>
              <a:t>data.gov.in</a:t>
            </a:r>
            <a:r>
              <a:rPr lang="en-IN" sz="2400" dirty="0" smtClean="0">
                <a:latin typeface="Calibri (Body)"/>
              </a:rPr>
              <a:t>’</a:t>
            </a:r>
          </a:p>
          <a:p>
            <a:pPr marL="342900" indent="-342900">
              <a:buFont typeface="Wingdings" panose="05000000000000000000" pitchFamily="2" charset="2"/>
              <a:buChar char="Ø"/>
            </a:pPr>
            <a:endParaRPr lang="en-IN" sz="2400" dirty="0" smtClean="0">
              <a:latin typeface="Calibri (Body)"/>
            </a:endParaRPr>
          </a:p>
          <a:p>
            <a:pPr marL="342900" indent="-342900">
              <a:buFont typeface="Wingdings" panose="05000000000000000000" pitchFamily="2" charset="2"/>
              <a:buChar char="Ø"/>
            </a:pPr>
            <a:r>
              <a:rPr lang="en-IN" sz="2400" dirty="0" smtClean="0">
                <a:latin typeface="Calibri (Body)"/>
              </a:rPr>
              <a:t>There is different format of data in </a:t>
            </a:r>
            <a:r>
              <a:rPr lang="en-IN" sz="2400" dirty="0" smtClean="0">
                <a:latin typeface="Calibri (Body)"/>
                <a:hlinkClick r:id="rId2" action="ppaction://hlinkpres?slideindex=1&amp;slidetitle="/>
              </a:rPr>
              <a:t>xml</a:t>
            </a:r>
            <a:r>
              <a:rPr lang="en-IN" sz="2400" dirty="0" smtClean="0">
                <a:latin typeface="Calibri (Body)"/>
              </a:rPr>
              <a:t>, </a:t>
            </a:r>
            <a:r>
              <a:rPr lang="en-IN" sz="2400" dirty="0" smtClean="0">
                <a:latin typeface="Calibri (Body)"/>
                <a:hlinkClick r:id="rId3" action="ppaction://hlinkfile"/>
              </a:rPr>
              <a:t>csv</a:t>
            </a:r>
            <a:r>
              <a:rPr lang="en-IN" sz="2400" dirty="0" smtClean="0">
                <a:latin typeface="Calibri (Body)"/>
              </a:rPr>
              <a:t>, </a:t>
            </a:r>
            <a:r>
              <a:rPr lang="en-IN" sz="2400" dirty="0" smtClean="0">
                <a:latin typeface="Calibri (Body)"/>
                <a:hlinkClick r:id="rId4" action="ppaction://hlinkfile"/>
              </a:rPr>
              <a:t>JSON</a:t>
            </a:r>
            <a:endParaRPr lang="en-IN" sz="2400" dirty="0" smtClean="0">
              <a:latin typeface="Calibri (Body)"/>
            </a:endParaRPr>
          </a:p>
          <a:p>
            <a:endParaRPr lang="en-IN" sz="2400" dirty="0" smtClean="0">
              <a:latin typeface="Calibri (Body)"/>
            </a:endParaRPr>
          </a:p>
          <a:p>
            <a:pPr marL="342900" indent="-342900">
              <a:buFont typeface="Wingdings" panose="05000000000000000000" pitchFamily="2" charset="2"/>
              <a:buChar char="Ø"/>
            </a:pPr>
            <a:r>
              <a:rPr lang="en-IN" sz="2400" dirty="0" smtClean="0">
                <a:latin typeface="Calibri (Body)"/>
              </a:rPr>
              <a:t>Here I choose csv format as my best </a:t>
            </a:r>
            <a:r>
              <a:rPr lang="en-IN" sz="2400" dirty="0" smtClean="0">
                <a:latin typeface="Calibri (Body)"/>
                <a:sym typeface="Wingdings" panose="05000000000000000000" pitchFamily="2" charset="2"/>
              </a:rPr>
              <a:t>  </a:t>
            </a:r>
          </a:p>
          <a:p>
            <a:pPr marL="342900" indent="-342900">
              <a:buFont typeface="Wingdings" panose="05000000000000000000" pitchFamily="2" charset="2"/>
              <a:buChar char="Ø"/>
            </a:pPr>
            <a:endParaRPr lang="en-IN" sz="2400" dirty="0" smtClean="0">
              <a:latin typeface="Calibri (Body)"/>
            </a:endParaRPr>
          </a:p>
        </p:txBody>
      </p:sp>
      <p:sp>
        <p:nvSpPr>
          <p:cNvPr id="3" name="Cloud 2">
            <a:hlinkClick r:id="rId5" action="ppaction://hlinkfile"/>
          </p:cNvPr>
          <p:cNvSpPr/>
          <p:nvPr/>
        </p:nvSpPr>
        <p:spPr>
          <a:xfrm>
            <a:off x="8444346" y="2765754"/>
            <a:ext cx="1870364" cy="898129"/>
          </a:xfrm>
          <a:prstGeom prst="cloud">
            <a:avLst/>
          </a:prstGeom>
          <a:solidFill>
            <a:srgbClr val="FFFF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smtClean="0">
                <a:ln w="0">
                  <a:solidFill>
                    <a:srgbClr val="C00000"/>
                  </a:solidFill>
                </a:ln>
                <a:solidFill>
                  <a:srgbClr val="FF0000"/>
                </a:solidFill>
                <a:effectLst>
                  <a:outerShdw blurRad="38100" dist="19050" dir="2700000" algn="tl" rotWithShape="0">
                    <a:schemeClr val="dk1">
                      <a:alpha val="40000"/>
                    </a:schemeClr>
                  </a:outerShdw>
                </a:effectLst>
                <a:latin typeface="Calibri (Body)"/>
                <a:hlinkClick r:id="rId6" action="ppaction://hlinkfile"/>
              </a:rPr>
              <a:t>data</a:t>
            </a:r>
            <a:endParaRPr lang="en-IN" dirty="0">
              <a:ln w="0">
                <a:solidFill>
                  <a:srgbClr val="C00000"/>
                </a:solidFill>
              </a:ln>
              <a:solidFill>
                <a:srgbClr val="FF0000"/>
              </a:solidFill>
              <a:effectLst>
                <a:outerShdw blurRad="38100" dist="19050" dir="2700000" algn="tl" rotWithShape="0">
                  <a:schemeClr val="dk1">
                    <a:alpha val="40000"/>
                  </a:schemeClr>
                </a:outerShdw>
              </a:effectLst>
              <a:latin typeface="Calibri (Body)"/>
            </a:endParaRPr>
          </a:p>
        </p:txBody>
      </p:sp>
    </p:spTree>
    <p:extLst>
      <p:ext uri="{BB962C8B-B14F-4D97-AF65-F5344CB8AC3E}">
        <p14:creationId xmlns:p14="http://schemas.microsoft.com/office/powerpoint/2010/main" val="392182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heel(1)">
                                      <p:cBhvr>
                                        <p:cTn id="1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571" y="175643"/>
            <a:ext cx="9023624"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data processing</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579571" y="1237519"/>
            <a:ext cx="10594464" cy="1200329"/>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Calibri (Body)"/>
              </a:rPr>
              <a:t>We directly do not store data, which directly lies in, </a:t>
            </a:r>
            <a:r>
              <a:rPr lang="en-IN" sz="2400" dirty="0">
                <a:latin typeface="Calibri (Body)"/>
                <a:hlinkClick r:id="rId2" action="ppaction://hlinkfile"/>
              </a:rPr>
              <a:t>excel/csv</a:t>
            </a:r>
            <a:r>
              <a:rPr lang="en-IN" sz="2400" dirty="0">
                <a:latin typeface="Calibri (Body)"/>
              </a:rPr>
              <a:t> format</a:t>
            </a:r>
            <a:r>
              <a:rPr lang="en-IN" sz="2400" dirty="0" smtClean="0">
                <a:latin typeface="Calibri (Body)"/>
              </a:rPr>
              <a:t>.</a:t>
            </a:r>
          </a:p>
          <a:p>
            <a:endParaRPr lang="en-IN" sz="2400" dirty="0" smtClean="0">
              <a:latin typeface="Calibri (Body)"/>
            </a:endParaRPr>
          </a:p>
          <a:p>
            <a:pPr marL="342900" indent="-342900">
              <a:buFont typeface="Wingdings" panose="05000000000000000000" pitchFamily="2" charset="2"/>
              <a:buChar char="Ø"/>
            </a:pPr>
            <a:r>
              <a:rPr lang="en-IN" sz="2400" dirty="0" smtClean="0">
                <a:latin typeface="Calibri (Body)"/>
              </a:rPr>
              <a:t>First</a:t>
            </a:r>
            <a:r>
              <a:rPr lang="en-IN" sz="2400" dirty="0">
                <a:latin typeface="Calibri (Body)"/>
              </a:rPr>
              <a:t>, we have to understand how to store this data into database. </a:t>
            </a:r>
          </a:p>
        </p:txBody>
      </p:sp>
      <p:sp>
        <p:nvSpPr>
          <p:cNvPr id="6" name="Round Single Corner Rectangle 5"/>
          <p:cNvSpPr/>
          <p:nvPr/>
        </p:nvSpPr>
        <p:spPr>
          <a:xfrm rot="5400000">
            <a:off x="8903377" y="2461016"/>
            <a:ext cx="1502551" cy="3522984"/>
          </a:xfrm>
          <a:prstGeom prst="round1Rect">
            <a:avLst/>
          </a:prstGeom>
        </p:spPr>
        <p:style>
          <a:lnRef idx="1">
            <a:schemeClr val="accent3"/>
          </a:lnRef>
          <a:fillRef idx="2">
            <a:schemeClr val="accent3"/>
          </a:fillRef>
          <a:effectRef idx="1">
            <a:schemeClr val="accent3"/>
          </a:effectRef>
          <a:fontRef idx="minor">
            <a:schemeClr val="dk1"/>
          </a:fontRef>
        </p:style>
        <p:txBody>
          <a:bodyPr rot="0" spcFirstLastPara="0" vert="vert270" wrap="square" lIns="91440" tIns="45720" rIns="91440" bIns="45720" numCol="1" spcCol="0" rtlCol="0" fromWordArt="0" anchor="t" anchorCtr="0" forceAA="0" compatLnSpc="1">
            <a:prstTxWarp prst="textNoShape">
              <a:avLst/>
            </a:prstTxWarp>
            <a:noAutofit/>
          </a:bodyPr>
          <a:lstStyle/>
          <a:p>
            <a:pPr>
              <a:spcAft>
                <a:spcPts val="0"/>
              </a:spcAft>
            </a:pPr>
            <a:r>
              <a:rPr lang="en-IN" sz="2200" b="1" dirty="0">
                <a:effectLst/>
                <a:latin typeface="Calibri (Body)"/>
                <a:ea typeface="Calibri" panose="020F0502020204030204" pitchFamily="34" charset="0"/>
                <a:cs typeface="Times New Roman" panose="02020603050405020304" pitchFamily="18" charset="0"/>
              </a:rPr>
              <a:t>Region</a:t>
            </a:r>
            <a:r>
              <a:rPr lang="en-IN" sz="2200" dirty="0">
                <a:effectLst/>
                <a:latin typeface="Calibri (Body)"/>
                <a:ea typeface="Calibri" panose="020F0502020204030204" pitchFamily="34" charset="0"/>
                <a:cs typeface="Times New Roman" panose="02020603050405020304" pitchFamily="18" charset="0"/>
              </a:rPr>
              <a:t>: </a:t>
            </a:r>
            <a:r>
              <a:rPr lang="en-IN" sz="2200" dirty="0">
                <a:solidFill>
                  <a:srgbClr val="000000"/>
                </a:solidFill>
                <a:effectLst/>
                <a:latin typeface="Calibri (Body)"/>
                <a:ea typeface="Times New Roman" panose="02020603050405020304" pitchFamily="18" charset="0"/>
                <a:cs typeface="Times New Roman" panose="02020603050405020304" pitchFamily="18" charset="0"/>
              </a:rPr>
              <a:t>LAKSHADWEEP</a:t>
            </a:r>
            <a:endParaRPr lang="en-IN" sz="2200" dirty="0">
              <a:effectLst/>
              <a:latin typeface="Calibri (Body)"/>
              <a:ea typeface="Calibri" panose="020F0502020204030204" pitchFamily="34" charset="0"/>
              <a:cs typeface="Times New Roman" panose="02020603050405020304" pitchFamily="18" charset="0"/>
            </a:endParaRPr>
          </a:p>
          <a:p>
            <a:pPr>
              <a:spcAft>
                <a:spcPts val="0"/>
              </a:spcAft>
            </a:pPr>
            <a:r>
              <a:rPr lang="en-IN" sz="2200" b="1" dirty="0">
                <a:effectLst/>
                <a:latin typeface="Calibri (Body)"/>
                <a:ea typeface="Calibri" panose="020F0502020204030204" pitchFamily="34" charset="0"/>
                <a:cs typeface="Times New Roman" panose="02020603050405020304" pitchFamily="18" charset="0"/>
              </a:rPr>
              <a:t>Year</a:t>
            </a:r>
            <a:r>
              <a:rPr lang="en-IN" sz="2200" dirty="0">
                <a:effectLst/>
                <a:latin typeface="Calibri (Body)"/>
                <a:ea typeface="Calibri" panose="020F0502020204030204" pitchFamily="34" charset="0"/>
                <a:cs typeface="Times New Roman" panose="02020603050405020304" pitchFamily="18" charset="0"/>
              </a:rPr>
              <a:t>: 2017</a:t>
            </a:r>
          </a:p>
          <a:p>
            <a:pPr>
              <a:spcAft>
                <a:spcPts val="0"/>
              </a:spcAft>
            </a:pPr>
            <a:r>
              <a:rPr lang="en-IN" sz="2200" b="1" dirty="0">
                <a:effectLst/>
                <a:latin typeface="Calibri (Body)"/>
                <a:ea typeface="Calibri" panose="020F0502020204030204" pitchFamily="34" charset="0"/>
                <a:cs typeface="Times New Roman" panose="02020603050405020304" pitchFamily="18" charset="0"/>
              </a:rPr>
              <a:t>Month</a:t>
            </a:r>
            <a:r>
              <a:rPr lang="en-IN" sz="2200" dirty="0">
                <a:effectLst/>
                <a:latin typeface="Calibri (Body)"/>
                <a:ea typeface="Calibri" panose="020F0502020204030204" pitchFamily="34" charset="0"/>
                <a:cs typeface="Times New Roman" panose="02020603050405020304" pitchFamily="18" charset="0"/>
              </a:rPr>
              <a:t>: </a:t>
            </a:r>
            <a:r>
              <a:rPr lang="en-IN" sz="2200" dirty="0" smtClean="0">
                <a:effectLst/>
                <a:latin typeface="Calibri (Body)"/>
                <a:ea typeface="Calibri" panose="020F0502020204030204" pitchFamily="34" charset="0"/>
                <a:cs typeface="Times New Roman" panose="02020603050405020304" pitchFamily="18" charset="0"/>
              </a:rPr>
              <a:t>JANUARY</a:t>
            </a:r>
            <a:endParaRPr lang="en-IN" sz="2200" dirty="0">
              <a:effectLst/>
              <a:latin typeface="Calibri (Body)"/>
              <a:ea typeface="Calibri" panose="020F0502020204030204" pitchFamily="34" charset="0"/>
              <a:cs typeface="Times New Roman" panose="02020603050405020304" pitchFamily="18" charset="0"/>
            </a:endParaRPr>
          </a:p>
          <a:p>
            <a:pPr>
              <a:spcAft>
                <a:spcPts val="0"/>
              </a:spcAft>
            </a:pPr>
            <a:r>
              <a:rPr lang="en-IN" sz="2200" b="1" dirty="0">
                <a:effectLst/>
                <a:latin typeface="Calibri (Body)"/>
                <a:ea typeface="Calibri" panose="020F0502020204030204" pitchFamily="34" charset="0"/>
                <a:cs typeface="Times New Roman" panose="02020603050405020304" pitchFamily="18" charset="0"/>
              </a:rPr>
              <a:t>Data</a:t>
            </a:r>
            <a:r>
              <a:rPr lang="en-IN" sz="2200" dirty="0">
                <a:effectLst/>
                <a:latin typeface="Calibri (Body)"/>
                <a:ea typeface="Calibri" panose="020F0502020204030204" pitchFamily="34" charset="0"/>
                <a:cs typeface="Times New Roman" panose="02020603050405020304" pitchFamily="18" charset="0"/>
              </a:rPr>
              <a:t>: 21.3</a:t>
            </a:r>
          </a:p>
        </p:txBody>
      </p:sp>
      <p:sp>
        <p:nvSpPr>
          <p:cNvPr id="7" name="TextBox 6"/>
          <p:cNvSpPr txBox="1"/>
          <p:nvPr/>
        </p:nvSpPr>
        <p:spPr>
          <a:xfrm>
            <a:off x="579571" y="3490747"/>
            <a:ext cx="10594464" cy="1200329"/>
          </a:xfrm>
          <a:prstGeom prst="rect">
            <a:avLst/>
          </a:prstGeom>
          <a:noFill/>
        </p:spPr>
        <p:txBody>
          <a:bodyPr wrap="square" rtlCol="0">
            <a:spAutoFit/>
          </a:bodyPr>
          <a:lstStyle/>
          <a:p>
            <a:r>
              <a:rPr lang="en-IN" sz="2400" dirty="0" smtClean="0">
                <a:latin typeface="Calibri (Body)"/>
              </a:rPr>
              <a:t>So, I decided to store data in a specific format </a:t>
            </a:r>
          </a:p>
          <a:p>
            <a:endParaRPr lang="en-IN" sz="2400" dirty="0">
              <a:latin typeface="Calibri (Body)"/>
            </a:endParaRPr>
          </a:p>
          <a:p>
            <a:r>
              <a:rPr lang="en-IN" sz="2400" dirty="0" smtClean="0">
                <a:latin typeface="Calibri (Body)"/>
              </a:rPr>
              <a:t>Grouping all  data in that format</a:t>
            </a:r>
          </a:p>
        </p:txBody>
      </p:sp>
    </p:spTree>
    <p:extLst>
      <p:ext uri="{BB962C8B-B14F-4D97-AF65-F5344CB8AC3E}">
        <p14:creationId xmlns:p14="http://schemas.microsoft.com/office/powerpoint/2010/main" val="53748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 calcmode="lin" valueType="num">
                                      <p:cBhvr additive="base">
                                        <p:cTn id="16"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wipe(down)">
                                      <p:cBhvr>
                                        <p:cTn id="30" dur="580">
                                          <p:stCondLst>
                                            <p:cond delay="0"/>
                                          </p:stCondLst>
                                        </p:cTn>
                                        <p:tgtEl>
                                          <p:spTgt spid="7">
                                            <p:txEl>
                                              <p:pRg st="2" end="2"/>
                                            </p:txEl>
                                          </p:spTgt>
                                        </p:tgtEl>
                                      </p:cBhvr>
                                    </p:animEffect>
                                    <p:anim calcmode="lin" valueType="num">
                                      <p:cBhvr>
                                        <p:cTn id="31" dur="1822" tmFilter="0,0; 0.14,0.36; 0.43,0.73; 0.71,0.91; 1.0,1.0">
                                          <p:stCondLst>
                                            <p:cond delay="0"/>
                                          </p:stCondLst>
                                        </p:cTn>
                                        <p:tgtEl>
                                          <p:spTgt spid="7">
                                            <p:txEl>
                                              <p:pRg st="2" end="2"/>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7">
                                            <p:txEl>
                                              <p:pRg st="2" end="2"/>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7">
                                            <p:txEl>
                                              <p:pRg st="2" end="2"/>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7">
                                            <p:txEl>
                                              <p:pRg st="2" end="2"/>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7">
                                            <p:txEl>
                                              <p:pRg st="2" end="2"/>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7">
                                            <p:txEl>
                                              <p:pRg st="2" end="2"/>
                                            </p:txEl>
                                          </p:spTgt>
                                        </p:tgtEl>
                                      </p:cBhvr>
                                      <p:to x="100000" y="60000"/>
                                    </p:animScale>
                                    <p:animScale>
                                      <p:cBhvr>
                                        <p:cTn id="37" dur="166" decel="50000">
                                          <p:stCondLst>
                                            <p:cond delay="676"/>
                                          </p:stCondLst>
                                        </p:cTn>
                                        <p:tgtEl>
                                          <p:spTgt spid="7">
                                            <p:txEl>
                                              <p:pRg st="2" end="2"/>
                                            </p:txEl>
                                          </p:spTgt>
                                        </p:tgtEl>
                                      </p:cBhvr>
                                      <p:to x="100000" y="100000"/>
                                    </p:animScale>
                                    <p:animScale>
                                      <p:cBhvr>
                                        <p:cTn id="38" dur="26">
                                          <p:stCondLst>
                                            <p:cond delay="1312"/>
                                          </p:stCondLst>
                                        </p:cTn>
                                        <p:tgtEl>
                                          <p:spTgt spid="7">
                                            <p:txEl>
                                              <p:pRg st="2" end="2"/>
                                            </p:txEl>
                                          </p:spTgt>
                                        </p:tgtEl>
                                      </p:cBhvr>
                                      <p:to x="100000" y="80000"/>
                                    </p:animScale>
                                    <p:animScale>
                                      <p:cBhvr>
                                        <p:cTn id="39" dur="166" decel="50000">
                                          <p:stCondLst>
                                            <p:cond delay="1338"/>
                                          </p:stCondLst>
                                        </p:cTn>
                                        <p:tgtEl>
                                          <p:spTgt spid="7">
                                            <p:txEl>
                                              <p:pRg st="2" end="2"/>
                                            </p:txEl>
                                          </p:spTgt>
                                        </p:tgtEl>
                                      </p:cBhvr>
                                      <p:to x="100000" y="100000"/>
                                    </p:animScale>
                                    <p:animScale>
                                      <p:cBhvr>
                                        <p:cTn id="40" dur="26">
                                          <p:stCondLst>
                                            <p:cond delay="1642"/>
                                          </p:stCondLst>
                                        </p:cTn>
                                        <p:tgtEl>
                                          <p:spTgt spid="7">
                                            <p:txEl>
                                              <p:pRg st="2" end="2"/>
                                            </p:txEl>
                                          </p:spTgt>
                                        </p:tgtEl>
                                      </p:cBhvr>
                                      <p:to x="100000" y="90000"/>
                                    </p:animScale>
                                    <p:animScale>
                                      <p:cBhvr>
                                        <p:cTn id="41" dur="166" decel="50000">
                                          <p:stCondLst>
                                            <p:cond delay="1668"/>
                                          </p:stCondLst>
                                        </p:cTn>
                                        <p:tgtEl>
                                          <p:spTgt spid="7">
                                            <p:txEl>
                                              <p:pRg st="2" end="2"/>
                                            </p:txEl>
                                          </p:spTgt>
                                        </p:tgtEl>
                                      </p:cBhvr>
                                      <p:to x="100000" y="100000"/>
                                    </p:animScale>
                                    <p:animScale>
                                      <p:cBhvr>
                                        <p:cTn id="42" dur="26">
                                          <p:stCondLst>
                                            <p:cond delay="1808"/>
                                          </p:stCondLst>
                                        </p:cTn>
                                        <p:tgtEl>
                                          <p:spTgt spid="7">
                                            <p:txEl>
                                              <p:pRg st="2" end="2"/>
                                            </p:txEl>
                                          </p:spTgt>
                                        </p:tgtEl>
                                      </p:cBhvr>
                                      <p:to x="100000" y="95000"/>
                                    </p:animScale>
                                    <p:animScale>
                                      <p:cBhvr>
                                        <p:cTn id="43" dur="166" decel="50000">
                                          <p:stCondLst>
                                            <p:cond delay="1834"/>
                                          </p:stCondLst>
                                        </p:cTn>
                                        <p:tgtEl>
                                          <p:spTgt spid="7">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9571" y="468078"/>
            <a:ext cx="8313493"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data insertion</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4" name="TextBox 3"/>
          <p:cNvSpPr txBox="1"/>
          <p:nvPr/>
        </p:nvSpPr>
        <p:spPr>
          <a:xfrm>
            <a:off x="579571" y="1506186"/>
            <a:ext cx="6042902" cy="2677656"/>
          </a:xfrm>
          <a:prstGeom prst="rect">
            <a:avLst/>
          </a:prstGeom>
          <a:noFill/>
        </p:spPr>
        <p:txBody>
          <a:bodyPr wrap="square" rtlCol="0">
            <a:spAutoFit/>
          </a:bodyPr>
          <a:lstStyle/>
          <a:p>
            <a:r>
              <a:rPr lang="en-IN" sz="2800" dirty="0" smtClean="0">
                <a:latin typeface="Calibri (Body)"/>
              </a:rPr>
              <a:t>Create object: called </a:t>
            </a:r>
            <a:r>
              <a:rPr lang="en-IN" sz="2800" dirty="0" err="1" smtClean="0">
                <a:latin typeface="Calibri (Body)"/>
              </a:rPr>
              <a:t>json</a:t>
            </a:r>
            <a:r>
              <a:rPr lang="en-IN" sz="2800" dirty="0" smtClean="0">
                <a:latin typeface="Calibri (Body)"/>
              </a:rPr>
              <a:t> format</a:t>
            </a:r>
          </a:p>
          <a:p>
            <a:endParaRPr lang="en-IN" sz="2800" dirty="0">
              <a:latin typeface="Calibri (Body)"/>
            </a:endParaRPr>
          </a:p>
          <a:p>
            <a:endParaRPr lang="en-IN" sz="2800" dirty="0" smtClean="0">
              <a:latin typeface="Calibri (Body)"/>
            </a:endParaRPr>
          </a:p>
          <a:p>
            <a:endParaRPr lang="en-IN" sz="2800" dirty="0">
              <a:latin typeface="Calibri (Body)"/>
            </a:endParaRPr>
          </a:p>
          <a:p>
            <a:endParaRPr lang="en-IN" sz="2800" dirty="0" smtClean="0">
              <a:latin typeface="Calibri (Body)"/>
            </a:endParaRPr>
          </a:p>
          <a:p>
            <a:endParaRPr lang="en-IN" sz="2800" dirty="0" smtClean="0">
              <a:latin typeface="Calibri (Body)"/>
            </a:endParaRPr>
          </a:p>
        </p:txBody>
      </p:sp>
      <p:sp>
        <p:nvSpPr>
          <p:cNvPr id="5" name="Round Single Corner Rectangle 4"/>
          <p:cNvSpPr/>
          <p:nvPr/>
        </p:nvSpPr>
        <p:spPr>
          <a:xfrm rot="5400000">
            <a:off x="2257936" y="592915"/>
            <a:ext cx="1779042" cy="4932218"/>
          </a:xfrm>
          <a:prstGeom prst="round1Rect">
            <a:avLst/>
          </a:prstGeom>
        </p:spPr>
        <p:style>
          <a:lnRef idx="1">
            <a:schemeClr val="accent3"/>
          </a:lnRef>
          <a:fillRef idx="2">
            <a:schemeClr val="accent3"/>
          </a:fillRef>
          <a:effectRef idx="1">
            <a:schemeClr val="accent3"/>
          </a:effectRef>
          <a:fontRef idx="minor">
            <a:schemeClr val="dk1"/>
          </a:fontRef>
        </p:style>
        <p:txBody>
          <a:bodyPr rot="0" spcFirstLastPara="0" vert="vert270" wrap="square" lIns="91440" tIns="45720" rIns="91440" bIns="45720" numCol="1" spcCol="0" rtlCol="0" fromWordArt="0" anchor="t" anchorCtr="0" forceAA="0" compatLnSpc="1">
            <a:prstTxWarp prst="textNoShape">
              <a:avLst/>
            </a:prstTxWarp>
            <a:noAutofit/>
          </a:bodyPr>
          <a:lstStyle/>
          <a:p>
            <a:pPr>
              <a:spcAft>
                <a:spcPts val="0"/>
              </a:spcAft>
            </a:pPr>
            <a:r>
              <a:rPr lang="en-IN" b="1" dirty="0">
                <a:effectLst/>
                <a:latin typeface="Calibri (Body)"/>
                <a:ea typeface="Calibri" panose="020F0502020204030204" pitchFamily="34" charset="0"/>
                <a:cs typeface="Times New Roman" panose="02020603050405020304" pitchFamily="18" charset="0"/>
              </a:rPr>
              <a:t>{</a:t>
            </a:r>
            <a:endParaRPr lang="en-IN" sz="2800" b="1" dirty="0">
              <a:effectLst/>
              <a:latin typeface="Calibri (Body)"/>
              <a:ea typeface="Calibri" panose="020F0502020204030204" pitchFamily="34" charset="0"/>
              <a:cs typeface="Times New Roman" panose="02020603050405020304" pitchFamily="18" charset="0"/>
            </a:endParaRPr>
          </a:p>
          <a:p>
            <a:pPr>
              <a:spcAft>
                <a:spcPts val="0"/>
              </a:spcAft>
            </a:pPr>
            <a:r>
              <a:rPr lang="en-IN" b="1" dirty="0">
                <a:effectLst/>
                <a:latin typeface="Calibri (Body)"/>
                <a:ea typeface="Calibri" panose="020F0502020204030204" pitchFamily="34" charset="0"/>
                <a:cs typeface="Times New Roman" panose="02020603050405020304" pitchFamily="18" charset="0"/>
              </a:rPr>
              <a:t>    "REGION": "GANGETIC WEST BENGAL",</a:t>
            </a:r>
            <a:endParaRPr lang="en-IN" sz="2800" b="1" dirty="0">
              <a:effectLst/>
              <a:latin typeface="Calibri (Body)"/>
              <a:ea typeface="Calibri" panose="020F0502020204030204" pitchFamily="34" charset="0"/>
              <a:cs typeface="Times New Roman" panose="02020603050405020304" pitchFamily="18" charset="0"/>
            </a:endParaRPr>
          </a:p>
          <a:p>
            <a:pPr>
              <a:spcAft>
                <a:spcPts val="0"/>
              </a:spcAft>
            </a:pPr>
            <a:r>
              <a:rPr lang="en-IN" b="1" dirty="0">
                <a:effectLst/>
                <a:latin typeface="Calibri (Body)"/>
                <a:ea typeface="Calibri" panose="020F0502020204030204" pitchFamily="34" charset="0"/>
                <a:cs typeface="Times New Roman" panose="02020603050405020304" pitchFamily="18" charset="0"/>
              </a:rPr>
              <a:t>    "YEAR": 1993.0,</a:t>
            </a:r>
            <a:endParaRPr lang="en-IN" sz="2800" b="1" dirty="0">
              <a:effectLst/>
              <a:latin typeface="Calibri (Body)"/>
              <a:ea typeface="Calibri" panose="020F0502020204030204" pitchFamily="34" charset="0"/>
              <a:cs typeface="Times New Roman" panose="02020603050405020304" pitchFamily="18" charset="0"/>
            </a:endParaRPr>
          </a:p>
          <a:p>
            <a:pPr>
              <a:spcAft>
                <a:spcPts val="0"/>
              </a:spcAft>
            </a:pPr>
            <a:r>
              <a:rPr lang="en-IN" b="1" dirty="0">
                <a:effectLst/>
                <a:latin typeface="Calibri (Body)"/>
                <a:ea typeface="Calibri" panose="020F0502020204030204" pitchFamily="34" charset="0"/>
                <a:cs typeface="Times New Roman" panose="02020603050405020304" pitchFamily="18" charset="0"/>
              </a:rPr>
              <a:t>    "MONTH": "MARCH",</a:t>
            </a:r>
            <a:endParaRPr lang="en-IN" sz="2800" b="1" dirty="0">
              <a:effectLst/>
              <a:latin typeface="Calibri (Body)"/>
              <a:ea typeface="Calibri" panose="020F0502020204030204" pitchFamily="34" charset="0"/>
              <a:cs typeface="Times New Roman" panose="02020603050405020304" pitchFamily="18" charset="0"/>
            </a:endParaRPr>
          </a:p>
          <a:p>
            <a:pPr>
              <a:spcAft>
                <a:spcPts val="0"/>
              </a:spcAft>
            </a:pPr>
            <a:r>
              <a:rPr lang="en-IN" b="1" dirty="0">
                <a:effectLst/>
                <a:latin typeface="Calibri (Body)"/>
                <a:ea typeface="Calibri" panose="020F0502020204030204" pitchFamily="34" charset="0"/>
                <a:cs typeface="Times New Roman" panose="02020603050405020304" pitchFamily="18" charset="0"/>
              </a:rPr>
              <a:t>    "DATA": 40.8</a:t>
            </a:r>
            <a:endParaRPr lang="en-IN" sz="2800" b="1" dirty="0">
              <a:effectLst/>
              <a:latin typeface="Calibri (Body)"/>
              <a:ea typeface="Calibri" panose="020F0502020204030204" pitchFamily="34" charset="0"/>
              <a:cs typeface="Times New Roman" panose="02020603050405020304" pitchFamily="18" charset="0"/>
            </a:endParaRPr>
          </a:p>
          <a:p>
            <a:pPr>
              <a:spcAft>
                <a:spcPts val="0"/>
              </a:spcAft>
            </a:pPr>
            <a:r>
              <a:rPr lang="en-IN" b="1" dirty="0">
                <a:effectLst/>
                <a:latin typeface="Calibri (Body)"/>
                <a:ea typeface="Calibri" panose="020F0502020204030204" pitchFamily="34" charset="0"/>
                <a:cs typeface="Times New Roman" panose="02020603050405020304" pitchFamily="18" charset="0"/>
              </a:rPr>
              <a:t>}</a:t>
            </a:r>
            <a:endParaRPr lang="en-IN" sz="2800" b="1" dirty="0">
              <a:effectLst/>
              <a:latin typeface="Calibri (Body)"/>
              <a:ea typeface="Calibri" panose="020F0502020204030204" pitchFamily="34" charset="0"/>
              <a:cs typeface="Times New Roman" panose="02020603050405020304" pitchFamily="18" charset="0"/>
            </a:endParaRPr>
          </a:p>
        </p:txBody>
      </p:sp>
      <p:sp>
        <p:nvSpPr>
          <p:cNvPr id="6" name="TextBox 5"/>
          <p:cNvSpPr txBox="1"/>
          <p:nvPr/>
        </p:nvSpPr>
        <p:spPr>
          <a:xfrm>
            <a:off x="579570" y="4446849"/>
            <a:ext cx="10434793" cy="646331"/>
          </a:xfrm>
          <a:prstGeom prst="rect">
            <a:avLst/>
          </a:prstGeom>
          <a:noFill/>
        </p:spPr>
        <p:txBody>
          <a:bodyPr wrap="square" rtlCol="0">
            <a:spAutoFit/>
          </a:bodyPr>
          <a:lstStyle/>
          <a:p>
            <a:r>
              <a:rPr lang="en-IN" sz="3600" b="1" dirty="0" smtClean="0">
                <a:solidFill>
                  <a:srgbClr val="00B0F0"/>
                </a:solidFill>
                <a:latin typeface="Calibri (Body)"/>
              </a:rPr>
              <a:t>Database Insertion</a:t>
            </a:r>
            <a:r>
              <a:rPr lang="en-IN" sz="2800" dirty="0" smtClean="0">
                <a:latin typeface="Calibri (Body)"/>
              </a:rPr>
              <a:t>  find </a:t>
            </a:r>
            <a:r>
              <a:rPr lang="en-IN" sz="2800" dirty="0" smtClean="0">
                <a:latin typeface="Calibri (Body)"/>
                <a:sym typeface="Wingdings" panose="05000000000000000000" pitchFamily="2" charset="2"/>
              </a:rPr>
              <a:t> </a:t>
            </a:r>
            <a:r>
              <a:rPr lang="en-IN" sz="2800" dirty="0" smtClean="0">
                <a:latin typeface="Calibri (Body)"/>
                <a:sym typeface="Wingdings" panose="05000000000000000000" pitchFamily="2" charset="2"/>
                <a:hlinkClick r:id="rId2" action="ppaction://hlinkfile"/>
              </a:rPr>
              <a:t>update/newly insert</a:t>
            </a:r>
            <a:endParaRPr lang="en-IN" sz="2800" dirty="0" smtClean="0">
              <a:latin typeface="Calibri (Body)"/>
              <a:sym typeface="Wingdings" panose="05000000000000000000" pitchFamily="2" charset="2"/>
            </a:endParaRPr>
          </a:p>
        </p:txBody>
      </p:sp>
      <p:sp>
        <p:nvSpPr>
          <p:cNvPr id="7" name="TextBox 6"/>
          <p:cNvSpPr txBox="1"/>
          <p:nvPr/>
        </p:nvSpPr>
        <p:spPr>
          <a:xfrm>
            <a:off x="579571" y="5434677"/>
            <a:ext cx="9201738" cy="523220"/>
          </a:xfrm>
          <a:prstGeom prst="rect">
            <a:avLst/>
          </a:prstGeom>
          <a:noFill/>
        </p:spPr>
        <p:txBody>
          <a:bodyPr wrap="square" rtlCol="0">
            <a:spAutoFit/>
          </a:bodyPr>
          <a:lstStyle/>
          <a:p>
            <a:r>
              <a:rPr lang="en-IN" sz="2800" b="1" dirty="0" smtClean="0">
                <a:latin typeface="Calibri (Body)"/>
                <a:sym typeface="Wingdings" panose="05000000000000000000" pitchFamily="2" charset="2"/>
              </a:rPr>
              <a:t>Next part is to data filtering to update noise data.</a:t>
            </a:r>
            <a:endParaRPr lang="en-IN" sz="2800" b="1" dirty="0" smtClean="0">
              <a:latin typeface="Calibri (Body)"/>
            </a:endParaRPr>
          </a:p>
        </p:txBody>
      </p:sp>
    </p:spTree>
    <p:extLst>
      <p:ext uri="{BB962C8B-B14F-4D97-AF65-F5344CB8AC3E}">
        <p14:creationId xmlns:p14="http://schemas.microsoft.com/office/powerpoint/2010/main" val="103670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p:cTn id="11"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80">
                                          <p:stCondLst>
                                            <p:cond delay="0"/>
                                          </p:stCondLst>
                                        </p:cTn>
                                        <p:tgtEl>
                                          <p:spTgt spid="5"/>
                                        </p:tgtEl>
                                      </p:cBhvr>
                                    </p:animEffect>
                                    <p:anim calcmode="lin" valueType="num">
                                      <p:cBhvr>
                                        <p:cTn id="19"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4" dur="26">
                                          <p:stCondLst>
                                            <p:cond delay="650"/>
                                          </p:stCondLst>
                                        </p:cTn>
                                        <p:tgtEl>
                                          <p:spTgt spid="5"/>
                                        </p:tgtEl>
                                      </p:cBhvr>
                                      <p:to x="100000" y="60000"/>
                                    </p:animScale>
                                    <p:animScale>
                                      <p:cBhvr>
                                        <p:cTn id="25" dur="166" decel="50000">
                                          <p:stCondLst>
                                            <p:cond delay="676"/>
                                          </p:stCondLst>
                                        </p:cTn>
                                        <p:tgtEl>
                                          <p:spTgt spid="5"/>
                                        </p:tgtEl>
                                      </p:cBhvr>
                                      <p:to x="100000" y="100000"/>
                                    </p:animScale>
                                    <p:animScale>
                                      <p:cBhvr>
                                        <p:cTn id="26" dur="26">
                                          <p:stCondLst>
                                            <p:cond delay="1312"/>
                                          </p:stCondLst>
                                        </p:cTn>
                                        <p:tgtEl>
                                          <p:spTgt spid="5"/>
                                        </p:tgtEl>
                                      </p:cBhvr>
                                      <p:to x="100000" y="80000"/>
                                    </p:animScale>
                                    <p:animScale>
                                      <p:cBhvr>
                                        <p:cTn id="27" dur="166" decel="50000">
                                          <p:stCondLst>
                                            <p:cond delay="1338"/>
                                          </p:stCondLst>
                                        </p:cTn>
                                        <p:tgtEl>
                                          <p:spTgt spid="5"/>
                                        </p:tgtEl>
                                      </p:cBhvr>
                                      <p:to x="100000" y="100000"/>
                                    </p:animScale>
                                    <p:animScale>
                                      <p:cBhvr>
                                        <p:cTn id="28" dur="26">
                                          <p:stCondLst>
                                            <p:cond delay="1642"/>
                                          </p:stCondLst>
                                        </p:cTn>
                                        <p:tgtEl>
                                          <p:spTgt spid="5"/>
                                        </p:tgtEl>
                                      </p:cBhvr>
                                      <p:to x="100000" y="90000"/>
                                    </p:animScale>
                                    <p:animScale>
                                      <p:cBhvr>
                                        <p:cTn id="29" dur="166" decel="50000">
                                          <p:stCondLst>
                                            <p:cond delay="1668"/>
                                          </p:stCondLst>
                                        </p:cTn>
                                        <p:tgtEl>
                                          <p:spTgt spid="5"/>
                                        </p:tgtEl>
                                      </p:cBhvr>
                                      <p:to x="100000" y="100000"/>
                                    </p:animScale>
                                    <p:animScale>
                                      <p:cBhvr>
                                        <p:cTn id="30" dur="26">
                                          <p:stCondLst>
                                            <p:cond delay="1808"/>
                                          </p:stCondLst>
                                        </p:cTn>
                                        <p:tgtEl>
                                          <p:spTgt spid="5"/>
                                        </p:tgtEl>
                                      </p:cBhvr>
                                      <p:to x="100000" y="95000"/>
                                    </p:animScale>
                                    <p:animScale>
                                      <p:cBhvr>
                                        <p:cTn id="31" dur="166" decel="50000">
                                          <p:stCondLst>
                                            <p:cond delay="1834"/>
                                          </p:stCondLst>
                                        </p:cTn>
                                        <p:tgtEl>
                                          <p:spTgt spid="5"/>
                                        </p:tgtEl>
                                      </p:cBhvr>
                                      <p:to x="100000" y="100000"/>
                                    </p:animScale>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anim calcmode="lin" valueType="num">
                                      <p:cBhvr>
                                        <p:cTn id="36"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37"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38"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39" dur="10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arn(inVertical)">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679" y="799098"/>
            <a:ext cx="7734233"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User Query</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579571" y="1944101"/>
            <a:ext cx="10594464" cy="3108543"/>
          </a:xfrm>
          <a:prstGeom prst="rect">
            <a:avLst/>
          </a:prstGeom>
          <a:noFill/>
        </p:spPr>
        <p:txBody>
          <a:bodyPr wrap="square" rtlCol="0">
            <a:spAutoFit/>
          </a:bodyPr>
          <a:lstStyle/>
          <a:p>
            <a:r>
              <a:rPr lang="en-IN" sz="2800" dirty="0" smtClean="0">
                <a:latin typeface="Calibri (Body)"/>
              </a:rPr>
              <a:t>Two type user query:</a:t>
            </a:r>
          </a:p>
          <a:p>
            <a:endParaRPr lang="en-IN" sz="2800" dirty="0" smtClean="0">
              <a:latin typeface="Calibri (Body)"/>
            </a:endParaRPr>
          </a:p>
          <a:p>
            <a:r>
              <a:rPr lang="en-IN" sz="2800" dirty="0">
                <a:latin typeface="Calibri (Body)"/>
              </a:rPr>
              <a:t>	</a:t>
            </a:r>
            <a:r>
              <a:rPr lang="en-IN" sz="2800" dirty="0" smtClean="0">
                <a:latin typeface="Calibri (Body)"/>
              </a:rPr>
              <a:t>(</a:t>
            </a:r>
            <a:r>
              <a:rPr lang="en-IN" sz="2800" dirty="0" err="1">
                <a:latin typeface="Calibri (Body)"/>
              </a:rPr>
              <a:t>i</a:t>
            </a:r>
            <a:r>
              <a:rPr lang="en-IN" sz="2800" dirty="0">
                <a:latin typeface="Calibri (Body)"/>
              </a:rPr>
              <a:t>) </a:t>
            </a:r>
            <a:r>
              <a:rPr lang="en-IN" sz="2800" dirty="0" smtClean="0">
                <a:latin typeface="Calibri (Body)"/>
              </a:rPr>
              <a:t>region, year;      </a:t>
            </a:r>
          </a:p>
          <a:p>
            <a:r>
              <a:rPr lang="en-IN" sz="2800" dirty="0">
                <a:latin typeface="Calibri (Body)"/>
              </a:rPr>
              <a:t>	</a:t>
            </a:r>
            <a:r>
              <a:rPr lang="en-IN" sz="2800" dirty="0" smtClean="0">
                <a:latin typeface="Calibri (Body)"/>
              </a:rPr>
              <a:t>		ex: expect data of ‘Bihar, 2019’ </a:t>
            </a:r>
          </a:p>
          <a:p>
            <a:endParaRPr lang="en-IN" sz="2800" dirty="0" smtClean="0">
              <a:latin typeface="Calibri (Body)"/>
            </a:endParaRPr>
          </a:p>
          <a:p>
            <a:r>
              <a:rPr lang="en-IN" sz="2800" dirty="0">
                <a:latin typeface="Calibri (Body)"/>
              </a:rPr>
              <a:t>	</a:t>
            </a:r>
            <a:r>
              <a:rPr lang="en-IN" sz="2800" dirty="0" smtClean="0">
                <a:latin typeface="Calibri (Body)"/>
              </a:rPr>
              <a:t>(</a:t>
            </a:r>
            <a:r>
              <a:rPr lang="en-IN" sz="2800" dirty="0">
                <a:latin typeface="Calibri (Body)"/>
              </a:rPr>
              <a:t>ii) </a:t>
            </a:r>
            <a:r>
              <a:rPr lang="en-IN" sz="2800" dirty="0" smtClean="0">
                <a:latin typeface="Calibri (Body)"/>
              </a:rPr>
              <a:t>region, year, month    </a:t>
            </a:r>
          </a:p>
          <a:p>
            <a:r>
              <a:rPr lang="en-IN" sz="2800" dirty="0">
                <a:latin typeface="Calibri (Body)"/>
              </a:rPr>
              <a:t>	</a:t>
            </a:r>
            <a:r>
              <a:rPr lang="en-IN" sz="2800" dirty="0" smtClean="0">
                <a:latin typeface="Calibri (Body)"/>
              </a:rPr>
              <a:t>		ex: expect data of ‘WB, 2019, OCT’</a:t>
            </a:r>
            <a:endParaRPr lang="en-IN" sz="2800" b="1" dirty="0" smtClean="0">
              <a:latin typeface="Calibri (Body)"/>
            </a:endParaRPr>
          </a:p>
        </p:txBody>
      </p:sp>
    </p:spTree>
    <p:extLst>
      <p:ext uri="{BB962C8B-B14F-4D97-AF65-F5344CB8AC3E}">
        <p14:creationId xmlns:p14="http://schemas.microsoft.com/office/powerpoint/2010/main" val="262387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6"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down)">
                                      <p:cBhvr>
                                        <p:cTn id="16" dur="580">
                                          <p:stCondLst>
                                            <p:cond delay="0"/>
                                          </p:stCondLst>
                                        </p:cTn>
                                        <p:tgtEl>
                                          <p:spTgt spid="3">
                                            <p:txEl>
                                              <p:pRg st="2" end="2"/>
                                            </p:txEl>
                                          </p:spTgt>
                                        </p:tgtEl>
                                      </p:cBhvr>
                                    </p:animEffect>
                                    <p:anim calcmode="lin" valueType="num">
                                      <p:cBhvr>
                                        <p:cTn id="1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2" dur="26">
                                          <p:stCondLst>
                                            <p:cond delay="650"/>
                                          </p:stCondLst>
                                        </p:cTn>
                                        <p:tgtEl>
                                          <p:spTgt spid="3">
                                            <p:txEl>
                                              <p:pRg st="2" end="2"/>
                                            </p:txEl>
                                          </p:spTgt>
                                        </p:tgtEl>
                                      </p:cBhvr>
                                      <p:to x="100000" y="60000"/>
                                    </p:animScale>
                                    <p:animScale>
                                      <p:cBhvr>
                                        <p:cTn id="23" dur="166" decel="50000">
                                          <p:stCondLst>
                                            <p:cond delay="676"/>
                                          </p:stCondLst>
                                        </p:cTn>
                                        <p:tgtEl>
                                          <p:spTgt spid="3">
                                            <p:txEl>
                                              <p:pRg st="2" end="2"/>
                                            </p:txEl>
                                          </p:spTgt>
                                        </p:tgtEl>
                                      </p:cBhvr>
                                      <p:to x="100000" y="100000"/>
                                    </p:animScale>
                                    <p:animScale>
                                      <p:cBhvr>
                                        <p:cTn id="24" dur="26">
                                          <p:stCondLst>
                                            <p:cond delay="1312"/>
                                          </p:stCondLst>
                                        </p:cTn>
                                        <p:tgtEl>
                                          <p:spTgt spid="3">
                                            <p:txEl>
                                              <p:pRg st="2" end="2"/>
                                            </p:txEl>
                                          </p:spTgt>
                                        </p:tgtEl>
                                      </p:cBhvr>
                                      <p:to x="100000" y="80000"/>
                                    </p:animScale>
                                    <p:animScale>
                                      <p:cBhvr>
                                        <p:cTn id="25" dur="166" decel="50000">
                                          <p:stCondLst>
                                            <p:cond delay="1338"/>
                                          </p:stCondLst>
                                        </p:cTn>
                                        <p:tgtEl>
                                          <p:spTgt spid="3">
                                            <p:txEl>
                                              <p:pRg st="2" end="2"/>
                                            </p:txEl>
                                          </p:spTgt>
                                        </p:tgtEl>
                                      </p:cBhvr>
                                      <p:to x="100000" y="100000"/>
                                    </p:animScale>
                                    <p:animScale>
                                      <p:cBhvr>
                                        <p:cTn id="26" dur="26">
                                          <p:stCondLst>
                                            <p:cond delay="1642"/>
                                          </p:stCondLst>
                                        </p:cTn>
                                        <p:tgtEl>
                                          <p:spTgt spid="3">
                                            <p:txEl>
                                              <p:pRg st="2" end="2"/>
                                            </p:txEl>
                                          </p:spTgt>
                                        </p:tgtEl>
                                      </p:cBhvr>
                                      <p:to x="100000" y="90000"/>
                                    </p:animScale>
                                    <p:animScale>
                                      <p:cBhvr>
                                        <p:cTn id="27" dur="166" decel="50000">
                                          <p:stCondLst>
                                            <p:cond delay="1668"/>
                                          </p:stCondLst>
                                        </p:cTn>
                                        <p:tgtEl>
                                          <p:spTgt spid="3">
                                            <p:txEl>
                                              <p:pRg st="2" end="2"/>
                                            </p:txEl>
                                          </p:spTgt>
                                        </p:tgtEl>
                                      </p:cBhvr>
                                      <p:to x="100000" y="100000"/>
                                    </p:animScale>
                                    <p:animScale>
                                      <p:cBhvr>
                                        <p:cTn id="28" dur="26">
                                          <p:stCondLst>
                                            <p:cond delay="1808"/>
                                          </p:stCondLst>
                                        </p:cTn>
                                        <p:tgtEl>
                                          <p:spTgt spid="3">
                                            <p:txEl>
                                              <p:pRg st="2" end="2"/>
                                            </p:txEl>
                                          </p:spTgt>
                                        </p:tgtEl>
                                      </p:cBhvr>
                                      <p:to x="100000" y="95000"/>
                                    </p:animScale>
                                    <p:animScale>
                                      <p:cBhvr>
                                        <p:cTn id="29" dur="166" decel="50000">
                                          <p:stCondLst>
                                            <p:cond delay="1834"/>
                                          </p:stCondLst>
                                        </p:cTn>
                                        <p:tgtEl>
                                          <p:spTgt spid="3">
                                            <p:txEl>
                                              <p:pRg st="2" end="2"/>
                                            </p:txEl>
                                          </p:spTgt>
                                        </p:tgtEl>
                                      </p:cBhvr>
                                      <p:to x="100000" y="100000"/>
                                    </p:animScale>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heel(1)">
                                      <p:cBhvr>
                                        <p:cTn id="34" dur="20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wipe(down)">
                                      <p:cBhvr>
                                        <p:cTn id="39" dur="580">
                                          <p:stCondLst>
                                            <p:cond delay="0"/>
                                          </p:stCondLst>
                                        </p:cTn>
                                        <p:tgtEl>
                                          <p:spTgt spid="3">
                                            <p:txEl>
                                              <p:pRg st="5" end="5"/>
                                            </p:txEl>
                                          </p:spTgt>
                                        </p:tgtEl>
                                      </p:cBhvr>
                                    </p:animEffect>
                                    <p:anim calcmode="lin" valueType="num">
                                      <p:cBhvr>
                                        <p:cTn id="4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5" end="5"/>
                                            </p:txEl>
                                          </p:spTgt>
                                        </p:tgtEl>
                                      </p:cBhvr>
                                      <p:to x="100000" y="60000"/>
                                    </p:animScale>
                                    <p:animScale>
                                      <p:cBhvr>
                                        <p:cTn id="46" dur="166" decel="50000">
                                          <p:stCondLst>
                                            <p:cond delay="676"/>
                                          </p:stCondLst>
                                        </p:cTn>
                                        <p:tgtEl>
                                          <p:spTgt spid="3">
                                            <p:txEl>
                                              <p:pRg st="5" end="5"/>
                                            </p:txEl>
                                          </p:spTgt>
                                        </p:tgtEl>
                                      </p:cBhvr>
                                      <p:to x="100000" y="100000"/>
                                    </p:animScale>
                                    <p:animScale>
                                      <p:cBhvr>
                                        <p:cTn id="47" dur="26">
                                          <p:stCondLst>
                                            <p:cond delay="1312"/>
                                          </p:stCondLst>
                                        </p:cTn>
                                        <p:tgtEl>
                                          <p:spTgt spid="3">
                                            <p:txEl>
                                              <p:pRg st="5" end="5"/>
                                            </p:txEl>
                                          </p:spTgt>
                                        </p:tgtEl>
                                      </p:cBhvr>
                                      <p:to x="100000" y="80000"/>
                                    </p:animScale>
                                    <p:animScale>
                                      <p:cBhvr>
                                        <p:cTn id="48" dur="166" decel="50000">
                                          <p:stCondLst>
                                            <p:cond delay="1338"/>
                                          </p:stCondLst>
                                        </p:cTn>
                                        <p:tgtEl>
                                          <p:spTgt spid="3">
                                            <p:txEl>
                                              <p:pRg st="5" end="5"/>
                                            </p:txEl>
                                          </p:spTgt>
                                        </p:tgtEl>
                                      </p:cBhvr>
                                      <p:to x="100000" y="100000"/>
                                    </p:animScale>
                                    <p:animScale>
                                      <p:cBhvr>
                                        <p:cTn id="49" dur="26">
                                          <p:stCondLst>
                                            <p:cond delay="1642"/>
                                          </p:stCondLst>
                                        </p:cTn>
                                        <p:tgtEl>
                                          <p:spTgt spid="3">
                                            <p:txEl>
                                              <p:pRg st="5" end="5"/>
                                            </p:txEl>
                                          </p:spTgt>
                                        </p:tgtEl>
                                      </p:cBhvr>
                                      <p:to x="100000" y="90000"/>
                                    </p:animScale>
                                    <p:animScale>
                                      <p:cBhvr>
                                        <p:cTn id="50" dur="166" decel="50000">
                                          <p:stCondLst>
                                            <p:cond delay="1668"/>
                                          </p:stCondLst>
                                        </p:cTn>
                                        <p:tgtEl>
                                          <p:spTgt spid="3">
                                            <p:txEl>
                                              <p:pRg st="5" end="5"/>
                                            </p:txEl>
                                          </p:spTgt>
                                        </p:tgtEl>
                                      </p:cBhvr>
                                      <p:to x="100000" y="100000"/>
                                    </p:animScale>
                                    <p:animScale>
                                      <p:cBhvr>
                                        <p:cTn id="51" dur="26">
                                          <p:stCondLst>
                                            <p:cond delay="1808"/>
                                          </p:stCondLst>
                                        </p:cTn>
                                        <p:tgtEl>
                                          <p:spTgt spid="3">
                                            <p:txEl>
                                              <p:pRg st="5" end="5"/>
                                            </p:txEl>
                                          </p:spTgt>
                                        </p:tgtEl>
                                      </p:cBhvr>
                                      <p:to x="100000" y="95000"/>
                                    </p:animScale>
                                    <p:animScale>
                                      <p:cBhvr>
                                        <p:cTn id="52" dur="166" decel="50000">
                                          <p:stCondLst>
                                            <p:cond delay="1834"/>
                                          </p:stCondLst>
                                        </p:cTn>
                                        <p:tgtEl>
                                          <p:spTgt spid="3">
                                            <p:txEl>
                                              <p:pRg st="5" end="5"/>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wheel(1)">
                                      <p:cBhvr>
                                        <p:cTn id="5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3426" y="425024"/>
            <a:ext cx="9472465"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Proposed Work: ANN: introduction</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3" name="TextBox 2"/>
          <p:cNvSpPr txBox="1"/>
          <p:nvPr/>
        </p:nvSpPr>
        <p:spPr>
          <a:xfrm>
            <a:off x="593426" y="1486901"/>
            <a:ext cx="10594464" cy="2123658"/>
          </a:xfrm>
          <a:prstGeom prst="rect">
            <a:avLst/>
          </a:prstGeom>
          <a:noFill/>
        </p:spPr>
        <p:txBody>
          <a:bodyPr wrap="square" rtlCol="0">
            <a:spAutoFit/>
          </a:bodyPr>
          <a:lstStyle/>
          <a:p>
            <a:pPr marL="457200" indent="-457200">
              <a:buFont typeface="Wingdings" panose="05000000000000000000" pitchFamily="2" charset="2"/>
              <a:buChar char="v"/>
            </a:pPr>
            <a:r>
              <a:rPr lang="en-IN" sz="2800" b="1" dirty="0" smtClean="0">
                <a:latin typeface="Consolas" panose="020B0609020204030204" pitchFamily="49" charset="0"/>
              </a:rPr>
              <a:t>use Artificial Neural Network </a:t>
            </a:r>
          </a:p>
          <a:p>
            <a:pPr marL="457200" indent="-457200">
              <a:buFont typeface="Wingdings" panose="05000000000000000000" pitchFamily="2" charset="2"/>
              <a:buChar char="v"/>
            </a:pPr>
            <a:endParaRPr lang="en-IN" sz="2800" b="1" dirty="0" smtClean="0">
              <a:latin typeface="Consolas" panose="020B0609020204030204" pitchFamily="49" charset="0"/>
            </a:endParaRPr>
          </a:p>
          <a:p>
            <a:pPr marL="457200" indent="-457200">
              <a:buFont typeface="Wingdings" panose="05000000000000000000" pitchFamily="2" charset="2"/>
              <a:buChar char="v"/>
            </a:pPr>
            <a:r>
              <a:rPr lang="en-IN" sz="2800" dirty="0" smtClean="0"/>
              <a:t>Supervised </a:t>
            </a:r>
            <a:r>
              <a:rPr lang="en-IN" sz="2800" dirty="0"/>
              <a:t>Learning in Machine Learning. </a:t>
            </a:r>
          </a:p>
          <a:p>
            <a:r>
              <a:rPr lang="en-IN" sz="2400" dirty="0" smtClean="0"/>
              <a:t>It is a type of system/model where both input and desired output data are provided and with that input-output we train out model/system</a:t>
            </a:r>
          </a:p>
        </p:txBody>
      </p:sp>
    </p:spTree>
    <p:extLst>
      <p:ext uri="{BB962C8B-B14F-4D97-AF65-F5344CB8AC3E}">
        <p14:creationId xmlns:p14="http://schemas.microsoft.com/office/powerpoint/2010/main" val="261817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80">
                                          <p:stCondLst>
                                            <p:cond delay="0"/>
                                          </p:stCondLst>
                                        </p:cTn>
                                        <p:tgtEl>
                                          <p:spTgt spid="3">
                                            <p:txEl>
                                              <p:pRg st="0" end="0"/>
                                            </p:txEl>
                                          </p:spTgt>
                                        </p:tgtEl>
                                      </p:cBhvr>
                                    </p:animEffect>
                                    <p:anim calcmode="lin" valueType="num">
                                      <p:cBhvr>
                                        <p:cTn id="1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0" end="0"/>
                                            </p:txEl>
                                          </p:spTgt>
                                        </p:tgtEl>
                                      </p:cBhvr>
                                      <p:to x="100000" y="60000"/>
                                    </p:animScale>
                                    <p:animScale>
                                      <p:cBhvr>
                                        <p:cTn id="18" dur="166" decel="50000">
                                          <p:stCondLst>
                                            <p:cond delay="676"/>
                                          </p:stCondLst>
                                        </p:cTn>
                                        <p:tgtEl>
                                          <p:spTgt spid="3">
                                            <p:txEl>
                                              <p:pRg st="0" end="0"/>
                                            </p:txEl>
                                          </p:spTgt>
                                        </p:tgtEl>
                                      </p:cBhvr>
                                      <p:to x="100000" y="100000"/>
                                    </p:animScale>
                                    <p:animScale>
                                      <p:cBhvr>
                                        <p:cTn id="19" dur="26">
                                          <p:stCondLst>
                                            <p:cond delay="1312"/>
                                          </p:stCondLst>
                                        </p:cTn>
                                        <p:tgtEl>
                                          <p:spTgt spid="3">
                                            <p:txEl>
                                              <p:pRg st="0" end="0"/>
                                            </p:txEl>
                                          </p:spTgt>
                                        </p:tgtEl>
                                      </p:cBhvr>
                                      <p:to x="100000" y="80000"/>
                                    </p:animScale>
                                    <p:animScale>
                                      <p:cBhvr>
                                        <p:cTn id="20" dur="166" decel="50000">
                                          <p:stCondLst>
                                            <p:cond delay="1338"/>
                                          </p:stCondLst>
                                        </p:cTn>
                                        <p:tgtEl>
                                          <p:spTgt spid="3">
                                            <p:txEl>
                                              <p:pRg st="0" end="0"/>
                                            </p:txEl>
                                          </p:spTgt>
                                        </p:tgtEl>
                                      </p:cBhvr>
                                      <p:to x="100000" y="100000"/>
                                    </p:animScale>
                                    <p:animScale>
                                      <p:cBhvr>
                                        <p:cTn id="21" dur="26">
                                          <p:stCondLst>
                                            <p:cond delay="1642"/>
                                          </p:stCondLst>
                                        </p:cTn>
                                        <p:tgtEl>
                                          <p:spTgt spid="3">
                                            <p:txEl>
                                              <p:pRg st="0" end="0"/>
                                            </p:txEl>
                                          </p:spTgt>
                                        </p:tgtEl>
                                      </p:cBhvr>
                                      <p:to x="100000" y="90000"/>
                                    </p:animScale>
                                    <p:animScale>
                                      <p:cBhvr>
                                        <p:cTn id="22" dur="166" decel="50000">
                                          <p:stCondLst>
                                            <p:cond delay="1668"/>
                                          </p:stCondLst>
                                        </p:cTn>
                                        <p:tgtEl>
                                          <p:spTgt spid="3">
                                            <p:txEl>
                                              <p:pRg st="0" end="0"/>
                                            </p:txEl>
                                          </p:spTgt>
                                        </p:tgtEl>
                                      </p:cBhvr>
                                      <p:to x="100000" y="100000"/>
                                    </p:animScale>
                                    <p:animScale>
                                      <p:cBhvr>
                                        <p:cTn id="23" dur="26">
                                          <p:stCondLst>
                                            <p:cond delay="1808"/>
                                          </p:stCondLst>
                                        </p:cTn>
                                        <p:tgtEl>
                                          <p:spTgt spid="3">
                                            <p:txEl>
                                              <p:pRg st="0" end="0"/>
                                            </p:txEl>
                                          </p:spTgt>
                                        </p:tgtEl>
                                      </p:cBhvr>
                                      <p:to x="100000" y="95000"/>
                                    </p:animScale>
                                    <p:animScale>
                                      <p:cBhvr>
                                        <p:cTn id="24" dur="166" decel="50000">
                                          <p:stCondLst>
                                            <p:cond delay="1834"/>
                                          </p:stCondLst>
                                        </p:cTn>
                                        <p:tgtEl>
                                          <p:spTgt spid="3">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barn(inVertical)">
                                      <p:cBhvr>
                                        <p:cTn id="29" dur="500"/>
                                        <p:tgtEl>
                                          <p:spTgt spid="3">
                                            <p:txEl>
                                              <p:pRg st="2" end="2"/>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arn(inVertical)">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571" y="444833"/>
            <a:ext cx="786875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ANN: layers</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579571" y="1546784"/>
            <a:ext cx="10594464" cy="3816429"/>
          </a:xfrm>
          <a:prstGeom prst="rect">
            <a:avLst/>
          </a:prstGeom>
          <a:noFill/>
        </p:spPr>
        <p:txBody>
          <a:bodyPr wrap="square" rtlCol="0">
            <a:spAutoFit/>
          </a:bodyPr>
          <a:lstStyle/>
          <a:p>
            <a:pPr marL="457200" indent="-457200">
              <a:buFont typeface="Wingdings" panose="05000000000000000000" pitchFamily="2" charset="2"/>
              <a:buChar char="v"/>
            </a:pPr>
            <a:r>
              <a:rPr lang="en-IN" sz="3200" b="1" dirty="0" smtClean="0">
                <a:latin typeface="Calibri (Body)"/>
              </a:rPr>
              <a:t>Input layer: </a:t>
            </a:r>
          </a:p>
          <a:p>
            <a:r>
              <a:rPr lang="en-IN" sz="3200" b="1" dirty="0">
                <a:latin typeface="Calibri (Body)"/>
              </a:rPr>
              <a:t>	</a:t>
            </a:r>
            <a:r>
              <a:rPr lang="en-IN" sz="3200" b="1" dirty="0" smtClean="0">
                <a:latin typeface="Calibri (Body)"/>
              </a:rPr>
              <a:t>	</a:t>
            </a:r>
            <a:r>
              <a:rPr lang="en-IN" sz="2400" dirty="0" smtClean="0">
                <a:latin typeface="Calibri (Body)"/>
              </a:rPr>
              <a:t>no of Input set = no of input layer (number of input neurons)</a:t>
            </a:r>
          </a:p>
          <a:p>
            <a:endParaRPr lang="en-IN" sz="2400" dirty="0" smtClean="0">
              <a:latin typeface="Calibri (Body)"/>
            </a:endParaRPr>
          </a:p>
          <a:p>
            <a:pPr marL="457200" indent="-457200">
              <a:buFont typeface="Wingdings" panose="05000000000000000000" pitchFamily="2" charset="2"/>
              <a:buChar char="v"/>
            </a:pPr>
            <a:r>
              <a:rPr lang="en-IN" sz="3200" b="1" dirty="0">
                <a:latin typeface="Calibri (Body)"/>
              </a:rPr>
              <a:t>Hidden </a:t>
            </a:r>
            <a:r>
              <a:rPr lang="en-IN" sz="3200" b="1" dirty="0" smtClean="0">
                <a:latin typeface="Calibri (Body)"/>
              </a:rPr>
              <a:t>layer</a:t>
            </a:r>
            <a:r>
              <a:rPr lang="en-IN" sz="2800" b="1" dirty="0" smtClean="0">
                <a:latin typeface="Calibri (Body)"/>
              </a:rPr>
              <a:t>: </a:t>
            </a:r>
            <a:r>
              <a:rPr lang="en-IN" sz="2400" dirty="0" smtClean="0">
                <a:latin typeface="Calibri (Body)"/>
              </a:rPr>
              <a:t>	</a:t>
            </a:r>
          </a:p>
          <a:p>
            <a:r>
              <a:rPr lang="en-IN" sz="2400" dirty="0">
                <a:latin typeface="Calibri (Body)"/>
              </a:rPr>
              <a:t>	</a:t>
            </a:r>
            <a:r>
              <a:rPr lang="en-IN" sz="2400" dirty="0" smtClean="0">
                <a:latin typeface="Calibri (Body)"/>
              </a:rPr>
              <a:t>set no of hidden layer &amp; height (number of neurons)</a:t>
            </a:r>
          </a:p>
          <a:p>
            <a:r>
              <a:rPr lang="en-IN" sz="2400" dirty="0">
                <a:latin typeface="Calibri (Body)"/>
              </a:rPr>
              <a:t>	</a:t>
            </a:r>
            <a:r>
              <a:rPr lang="en-IN" sz="2400" dirty="0" smtClean="0">
                <a:latin typeface="Calibri (Body)"/>
              </a:rPr>
              <a:t>set weight, </a:t>
            </a:r>
            <a:r>
              <a:rPr lang="en-IN" sz="2400" dirty="0" err="1" smtClean="0">
                <a:latin typeface="Calibri (Body)"/>
              </a:rPr>
              <a:t>w</a:t>
            </a:r>
            <a:r>
              <a:rPr lang="en-IN" sz="2400" baseline="-25000" dirty="0" err="1" smtClean="0">
                <a:latin typeface="Calibri (Body)"/>
              </a:rPr>
              <a:t>ij</a:t>
            </a:r>
            <a:r>
              <a:rPr lang="en-IN" sz="2400" dirty="0" smtClean="0">
                <a:latin typeface="Calibri (Body)"/>
              </a:rPr>
              <a:t> and bias b</a:t>
            </a:r>
            <a:r>
              <a:rPr lang="en-IN" sz="2400" baseline="-25000" dirty="0" smtClean="0">
                <a:latin typeface="Calibri (Body)"/>
              </a:rPr>
              <a:t>i</a:t>
            </a:r>
            <a:r>
              <a:rPr lang="en-IN" sz="2400" dirty="0" smtClean="0">
                <a:latin typeface="Calibri (Body)"/>
              </a:rPr>
              <a:t> of each neurons to each hidden layer</a:t>
            </a:r>
          </a:p>
          <a:p>
            <a:endParaRPr lang="en-IN" sz="2400" dirty="0" smtClean="0">
              <a:latin typeface="Calibri (Body)"/>
            </a:endParaRPr>
          </a:p>
          <a:p>
            <a:pPr marL="457200" indent="-457200">
              <a:buFont typeface="Wingdings" panose="05000000000000000000" pitchFamily="2" charset="2"/>
              <a:buChar char="v"/>
            </a:pPr>
            <a:r>
              <a:rPr lang="en-IN" sz="2800" b="1" dirty="0" smtClean="0">
                <a:latin typeface="Calibri (Body)"/>
              </a:rPr>
              <a:t>Output layer</a:t>
            </a:r>
            <a:r>
              <a:rPr lang="en-IN" sz="2400" b="1" dirty="0" smtClean="0">
                <a:latin typeface="Calibri (Body)"/>
              </a:rPr>
              <a:t>: </a:t>
            </a:r>
            <a:endParaRPr lang="en-IN" sz="2400" dirty="0" smtClean="0">
              <a:latin typeface="Calibri (Body)"/>
            </a:endParaRPr>
          </a:p>
          <a:p>
            <a:r>
              <a:rPr lang="en-IN" sz="2400" dirty="0">
                <a:latin typeface="Calibri (Body)"/>
              </a:rPr>
              <a:t>	</a:t>
            </a:r>
            <a:r>
              <a:rPr lang="en-IN" sz="2400" dirty="0" smtClean="0">
                <a:latin typeface="Calibri (Body)"/>
              </a:rPr>
              <a:t>no of output set = no of output layer (number of output neurons)</a:t>
            </a:r>
          </a:p>
        </p:txBody>
      </p:sp>
    </p:spTree>
    <p:extLst>
      <p:ext uri="{BB962C8B-B14F-4D97-AF65-F5344CB8AC3E}">
        <p14:creationId xmlns:p14="http://schemas.microsoft.com/office/powerpoint/2010/main" val="59978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80">
                                          <p:stCondLst>
                                            <p:cond delay="0"/>
                                          </p:stCondLst>
                                        </p:cTn>
                                        <p:tgtEl>
                                          <p:spTgt spid="3">
                                            <p:txEl>
                                              <p:pRg st="0" end="0"/>
                                            </p:txEl>
                                          </p:spTgt>
                                        </p:tgtEl>
                                      </p:cBhvr>
                                    </p:animEffect>
                                    <p:anim calcmode="lin" valueType="num">
                                      <p:cBhvr>
                                        <p:cTn id="1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0" end="0"/>
                                            </p:txEl>
                                          </p:spTgt>
                                        </p:tgtEl>
                                      </p:cBhvr>
                                      <p:to x="100000" y="60000"/>
                                    </p:animScale>
                                    <p:animScale>
                                      <p:cBhvr>
                                        <p:cTn id="18" dur="166" decel="50000">
                                          <p:stCondLst>
                                            <p:cond delay="676"/>
                                          </p:stCondLst>
                                        </p:cTn>
                                        <p:tgtEl>
                                          <p:spTgt spid="3">
                                            <p:txEl>
                                              <p:pRg st="0" end="0"/>
                                            </p:txEl>
                                          </p:spTgt>
                                        </p:tgtEl>
                                      </p:cBhvr>
                                      <p:to x="100000" y="100000"/>
                                    </p:animScale>
                                    <p:animScale>
                                      <p:cBhvr>
                                        <p:cTn id="19" dur="26">
                                          <p:stCondLst>
                                            <p:cond delay="1312"/>
                                          </p:stCondLst>
                                        </p:cTn>
                                        <p:tgtEl>
                                          <p:spTgt spid="3">
                                            <p:txEl>
                                              <p:pRg st="0" end="0"/>
                                            </p:txEl>
                                          </p:spTgt>
                                        </p:tgtEl>
                                      </p:cBhvr>
                                      <p:to x="100000" y="80000"/>
                                    </p:animScale>
                                    <p:animScale>
                                      <p:cBhvr>
                                        <p:cTn id="20" dur="166" decel="50000">
                                          <p:stCondLst>
                                            <p:cond delay="1338"/>
                                          </p:stCondLst>
                                        </p:cTn>
                                        <p:tgtEl>
                                          <p:spTgt spid="3">
                                            <p:txEl>
                                              <p:pRg st="0" end="0"/>
                                            </p:txEl>
                                          </p:spTgt>
                                        </p:tgtEl>
                                      </p:cBhvr>
                                      <p:to x="100000" y="100000"/>
                                    </p:animScale>
                                    <p:animScale>
                                      <p:cBhvr>
                                        <p:cTn id="21" dur="26">
                                          <p:stCondLst>
                                            <p:cond delay="1642"/>
                                          </p:stCondLst>
                                        </p:cTn>
                                        <p:tgtEl>
                                          <p:spTgt spid="3">
                                            <p:txEl>
                                              <p:pRg st="0" end="0"/>
                                            </p:txEl>
                                          </p:spTgt>
                                        </p:tgtEl>
                                      </p:cBhvr>
                                      <p:to x="100000" y="90000"/>
                                    </p:animScale>
                                    <p:animScale>
                                      <p:cBhvr>
                                        <p:cTn id="22" dur="166" decel="50000">
                                          <p:stCondLst>
                                            <p:cond delay="1668"/>
                                          </p:stCondLst>
                                        </p:cTn>
                                        <p:tgtEl>
                                          <p:spTgt spid="3">
                                            <p:txEl>
                                              <p:pRg st="0" end="0"/>
                                            </p:txEl>
                                          </p:spTgt>
                                        </p:tgtEl>
                                      </p:cBhvr>
                                      <p:to x="100000" y="100000"/>
                                    </p:animScale>
                                    <p:animScale>
                                      <p:cBhvr>
                                        <p:cTn id="23" dur="26">
                                          <p:stCondLst>
                                            <p:cond delay="1808"/>
                                          </p:stCondLst>
                                        </p:cTn>
                                        <p:tgtEl>
                                          <p:spTgt spid="3">
                                            <p:txEl>
                                              <p:pRg st="0" end="0"/>
                                            </p:txEl>
                                          </p:spTgt>
                                        </p:tgtEl>
                                      </p:cBhvr>
                                      <p:to x="100000" y="95000"/>
                                    </p:animScale>
                                    <p:animScale>
                                      <p:cBhvr>
                                        <p:cTn id="24" dur="166" decel="50000">
                                          <p:stCondLst>
                                            <p:cond delay="1834"/>
                                          </p:stCondLst>
                                        </p:cTn>
                                        <p:tgtEl>
                                          <p:spTgt spid="3">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ipe(down)">
                                      <p:cBhvr>
                                        <p:cTn id="29" dur="580">
                                          <p:stCondLst>
                                            <p:cond delay="0"/>
                                          </p:stCondLst>
                                        </p:cTn>
                                        <p:tgtEl>
                                          <p:spTgt spid="3">
                                            <p:txEl>
                                              <p:pRg st="3" end="3"/>
                                            </p:txEl>
                                          </p:spTgt>
                                        </p:tgtEl>
                                      </p:cBhvr>
                                    </p:animEffect>
                                    <p:anim calcmode="lin" valueType="num">
                                      <p:cBhvr>
                                        <p:cTn id="3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3" end="3"/>
                                            </p:txEl>
                                          </p:spTgt>
                                        </p:tgtEl>
                                      </p:cBhvr>
                                      <p:to x="100000" y="60000"/>
                                    </p:animScale>
                                    <p:animScale>
                                      <p:cBhvr>
                                        <p:cTn id="36" dur="166" decel="50000">
                                          <p:stCondLst>
                                            <p:cond delay="676"/>
                                          </p:stCondLst>
                                        </p:cTn>
                                        <p:tgtEl>
                                          <p:spTgt spid="3">
                                            <p:txEl>
                                              <p:pRg st="3" end="3"/>
                                            </p:txEl>
                                          </p:spTgt>
                                        </p:tgtEl>
                                      </p:cBhvr>
                                      <p:to x="100000" y="100000"/>
                                    </p:animScale>
                                    <p:animScale>
                                      <p:cBhvr>
                                        <p:cTn id="37" dur="26">
                                          <p:stCondLst>
                                            <p:cond delay="1312"/>
                                          </p:stCondLst>
                                        </p:cTn>
                                        <p:tgtEl>
                                          <p:spTgt spid="3">
                                            <p:txEl>
                                              <p:pRg st="3" end="3"/>
                                            </p:txEl>
                                          </p:spTgt>
                                        </p:tgtEl>
                                      </p:cBhvr>
                                      <p:to x="100000" y="80000"/>
                                    </p:animScale>
                                    <p:animScale>
                                      <p:cBhvr>
                                        <p:cTn id="38" dur="166" decel="50000">
                                          <p:stCondLst>
                                            <p:cond delay="1338"/>
                                          </p:stCondLst>
                                        </p:cTn>
                                        <p:tgtEl>
                                          <p:spTgt spid="3">
                                            <p:txEl>
                                              <p:pRg st="3" end="3"/>
                                            </p:txEl>
                                          </p:spTgt>
                                        </p:tgtEl>
                                      </p:cBhvr>
                                      <p:to x="100000" y="100000"/>
                                    </p:animScale>
                                    <p:animScale>
                                      <p:cBhvr>
                                        <p:cTn id="39" dur="26">
                                          <p:stCondLst>
                                            <p:cond delay="1642"/>
                                          </p:stCondLst>
                                        </p:cTn>
                                        <p:tgtEl>
                                          <p:spTgt spid="3">
                                            <p:txEl>
                                              <p:pRg st="3" end="3"/>
                                            </p:txEl>
                                          </p:spTgt>
                                        </p:tgtEl>
                                      </p:cBhvr>
                                      <p:to x="100000" y="90000"/>
                                    </p:animScale>
                                    <p:animScale>
                                      <p:cBhvr>
                                        <p:cTn id="40" dur="166" decel="50000">
                                          <p:stCondLst>
                                            <p:cond delay="1668"/>
                                          </p:stCondLst>
                                        </p:cTn>
                                        <p:tgtEl>
                                          <p:spTgt spid="3">
                                            <p:txEl>
                                              <p:pRg st="3" end="3"/>
                                            </p:txEl>
                                          </p:spTgt>
                                        </p:tgtEl>
                                      </p:cBhvr>
                                      <p:to x="100000" y="100000"/>
                                    </p:animScale>
                                    <p:animScale>
                                      <p:cBhvr>
                                        <p:cTn id="41" dur="26">
                                          <p:stCondLst>
                                            <p:cond delay="1808"/>
                                          </p:stCondLst>
                                        </p:cTn>
                                        <p:tgtEl>
                                          <p:spTgt spid="3">
                                            <p:txEl>
                                              <p:pRg st="3" end="3"/>
                                            </p:txEl>
                                          </p:spTgt>
                                        </p:tgtEl>
                                      </p:cBhvr>
                                      <p:to x="100000" y="95000"/>
                                    </p:animScale>
                                    <p:animScale>
                                      <p:cBhvr>
                                        <p:cTn id="42" dur="166" decel="50000">
                                          <p:stCondLst>
                                            <p:cond delay="1834"/>
                                          </p:stCondLst>
                                        </p:cTn>
                                        <p:tgtEl>
                                          <p:spTgt spid="3">
                                            <p:txEl>
                                              <p:pRg st="3" end="3"/>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wipe(down)">
                                      <p:cBhvr>
                                        <p:cTn id="47" dur="580">
                                          <p:stCondLst>
                                            <p:cond delay="0"/>
                                          </p:stCondLst>
                                        </p:cTn>
                                        <p:tgtEl>
                                          <p:spTgt spid="3">
                                            <p:txEl>
                                              <p:pRg st="7" end="7"/>
                                            </p:txEl>
                                          </p:spTgt>
                                        </p:tgtEl>
                                      </p:cBhvr>
                                    </p:animEffect>
                                    <p:anim calcmode="lin" valueType="num">
                                      <p:cBhvr>
                                        <p:cTn id="48"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7" end="7"/>
                                            </p:txEl>
                                          </p:spTgt>
                                        </p:tgtEl>
                                      </p:cBhvr>
                                      <p:to x="100000" y="60000"/>
                                    </p:animScale>
                                    <p:animScale>
                                      <p:cBhvr>
                                        <p:cTn id="54" dur="166" decel="50000">
                                          <p:stCondLst>
                                            <p:cond delay="676"/>
                                          </p:stCondLst>
                                        </p:cTn>
                                        <p:tgtEl>
                                          <p:spTgt spid="3">
                                            <p:txEl>
                                              <p:pRg st="7" end="7"/>
                                            </p:txEl>
                                          </p:spTgt>
                                        </p:tgtEl>
                                      </p:cBhvr>
                                      <p:to x="100000" y="100000"/>
                                    </p:animScale>
                                    <p:animScale>
                                      <p:cBhvr>
                                        <p:cTn id="55" dur="26">
                                          <p:stCondLst>
                                            <p:cond delay="1312"/>
                                          </p:stCondLst>
                                        </p:cTn>
                                        <p:tgtEl>
                                          <p:spTgt spid="3">
                                            <p:txEl>
                                              <p:pRg st="7" end="7"/>
                                            </p:txEl>
                                          </p:spTgt>
                                        </p:tgtEl>
                                      </p:cBhvr>
                                      <p:to x="100000" y="80000"/>
                                    </p:animScale>
                                    <p:animScale>
                                      <p:cBhvr>
                                        <p:cTn id="56" dur="166" decel="50000">
                                          <p:stCondLst>
                                            <p:cond delay="1338"/>
                                          </p:stCondLst>
                                        </p:cTn>
                                        <p:tgtEl>
                                          <p:spTgt spid="3">
                                            <p:txEl>
                                              <p:pRg st="7" end="7"/>
                                            </p:txEl>
                                          </p:spTgt>
                                        </p:tgtEl>
                                      </p:cBhvr>
                                      <p:to x="100000" y="100000"/>
                                    </p:animScale>
                                    <p:animScale>
                                      <p:cBhvr>
                                        <p:cTn id="57" dur="26">
                                          <p:stCondLst>
                                            <p:cond delay="1642"/>
                                          </p:stCondLst>
                                        </p:cTn>
                                        <p:tgtEl>
                                          <p:spTgt spid="3">
                                            <p:txEl>
                                              <p:pRg st="7" end="7"/>
                                            </p:txEl>
                                          </p:spTgt>
                                        </p:tgtEl>
                                      </p:cBhvr>
                                      <p:to x="100000" y="90000"/>
                                    </p:animScale>
                                    <p:animScale>
                                      <p:cBhvr>
                                        <p:cTn id="58" dur="166" decel="50000">
                                          <p:stCondLst>
                                            <p:cond delay="1668"/>
                                          </p:stCondLst>
                                        </p:cTn>
                                        <p:tgtEl>
                                          <p:spTgt spid="3">
                                            <p:txEl>
                                              <p:pRg st="7" end="7"/>
                                            </p:txEl>
                                          </p:spTgt>
                                        </p:tgtEl>
                                      </p:cBhvr>
                                      <p:to x="100000" y="100000"/>
                                    </p:animScale>
                                    <p:animScale>
                                      <p:cBhvr>
                                        <p:cTn id="59" dur="26">
                                          <p:stCondLst>
                                            <p:cond delay="1808"/>
                                          </p:stCondLst>
                                        </p:cTn>
                                        <p:tgtEl>
                                          <p:spTgt spid="3">
                                            <p:txEl>
                                              <p:pRg st="7" end="7"/>
                                            </p:txEl>
                                          </p:spTgt>
                                        </p:tgtEl>
                                      </p:cBhvr>
                                      <p:to x="100000" y="95000"/>
                                    </p:animScale>
                                    <p:animScale>
                                      <p:cBhvr>
                                        <p:cTn id="60" dur="166" decel="50000">
                                          <p:stCondLst>
                                            <p:cond delay="1834"/>
                                          </p:stCondLst>
                                        </p:cTn>
                                        <p:tgtEl>
                                          <p:spTgt spid="3">
                                            <p:txEl>
                                              <p:pRg st="7" end="7"/>
                                            </p:txEl>
                                          </p:spTgt>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animEffect transition="in" filter="wheel(1)">
                                      <p:cBhvr>
                                        <p:cTn id="65" dur="2000"/>
                                        <p:tgtEl>
                                          <p:spTgt spid="3">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nodeType="clickEffect">
                                  <p:stCondLst>
                                    <p:cond delay="0"/>
                                  </p:stCondLst>
                                  <p:childTnLst>
                                    <p:set>
                                      <p:cBhvr>
                                        <p:cTn id="69" dur="1" fill="hold">
                                          <p:stCondLst>
                                            <p:cond delay="0"/>
                                          </p:stCondLst>
                                        </p:cTn>
                                        <p:tgtEl>
                                          <p:spTgt spid="3">
                                            <p:txEl>
                                              <p:pRg st="4" end="4"/>
                                            </p:txEl>
                                          </p:spTgt>
                                        </p:tgtEl>
                                        <p:attrNameLst>
                                          <p:attrName>style.visibility</p:attrName>
                                        </p:attrNameLst>
                                      </p:cBhvr>
                                      <p:to>
                                        <p:strVal val="visible"/>
                                      </p:to>
                                    </p:set>
                                    <p:animEffect transition="in" filter="wheel(1)">
                                      <p:cBhvr>
                                        <p:cTn id="70" dur="2000"/>
                                        <p:tgtEl>
                                          <p:spTgt spid="3">
                                            <p:txEl>
                                              <p:pRg st="4" end="4"/>
                                            </p:txEl>
                                          </p:spTgt>
                                        </p:tgtEl>
                                      </p:cBhvr>
                                    </p:animEffect>
                                  </p:childTnLst>
                                </p:cTn>
                              </p:par>
                              <p:par>
                                <p:cTn id="71" presetID="21" presetClass="entr" presetSubtype="1" fill="hold" nodeType="with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animEffect transition="in" filter="wheel(1)">
                                      <p:cBhvr>
                                        <p:cTn id="73" dur="2000"/>
                                        <p:tgtEl>
                                          <p:spTgt spid="3">
                                            <p:txEl>
                                              <p:pRg st="5" end="5"/>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1" presetClass="entr" presetSubtype="1" fill="hold" nodeType="clickEffect">
                                  <p:stCondLst>
                                    <p:cond delay="0"/>
                                  </p:stCondLst>
                                  <p:childTnLst>
                                    <p:set>
                                      <p:cBhvr>
                                        <p:cTn id="77" dur="1" fill="hold">
                                          <p:stCondLst>
                                            <p:cond delay="0"/>
                                          </p:stCondLst>
                                        </p:cTn>
                                        <p:tgtEl>
                                          <p:spTgt spid="3">
                                            <p:txEl>
                                              <p:pRg st="8" end="8"/>
                                            </p:txEl>
                                          </p:spTgt>
                                        </p:tgtEl>
                                        <p:attrNameLst>
                                          <p:attrName>style.visibility</p:attrName>
                                        </p:attrNameLst>
                                      </p:cBhvr>
                                      <p:to>
                                        <p:strVal val="visible"/>
                                      </p:to>
                                    </p:set>
                                    <p:animEffect transition="in" filter="wheel(1)">
                                      <p:cBhvr>
                                        <p:cTn id="78"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571" y="369607"/>
            <a:ext cx="87366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latin typeface="Calibri (Body)"/>
              </a:rPr>
              <a:t>Proposed Work: ANN : methods</a:t>
            </a:r>
            <a:endParaRPr lang="en-US" sz="4400" b="1" cap="none" spc="0" dirty="0">
              <a:ln w="0"/>
              <a:solidFill>
                <a:schemeClr val="tx1"/>
              </a:solidFill>
              <a:effectLst>
                <a:outerShdw blurRad="38100" dist="19050" dir="2700000" algn="tl" rotWithShape="0">
                  <a:schemeClr val="dk1">
                    <a:alpha val="40000"/>
                  </a:schemeClr>
                </a:outerShdw>
              </a:effectLst>
              <a:latin typeface="Calibri (Body)"/>
            </a:endParaRPr>
          </a:p>
        </p:txBody>
      </p:sp>
      <p:sp>
        <p:nvSpPr>
          <p:cNvPr id="3" name="TextBox 2"/>
          <p:cNvSpPr txBox="1"/>
          <p:nvPr/>
        </p:nvSpPr>
        <p:spPr>
          <a:xfrm>
            <a:off x="579571" y="1334501"/>
            <a:ext cx="10594464" cy="3108543"/>
          </a:xfrm>
          <a:prstGeom prst="rect">
            <a:avLst/>
          </a:prstGeom>
          <a:noFill/>
        </p:spPr>
        <p:txBody>
          <a:bodyPr wrap="square" rtlCol="0">
            <a:spAutoFit/>
          </a:bodyPr>
          <a:lstStyle/>
          <a:p>
            <a:pPr marL="457200" indent="-457200">
              <a:buFont typeface="Wingdings" panose="05000000000000000000" pitchFamily="2" charset="2"/>
              <a:buChar char="v"/>
            </a:pPr>
            <a:r>
              <a:rPr lang="en-IN" sz="2800" dirty="0">
                <a:latin typeface="Calibri (Body)"/>
              </a:rPr>
              <a:t>As ANN is a part of Supervised Learning. Therefore, there are some input and output data for learning. </a:t>
            </a:r>
            <a:endParaRPr lang="en-IN" sz="2800" dirty="0" smtClean="0">
              <a:latin typeface="Calibri (Body)"/>
            </a:endParaRPr>
          </a:p>
          <a:p>
            <a:endParaRPr lang="en-IN" sz="2800" dirty="0" smtClean="0">
              <a:latin typeface="Calibri (Body)"/>
            </a:endParaRPr>
          </a:p>
          <a:p>
            <a:pPr marL="457200" indent="-457200">
              <a:buFont typeface="Wingdings" panose="05000000000000000000" pitchFamily="2" charset="2"/>
              <a:buChar char="v"/>
            </a:pPr>
            <a:r>
              <a:rPr lang="en-IN" sz="2800" dirty="0" smtClean="0">
                <a:latin typeface="Calibri (Body)"/>
              </a:rPr>
              <a:t>Within </a:t>
            </a:r>
            <a:r>
              <a:rPr lang="en-IN" sz="2800" dirty="0">
                <a:latin typeface="Calibri (Body)"/>
              </a:rPr>
              <a:t>learning/training procedure of propagation method, there are two main part of strategy. </a:t>
            </a:r>
            <a:endParaRPr lang="en-IN" sz="2800" dirty="0" smtClean="0">
              <a:latin typeface="Calibri (Body)"/>
            </a:endParaRPr>
          </a:p>
          <a:p>
            <a:r>
              <a:rPr lang="en-IN" sz="2800" dirty="0" smtClean="0">
                <a:latin typeface="Calibri (Body)"/>
              </a:rPr>
              <a:t>	(</a:t>
            </a:r>
            <a:r>
              <a:rPr lang="en-IN" sz="2800" dirty="0">
                <a:latin typeface="Calibri (Body)"/>
              </a:rPr>
              <a:t>1) Forward </a:t>
            </a:r>
            <a:r>
              <a:rPr lang="en-IN" sz="2800" dirty="0" smtClean="0">
                <a:latin typeface="Calibri (Body)"/>
              </a:rPr>
              <a:t>Propagation</a:t>
            </a:r>
          </a:p>
          <a:p>
            <a:r>
              <a:rPr lang="en-IN" sz="2800" dirty="0" smtClean="0">
                <a:latin typeface="Calibri (Body)"/>
              </a:rPr>
              <a:t>	(</a:t>
            </a:r>
            <a:r>
              <a:rPr lang="en-IN" sz="2800" dirty="0">
                <a:latin typeface="Calibri (Body)"/>
              </a:rPr>
              <a:t>2) Backword Propagation. </a:t>
            </a:r>
            <a:endParaRPr lang="en-IN" sz="2400" b="1" dirty="0" smtClean="0">
              <a:latin typeface="Calibri (Body)"/>
            </a:endParaRPr>
          </a:p>
        </p:txBody>
      </p:sp>
    </p:spTree>
    <p:extLst>
      <p:ext uri="{BB962C8B-B14F-4D97-AF65-F5344CB8AC3E}">
        <p14:creationId xmlns:p14="http://schemas.microsoft.com/office/powerpoint/2010/main" val="178508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9671" y="300334"/>
            <a:ext cx="87366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Proposed Work: ANN : methods</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3" name="TextBox 2"/>
          <p:cNvSpPr txBox="1"/>
          <p:nvPr/>
        </p:nvSpPr>
        <p:spPr>
          <a:xfrm>
            <a:off x="565716" y="1069775"/>
            <a:ext cx="10226975" cy="1477328"/>
          </a:xfrm>
          <a:prstGeom prst="rect">
            <a:avLst/>
          </a:prstGeom>
          <a:noFill/>
        </p:spPr>
        <p:txBody>
          <a:bodyPr wrap="square" rtlCol="0">
            <a:spAutoFit/>
          </a:bodyPr>
          <a:lstStyle/>
          <a:p>
            <a:pPr marL="457200" indent="-457200">
              <a:buFont typeface="Wingdings" panose="05000000000000000000" pitchFamily="2" charset="2"/>
              <a:buChar char="v"/>
            </a:pPr>
            <a:r>
              <a:rPr lang="en-IN" sz="2400" b="1" dirty="0"/>
              <a:t>Forward </a:t>
            </a:r>
            <a:r>
              <a:rPr lang="en-IN" sz="2400" b="1" dirty="0" smtClean="0"/>
              <a:t>Propagation:</a:t>
            </a:r>
            <a:r>
              <a:rPr lang="en-IN" sz="2200" b="1" dirty="0" smtClean="0"/>
              <a:t> </a:t>
            </a:r>
          </a:p>
          <a:p>
            <a:pPr marL="914400" lvl="1" indent="-457200">
              <a:buFont typeface="Wingdings" panose="05000000000000000000" pitchFamily="2" charset="2"/>
              <a:buChar char="ü"/>
            </a:pPr>
            <a:r>
              <a:rPr lang="en-IN" sz="2200" dirty="0" smtClean="0">
                <a:latin typeface="Century Gothic (Body)"/>
              </a:rPr>
              <a:t>The </a:t>
            </a:r>
            <a:r>
              <a:rPr lang="en-IN" sz="2200" dirty="0">
                <a:latin typeface="Century Gothic (Body)"/>
              </a:rPr>
              <a:t>input X provides the initial </a:t>
            </a:r>
            <a:r>
              <a:rPr lang="en-IN" sz="2200" dirty="0" smtClean="0">
                <a:latin typeface="Century Gothic (Body)"/>
              </a:rPr>
              <a:t>information.</a:t>
            </a:r>
          </a:p>
          <a:p>
            <a:pPr marL="914400" lvl="1" indent="-457200">
              <a:buFont typeface="Wingdings" panose="05000000000000000000" pitchFamily="2" charset="2"/>
              <a:buChar char="ü"/>
            </a:pPr>
            <a:r>
              <a:rPr lang="en-IN" sz="2200" dirty="0" smtClean="0">
                <a:latin typeface="Century Gothic (Body)"/>
              </a:rPr>
              <a:t>Set weight, </a:t>
            </a:r>
            <a:r>
              <a:rPr lang="en-IN" sz="2200" dirty="0" err="1">
                <a:latin typeface="Century Gothic (Body)"/>
              </a:rPr>
              <a:t>w</a:t>
            </a:r>
            <a:r>
              <a:rPr lang="en-IN" sz="2200" baseline="-25000" dirty="0" err="1" smtClean="0">
                <a:latin typeface="Century Gothic (Body)"/>
              </a:rPr>
              <a:t>ij</a:t>
            </a:r>
            <a:r>
              <a:rPr lang="en-IN" sz="2200" dirty="0" smtClean="0">
                <a:latin typeface="Century Gothic (Body)"/>
              </a:rPr>
              <a:t> &amp; bias b</a:t>
            </a:r>
            <a:r>
              <a:rPr lang="en-IN" sz="2200" baseline="-25000" dirty="0" smtClean="0">
                <a:latin typeface="Century Gothic (Body)"/>
              </a:rPr>
              <a:t>i</a:t>
            </a:r>
            <a:r>
              <a:rPr lang="en-IN" sz="2200" dirty="0" smtClean="0">
                <a:latin typeface="Century Gothic (Body)"/>
              </a:rPr>
              <a:t> for hidden layer weight and additional parameter </a:t>
            </a:r>
          </a:p>
          <a:p>
            <a:pPr marL="914400" lvl="1" indent="-457200">
              <a:buFont typeface="Wingdings" panose="05000000000000000000" pitchFamily="2" charset="2"/>
              <a:buChar char="ü"/>
            </a:pPr>
            <a:r>
              <a:rPr lang="en-IN" sz="2200" dirty="0" smtClean="0">
                <a:latin typeface="Century Gothic (Body)"/>
              </a:rPr>
              <a:t>Propagate input through network:  Y</a:t>
            </a:r>
            <a:r>
              <a:rPr lang="en-IN" sz="2200" baseline="-25000" dirty="0" smtClean="0">
                <a:latin typeface="Century Gothic (Body)"/>
              </a:rPr>
              <a:t>1</a:t>
            </a:r>
            <a:r>
              <a:rPr lang="en-IN" sz="2200" dirty="0" smtClean="0">
                <a:latin typeface="Century Gothic (Body)"/>
              </a:rPr>
              <a:t> = </a:t>
            </a:r>
            <a:r>
              <a:rPr lang="en-IN" sz="2200" dirty="0">
                <a:latin typeface="Century Gothic (Body)"/>
              </a:rPr>
              <a:t>σ(X●W + </a:t>
            </a:r>
            <a:r>
              <a:rPr lang="en-IN" sz="2200" dirty="0" smtClean="0">
                <a:latin typeface="Century Gothic (Body)"/>
              </a:rPr>
              <a:t>B)</a:t>
            </a:r>
          </a:p>
        </p:txBody>
      </p:sp>
      <p:sp>
        <p:nvSpPr>
          <p:cNvPr id="5" name="Rectangle 4"/>
          <p:cNvSpPr/>
          <p:nvPr/>
        </p:nvSpPr>
        <p:spPr>
          <a:xfrm>
            <a:off x="411935" y="3585139"/>
            <a:ext cx="2307255" cy="430887"/>
          </a:xfrm>
          <a:prstGeom prst="rect">
            <a:avLst/>
          </a:prstGeom>
        </p:spPr>
        <p:txBody>
          <a:bodyPr wrap="square">
            <a:spAutoFit/>
          </a:bodyPr>
          <a:lstStyle/>
          <a:p>
            <a:pPr lvl="1"/>
            <a:r>
              <a:rPr lang="en-IN" sz="2200" dirty="0">
                <a:latin typeface="Century Gothic (Body)"/>
              </a:rPr>
              <a:t>continue…..</a:t>
            </a:r>
          </a:p>
        </p:txBody>
      </p:sp>
      <p:grpSp>
        <p:nvGrpSpPr>
          <p:cNvPr id="9" name="Group 8"/>
          <p:cNvGrpSpPr/>
          <p:nvPr/>
        </p:nvGrpSpPr>
        <p:grpSpPr>
          <a:xfrm>
            <a:off x="1565563" y="2538698"/>
            <a:ext cx="5102802" cy="1198924"/>
            <a:chOff x="1565563" y="2538698"/>
            <a:chExt cx="5102802" cy="1198924"/>
          </a:xfrm>
        </p:grpSpPr>
        <p:pic>
          <p:nvPicPr>
            <p:cNvPr id="4" name="Picture 3"/>
            <p:cNvPicPr>
              <a:picLocks noChangeAspect="1"/>
            </p:cNvPicPr>
            <p:nvPr/>
          </p:nvPicPr>
          <p:blipFill>
            <a:blip r:embed="rId2"/>
            <a:stretch>
              <a:fillRect/>
            </a:stretch>
          </p:blipFill>
          <p:spPr>
            <a:xfrm>
              <a:off x="1565563" y="2538698"/>
              <a:ext cx="5102802" cy="940637"/>
            </a:xfrm>
            <a:prstGeom prst="rect">
              <a:avLst/>
            </a:prstGeom>
          </p:spPr>
        </p:pic>
        <p:pic>
          <p:nvPicPr>
            <p:cNvPr id="8" name="Picture 7"/>
            <p:cNvPicPr>
              <a:picLocks noChangeAspect="1"/>
            </p:cNvPicPr>
            <p:nvPr/>
          </p:nvPicPr>
          <p:blipFill>
            <a:blip r:embed="rId3"/>
            <a:stretch>
              <a:fillRect/>
            </a:stretch>
          </p:blipFill>
          <p:spPr>
            <a:xfrm>
              <a:off x="6018069" y="3009016"/>
              <a:ext cx="507422" cy="728606"/>
            </a:xfrm>
            <a:prstGeom prst="rect">
              <a:avLst/>
            </a:prstGeom>
          </p:spPr>
        </p:pic>
      </p:grpSp>
      <p:sp>
        <p:nvSpPr>
          <p:cNvPr id="10" name="Rectangle 9"/>
          <p:cNvSpPr/>
          <p:nvPr/>
        </p:nvSpPr>
        <p:spPr>
          <a:xfrm>
            <a:off x="2650547" y="3494471"/>
            <a:ext cx="8035636" cy="32201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6679" y="3479335"/>
            <a:ext cx="7779504" cy="3220154"/>
          </a:xfrm>
          <a:prstGeom prst="rect">
            <a:avLst/>
          </a:prstGeom>
        </p:spPr>
      </p:pic>
    </p:spTree>
    <p:extLst>
      <p:ext uri="{BB962C8B-B14F-4D97-AF65-F5344CB8AC3E}">
        <p14:creationId xmlns:p14="http://schemas.microsoft.com/office/powerpoint/2010/main" val="201511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ircle(in)">
                                      <p:cBhvr>
                                        <p:cTn id="11" dur="2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ircle(in)">
                                      <p:cBhvr>
                                        <p:cTn id="16" dur="20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80">
                                          <p:stCondLst>
                                            <p:cond delay="0"/>
                                          </p:stCondLst>
                                        </p:cTn>
                                        <p:tgtEl>
                                          <p:spTgt spid="10"/>
                                        </p:tgtEl>
                                      </p:cBhvr>
                                    </p:animEffect>
                                    <p:anim calcmode="lin" valueType="num">
                                      <p:cBhvr>
                                        <p:cTn id="2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3" dur="26">
                                          <p:stCondLst>
                                            <p:cond delay="650"/>
                                          </p:stCondLst>
                                        </p:cTn>
                                        <p:tgtEl>
                                          <p:spTgt spid="10"/>
                                        </p:tgtEl>
                                      </p:cBhvr>
                                      <p:to x="100000" y="60000"/>
                                    </p:animScale>
                                    <p:animScale>
                                      <p:cBhvr>
                                        <p:cTn id="34" dur="166" decel="50000">
                                          <p:stCondLst>
                                            <p:cond delay="676"/>
                                          </p:stCondLst>
                                        </p:cTn>
                                        <p:tgtEl>
                                          <p:spTgt spid="10"/>
                                        </p:tgtEl>
                                      </p:cBhvr>
                                      <p:to x="100000" y="100000"/>
                                    </p:animScale>
                                    <p:animScale>
                                      <p:cBhvr>
                                        <p:cTn id="35" dur="26">
                                          <p:stCondLst>
                                            <p:cond delay="1312"/>
                                          </p:stCondLst>
                                        </p:cTn>
                                        <p:tgtEl>
                                          <p:spTgt spid="10"/>
                                        </p:tgtEl>
                                      </p:cBhvr>
                                      <p:to x="100000" y="80000"/>
                                    </p:animScale>
                                    <p:animScale>
                                      <p:cBhvr>
                                        <p:cTn id="36" dur="166" decel="50000">
                                          <p:stCondLst>
                                            <p:cond delay="1338"/>
                                          </p:stCondLst>
                                        </p:cTn>
                                        <p:tgtEl>
                                          <p:spTgt spid="10"/>
                                        </p:tgtEl>
                                      </p:cBhvr>
                                      <p:to x="100000" y="100000"/>
                                    </p:animScale>
                                    <p:animScale>
                                      <p:cBhvr>
                                        <p:cTn id="37" dur="26">
                                          <p:stCondLst>
                                            <p:cond delay="1642"/>
                                          </p:stCondLst>
                                        </p:cTn>
                                        <p:tgtEl>
                                          <p:spTgt spid="10"/>
                                        </p:tgtEl>
                                      </p:cBhvr>
                                      <p:to x="100000" y="90000"/>
                                    </p:animScale>
                                    <p:animScale>
                                      <p:cBhvr>
                                        <p:cTn id="38" dur="166" decel="50000">
                                          <p:stCondLst>
                                            <p:cond delay="1668"/>
                                          </p:stCondLst>
                                        </p:cTn>
                                        <p:tgtEl>
                                          <p:spTgt spid="10"/>
                                        </p:tgtEl>
                                      </p:cBhvr>
                                      <p:to x="100000" y="100000"/>
                                    </p:animScale>
                                    <p:animScale>
                                      <p:cBhvr>
                                        <p:cTn id="39" dur="26">
                                          <p:stCondLst>
                                            <p:cond delay="1808"/>
                                          </p:stCondLst>
                                        </p:cTn>
                                        <p:tgtEl>
                                          <p:spTgt spid="10"/>
                                        </p:tgtEl>
                                      </p:cBhvr>
                                      <p:to x="100000" y="95000"/>
                                    </p:animScale>
                                    <p:animScale>
                                      <p:cBhvr>
                                        <p:cTn id="40" dur="166" decel="50000">
                                          <p:stCondLst>
                                            <p:cond delay="1834"/>
                                          </p:stCondLst>
                                        </p:cTn>
                                        <p:tgtEl>
                                          <p:spTgt spid="10"/>
                                        </p:tgtEl>
                                      </p:cBhvr>
                                      <p:to x="100000" y="100000"/>
                                    </p:animScale>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randombar(horizontal)">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9671" y="300334"/>
            <a:ext cx="87366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Proposed Work: ANN : methods</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4" name="TextBox 3"/>
          <p:cNvSpPr txBox="1"/>
          <p:nvPr/>
        </p:nvSpPr>
        <p:spPr>
          <a:xfrm>
            <a:off x="565716" y="1069775"/>
            <a:ext cx="11515448" cy="3508653"/>
          </a:xfrm>
          <a:prstGeom prst="rect">
            <a:avLst/>
          </a:prstGeom>
          <a:noFill/>
        </p:spPr>
        <p:txBody>
          <a:bodyPr wrap="square" rtlCol="0">
            <a:spAutoFit/>
          </a:bodyPr>
          <a:lstStyle/>
          <a:p>
            <a:pPr marL="342900" indent="-342900">
              <a:buFont typeface="Wingdings" panose="05000000000000000000" pitchFamily="2" charset="2"/>
              <a:buChar char="v"/>
            </a:pPr>
            <a:r>
              <a:rPr lang="en-IN" sz="2400" b="1" dirty="0" smtClean="0"/>
              <a:t>Backword Propagation:</a:t>
            </a:r>
          </a:p>
          <a:p>
            <a:pPr marL="800100" lvl="1" indent="-342900">
              <a:buFont typeface="Wingdings" panose="05000000000000000000" pitchFamily="2" charset="2"/>
              <a:buChar char="ü"/>
            </a:pPr>
            <a:r>
              <a:rPr lang="en-IN" sz="2200" dirty="0" smtClean="0">
                <a:latin typeface="Century Gothic (Body)"/>
              </a:rPr>
              <a:t>Y provided output ending information</a:t>
            </a:r>
          </a:p>
          <a:p>
            <a:pPr marL="800100" lvl="1" indent="-342900">
              <a:buFont typeface="Wingdings" panose="05000000000000000000" pitchFamily="2" charset="2"/>
              <a:buChar char="ü"/>
            </a:pPr>
            <a:r>
              <a:rPr lang="en-IN" sz="2200" dirty="0" smtClean="0">
                <a:latin typeface="Century Gothic (Body)"/>
              </a:rPr>
              <a:t>Calculate error: </a:t>
            </a:r>
            <a:r>
              <a:rPr lang="en-IN" sz="2200" dirty="0">
                <a:latin typeface="Century Gothic" panose="020B0502020202020204" pitchFamily="34" charset="0"/>
              </a:rPr>
              <a:t>€</a:t>
            </a:r>
            <a:r>
              <a:rPr lang="en-IN" sz="2200" dirty="0" smtClean="0">
                <a:latin typeface="Century Gothic" panose="020B0502020202020204" pitchFamily="34" charset="0"/>
              </a:rPr>
              <a:t> </a:t>
            </a:r>
            <a:r>
              <a:rPr lang="en-IN" sz="2200" dirty="0" smtClean="0">
                <a:latin typeface="Century Gothic (Body)"/>
              </a:rPr>
              <a:t>= Y – </a:t>
            </a:r>
            <a:r>
              <a:rPr lang="en-IN" sz="2200" dirty="0" err="1">
                <a:latin typeface="Century Gothic (Body)"/>
              </a:rPr>
              <a:t>Y</a:t>
            </a:r>
            <a:r>
              <a:rPr lang="en-IN" sz="2200" baseline="-25000" dirty="0" err="1" smtClean="0">
                <a:latin typeface="Century Gothic (Body)"/>
              </a:rPr>
              <a:t>n</a:t>
            </a:r>
            <a:r>
              <a:rPr lang="en-IN" sz="2200" dirty="0" smtClean="0">
                <a:latin typeface="Century Gothic (Body)"/>
              </a:rPr>
              <a:t>; </a:t>
            </a:r>
            <a:r>
              <a:rPr lang="en-IN" sz="2200" dirty="0" err="1" smtClean="0">
                <a:latin typeface="Century Gothic (Body)"/>
              </a:rPr>
              <a:t>Y</a:t>
            </a:r>
            <a:r>
              <a:rPr lang="en-IN" sz="2200" baseline="-25000" dirty="0" err="1" smtClean="0">
                <a:latin typeface="Century Gothic (Body)"/>
              </a:rPr>
              <a:t>n</a:t>
            </a:r>
            <a:r>
              <a:rPr lang="en-IN" sz="2200" baseline="-25000" dirty="0" smtClean="0">
                <a:latin typeface="Century Gothic (Body)"/>
              </a:rPr>
              <a:t> </a:t>
            </a:r>
            <a:r>
              <a:rPr lang="en-IN" sz="2200" dirty="0" smtClean="0">
                <a:latin typeface="Century Gothic (Body)"/>
                <a:sym typeface="Wingdings" panose="05000000000000000000" pitchFamily="2" charset="2"/>
              </a:rPr>
              <a:t> </a:t>
            </a:r>
            <a:r>
              <a:rPr lang="en-IN" sz="2200" dirty="0" smtClean="0">
                <a:latin typeface="Century Gothic (Body)"/>
              </a:rPr>
              <a:t>last hidden layer value</a:t>
            </a:r>
          </a:p>
          <a:p>
            <a:pPr marL="800100" lvl="1" indent="-342900">
              <a:buFont typeface="Wingdings" panose="05000000000000000000" pitchFamily="2" charset="2"/>
              <a:buChar char="ü"/>
            </a:pPr>
            <a:r>
              <a:rPr lang="en-IN" sz="2200" dirty="0">
                <a:latin typeface="Century Gothic (Body)"/>
              </a:rPr>
              <a:t>A</a:t>
            </a:r>
            <a:r>
              <a:rPr lang="en-IN" sz="2200" dirty="0" smtClean="0">
                <a:latin typeface="Century Gothic (Body)"/>
              </a:rPr>
              <a:t>llows </a:t>
            </a:r>
            <a:r>
              <a:rPr lang="en-IN" sz="2200" dirty="0">
                <a:latin typeface="Century Gothic (Body)"/>
              </a:rPr>
              <a:t>the information to go back from the cost backward through the network in order to compute the gradient. Therefore, loop over the nodes starting at the final node in reverse topological order to compute the derivative of the final node output with respect to each edge’s node </a:t>
            </a:r>
            <a:r>
              <a:rPr lang="en-IN" sz="2200" dirty="0" smtClean="0">
                <a:latin typeface="Century Gothic (Body)"/>
              </a:rPr>
              <a:t>tail. </a:t>
            </a:r>
            <a:r>
              <a:rPr lang="en-IN" sz="2200" dirty="0">
                <a:latin typeface="Century Gothic (Body)"/>
              </a:rPr>
              <a:t>The activation function derivatives’ formulas (</a:t>
            </a:r>
            <a:r>
              <a:rPr lang="el-GR" sz="2200" dirty="0" smtClean="0">
                <a:latin typeface="Century Gothic (Body)"/>
              </a:rPr>
              <a:t>σ</a:t>
            </a:r>
            <a:r>
              <a:rPr lang="en-IN" sz="2200" dirty="0" smtClean="0">
                <a:latin typeface="Century Gothic (Body)"/>
              </a:rPr>
              <a:t>’</a:t>
            </a:r>
            <a:r>
              <a:rPr lang="en-US" altLang="ko-KR" sz="2200" dirty="0" smtClean="0">
                <a:latin typeface="Century Gothic (Body)"/>
              </a:rPr>
              <a:t>(</a:t>
            </a:r>
            <a:r>
              <a:rPr lang="ko-KR" altLang="en-US" sz="2200" dirty="0">
                <a:latin typeface="Century Gothic (Body)"/>
              </a:rPr>
              <a:t>𝑥</a:t>
            </a:r>
            <a:r>
              <a:rPr lang="en-US" altLang="ko-KR" sz="2200" dirty="0" smtClean="0">
                <a:latin typeface="Century Gothic (Body)"/>
              </a:rPr>
              <a:t>)) </a:t>
            </a:r>
            <a:r>
              <a:rPr lang="en-IN" sz="2200" dirty="0">
                <a:latin typeface="Century Gothic (Body)"/>
              </a:rPr>
              <a:t>will help us write the back-propagate functions</a:t>
            </a:r>
            <a:r>
              <a:rPr lang="en-IN" sz="2200" dirty="0" smtClean="0">
                <a:latin typeface="Century Gothic (Body)"/>
              </a:rPr>
              <a:t>.</a:t>
            </a:r>
          </a:p>
          <a:p>
            <a:pPr marL="800100" lvl="1" indent="-342900">
              <a:buFont typeface="Wingdings" panose="05000000000000000000" pitchFamily="2" charset="2"/>
              <a:buChar char="ü"/>
            </a:pPr>
            <a:r>
              <a:rPr lang="en-IN" sz="2200" dirty="0" smtClean="0">
                <a:latin typeface="Century Gothic (Body)"/>
              </a:rPr>
              <a:t>Similarly do backword process for update </a:t>
            </a:r>
            <a:r>
              <a:rPr lang="en-IN" sz="2200" dirty="0">
                <a:latin typeface="Century Gothic (Body)"/>
              </a:rPr>
              <a:t>weight </a:t>
            </a:r>
            <a:r>
              <a:rPr lang="en-IN" sz="2200" dirty="0" err="1">
                <a:latin typeface="Century Gothic (Body)"/>
              </a:rPr>
              <a:t>w</a:t>
            </a:r>
            <a:r>
              <a:rPr lang="en-IN" sz="2200" baseline="-25000" dirty="0" err="1">
                <a:latin typeface="Century Gothic (Body)"/>
              </a:rPr>
              <a:t>ij</a:t>
            </a:r>
            <a:r>
              <a:rPr lang="en-IN" sz="2200" dirty="0">
                <a:latin typeface="Century Gothic (Body)"/>
              </a:rPr>
              <a:t> &amp; bias </a:t>
            </a:r>
            <a:r>
              <a:rPr lang="en-IN" sz="2200" dirty="0" smtClean="0">
                <a:latin typeface="Century Gothic (Body)"/>
              </a:rPr>
              <a:t>b</a:t>
            </a:r>
            <a:r>
              <a:rPr lang="en-IN" sz="2200" baseline="-25000" dirty="0" smtClean="0">
                <a:latin typeface="Century Gothic (Body)"/>
              </a:rPr>
              <a:t>i </a:t>
            </a:r>
            <a:r>
              <a:rPr lang="en-IN" sz="2200" dirty="0" smtClean="0">
                <a:latin typeface="Century Gothic (Body)"/>
              </a:rPr>
              <a:t>using learning-rate, </a:t>
            </a:r>
            <a:r>
              <a:rPr lang="en-IN" sz="2200" dirty="0" err="1" smtClean="0">
                <a:latin typeface="Century Gothic (Body)"/>
              </a:rPr>
              <a:t>lr</a:t>
            </a:r>
            <a:endParaRPr lang="en-IN" sz="2200" dirty="0" smtClean="0">
              <a:latin typeface="Century Gothic (Body)"/>
            </a:endParaRPr>
          </a:p>
          <a:p>
            <a:pPr lvl="3"/>
            <a:r>
              <a:rPr lang="en-IN" sz="2200" dirty="0" smtClean="0">
                <a:latin typeface="Century Gothic (Body)"/>
              </a:rPr>
              <a:t>																	</a:t>
            </a:r>
            <a:r>
              <a:rPr lang="en-IN" sz="2200" dirty="0" err="1" smtClean="0">
                <a:latin typeface="Century Gothic (Body)"/>
              </a:rPr>
              <a:t>lr</a:t>
            </a:r>
            <a:r>
              <a:rPr lang="en-IN" sz="2200" dirty="0" smtClean="0">
                <a:latin typeface="Century Gothic (Body)"/>
              </a:rPr>
              <a:t> </a:t>
            </a:r>
            <a:r>
              <a:rPr lang="en-IN" sz="2200" dirty="0" smtClean="0">
                <a:latin typeface="Century Gothic" panose="020B0502020202020204" pitchFamily="34" charset="0"/>
              </a:rPr>
              <a:t></a:t>
            </a:r>
            <a:r>
              <a:rPr lang="en-IN" sz="2200" dirty="0" smtClean="0">
                <a:latin typeface="Century Gothic (Body)"/>
              </a:rPr>
              <a:t> [0,1]</a:t>
            </a:r>
          </a:p>
        </p:txBody>
      </p:sp>
    </p:spTree>
    <p:extLst>
      <p:ext uri="{BB962C8B-B14F-4D97-AF65-F5344CB8AC3E}">
        <p14:creationId xmlns:p14="http://schemas.microsoft.com/office/powerpoint/2010/main" val="31865661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9671" y="300334"/>
            <a:ext cx="87366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Proposed Work: ANN : methods</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4" name="Rectangle 3"/>
          <p:cNvSpPr/>
          <p:nvPr/>
        </p:nvSpPr>
        <p:spPr>
          <a:xfrm>
            <a:off x="900546" y="1371601"/>
            <a:ext cx="10390909" cy="52508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597" y="1371601"/>
            <a:ext cx="9466512" cy="5250872"/>
          </a:xfrm>
          <a:prstGeom prst="rect">
            <a:avLst/>
          </a:prstGeom>
        </p:spPr>
      </p:pic>
    </p:spTree>
    <p:extLst>
      <p:ext uri="{BB962C8B-B14F-4D97-AF65-F5344CB8AC3E}">
        <p14:creationId xmlns:p14="http://schemas.microsoft.com/office/powerpoint/2010/main" val="339165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45"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2000"/>
                                        <p:tgtEl>
                                          <p:spTgt spid="7"/>
                                        </p:tgtEl>
                                      </p:cBhvr>
                                    </p:animEffect>
                                    <p:anim calcmode="lin" valueType="num">
                                      <p:cBhvr>
                                        <p:cTn id="31" dur="2000" fill="hold"/>
                                        <p:tgtEl>
                                          <p:spTgt spid="7"/>
                                        </p:tgtEl>
                                        <p:attrNameLst>
                                          <p:attrName>ppt_w</p:attrName>
                                        </p:attrNameLst>
                                      </p:cBhvr>
                                      <p:tavLst>
                                        <p:tav tm="0" fmla="#ppt_w*sin(2.5*pi*$)">
                                          <p:val>
                                            <p:fltVal val="0"/>
                                          </p:val>
                                        </p:tav>
                                        <p:tav tm="100000">
                                          <p:val>
                                            <p:fltVal val="1"/>
                                          </p:val>
                                        </p:tav>
                                      </p:tavLst>
                                    </p:anim>
                                    <p:anim calcmode="lin" valueType="num">
                                      <p:cBhvr>
                                        <p:cTn id="32"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8966" y="314189"/>
            <a:ext cx="9384300" cy="830997"/>
          </a:xfrm>
          <a:prstGeom prst="rect">
            <a:avLst/>
          </a:prstGeom>
          <a:noFill/>
        </p:spPr>
        <p:txBody>
          <a:bodyPr wrap="none" lIns="91440" tIns="45720" rIns="91440" bIns="45720">
            <a:spAutoFit/>
          </a:bodyPr>
          <a:lstStyle/>
          <a:p>
            <a:pPr algn="ctr"/>
            <a:r>
              <a:rPr lang="en-US" sz="4800" b="1" cap="none" spc="0" dirty="0" smtClean="0">
                <a:ln w="0"/>
                <a:solidFill>
                  <a:schemeClr val="tx1"/>
                </a:solidFill>
                <a:effectLst>
                  <a:outerShdw blurRad="38100" dist="19050" dir="2700000" algn="tl" rotWithShape="0">
                    <a:schemeClr val="dk1">
                      <a:alpha val="40000"/>
                    </a:schemeClr>
                  </a:outerShdw>
                </a:effectLst>
              </a:rPr>
              <a:t>Proposed Work: code structure</a:t>
            </a:r>
            <a:endParaRPr lang="en-US" sz="4800" b="1"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p:nvPr/>
        </p:nvPicPr>
        <p:blipFill rotWithShape="1">
          <a:blip r:embed="rId2" cstate="print">
            <a:extLst>
              <a:ext uri="{28A0092B-C50C-407E-A947-70E740481C1C}">
                <a14:useLocalDpi xmlns:a14="http://schemas.microsoft.com/office/drawing/2010/main" val="0"/>
              </a:ext>
            </a:extLst>
          </a:blip>
          <a:srcRect t="2565" r="5836"/>
          <a:stretch/>
        </p:blipFill>
        <p:spPr bwMode="auto">
          <a:xfrm>
            <a:off x="628903" y="1830532"/>
            <a:ext cx="4657400" cy="4601989"/>
          </a:xfrm>
          <a:prstGeom prst="rect">
            <a:avLst/>
          </a:prstGeom>
          <a:ln>
            <a:noFill/>
          </a:ln>
          <a:extLst>
            <a:ext uri="{53640926-AAD7-44D8-BBD7-CCE9431645EC}">
              <a14:shadowObscured xmlns:a14="http://schemas.microsoft.com/office/drawing/2010/main"/>
            </a:ext>
          </a:extLst>
        </p:spPr>
      </p:pic>
      <p:sp>
        <p:nvSpPr>
          <p:cNvPr id="7" name="TextBox 6"/>
          <p:cNvSpPr txBox="1"/>
          <p:nvPr/>
        </p:nvSpPr>
        <p:spPr>
          <a:xfrm>
            <a:off x="7125823" y="1266899"/>
            <a:ext cx="2946432" cy="400110"/>
          </a:xfrm>
          <a:prstGeom prst="rect">
            <a:avLst/>
          </a:prstGeom>
          <a:noFill/>
        </p:spPr>
        <p:txBody>
          <a:bodyPr wrap="square" rtlCol="0">
            <a:spAutoFit/>
          </a:bodyPr>
          <a:lstStyle/>
          <a:p>
            <a:r>
              <a:rPr lang="en-IN" sz="2000" b="1" dirty="0" smtClean="0"/>
              <a:t>Future Data Expect</a:t>
            </a:r>
            <a:endParaRPr lang="en-IN" sz="2000" b="1" dirty="0"/>
          </a:p>
        </p:txBody>
      </p:sp>
      <p:sp>
        <p:nvSpPr>
          <p:cNvPr id="8" name="TextBox 7"/>
          <p:cNvSpPr txBox="1"/>
          <p:nvPr/>
        </p:nvSpPr>
        <p:spPr>
          <a:xfrm>
            <a:off x="2119744" y="1320689"/>
            <a:ext cx="2396837" cy="400110"/>
          </a:xfrm>
          <a:prstGeom prst="rect">
            <a:avLst/>
          </a:prstGeom>
          <a:noFill/>
        </p:spPr>
        <p:txBody>
          <a:bodyPr wrap="square" rtlCol="0">
            <a:spAutoFit/>
          </a:bodyPr>
          <a:lstStyle/>
          <a:p>
            <a:r>
              <a:rPr lang="en-IN" sz="2000" b="1" dirty="0" smtClean="0"/>
              <a:t>Data Insert</a:t>
            </a:r>
            <a:endParaRPr lang="en-IN" sz="2000" b="1" dirty="0"/>
          </a:p>
        </p:txBody>
      </p:sp>
      <p:pic>
        <p:nvPicPr>
          <p:cNvPr id="9" name="Picture 8"/>
          <p:cNvPicPr>
            <a:picLocks noChangeAspect="1"/>
          </p:cNvPicPr>
          <p:nvPr/>
        </p:nvPicPr>
        <p:blipFill>
          <a:blip r:embed="rId3"/>
          <a:stretch>
            <a:fillRect/>
          </a:stretch>
        </p:blipFill>
        <p:spPr>
          <a:xfrm>
            <a:off x="5893306" y="1830532"/>
            <a:ext cx="5121058" cy="4749462"/>
          </a:xfrm>
          <a:prstGeom prst="rect">
            <a:avLst/>
          </a:prstGeom>
        </p:spPr>
      </p:pic>
    </p:spTree>
    <p:extLst>
      <p:ext uri="{BB962C8B-B14F-4D97-AF65-F5344CB8AC3E}">
        <p14:creationId xmlns:p14="http://schemas.microsoft.com/office/powerpoint/2010/main" val="285271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80">
                                          <p:stCondLst>
                                            <p:cond delay="0"/>
                                          </p:stCondLst>
                                        </p:cTn>
                                        <p:tgtEl>
                                          <p:spTgt spid="8"/>
                                        </p:tgtEl>
                                      </p:cBhvr>
                                    </p:animEffect>
                                    <p:anim calcmode="lin" valueType="num">
                                      <p:cBhvr>
                                        <p:cTn id="1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7" dur="26">
                                          <p:stCondLst>
                                            <p:cond delay="650"/>
                                          </p:stCondLst>
                                        </p:cTn>
                                        <p:tgtEl>
                                          <p:spTgt spid="8"/>
                                        </p:tgtEl>
                                      </p:cBhvr>
                                      <p:to x="100000" y="60000"/>
                                    </p:animScale>
                                    <p:animScale>
                                      <p:cBhvr>
                                        <p:cTn id="18" dur="166" decel="50000">
                                          <p:stCondLst>
                                            <p:cond delay="676"/>
                                          </p:stCondLst>
                                        </p:cTn>
                                        <p:tgtEl>
                                          <p:spTgt spid="8"/>
                                        </p:tgtEl>
                                      </p:cBhvr>
                                      <p:to x="100000" y="100000"/>
                                    </p:animScale>
                                    <p:animScale>
                                      <p:cBhvr>
                                        <p:cTn id="19" dur="26">
                                          <p:stCondLst>
                                            <p:cond delay="1312"/>
                                          </p:stCondLst>
                                        </p:cTn>
                                        <p:tgtEl>
                                          <p:spTgt spid="8"/>
                                        </p:tgtEl>
                                      </p:cBhvr>
                                      <p:to x="100000" y="80000"/>
                                    </p:animScale>
                                    <p:animScale>
                                      <p:cBhvr>
                                        <p:cTn id="20" dur="166" decel="50000">
                                          <p:stCondLst>
                                            <p:cond delay="1338"/>
                                          </p:stCondLst>
                                        </p:cTn>
                                        <p:tgtEl>
                                          <p:spTgt spid="8"/>
                                        </p:tgtEl>
                                      </p:cBhvr>
                                      <p:to x="100000" y="100000"/>
                                    </p:animScale>
                                    <p:animScale>
                                      <p:cBhvr>
                                        <p:cTn id="21" dur="26">
                                          <p:stCondLst>
                                            <p:cond delay="1642"/>
                                          </p:stCondLst>
                                        </p:cTn>
                                        <p:tgtEl>
                                          <p:spTgt spid="8"/>
                                        </p:tgtEl>
                                      </p:cBhvr>
                                      <p:to x="100000" y="90000"/>
                                    </p:animScale>
                                    <p:animScale>
                                      <p:cBhvr>
                                        <p:cTn id="22" dur="166" decel="50000">
                                          <p:stCondLst>
                                            <p:cond delay="1668"/>
                                          </p:stCondLst>
                                        </p:cTn>
                                        <p:tgtEl>
                                          <p:spTgt spid="8"/>
                                        </p:tgtEl>
                                      </p:cBhvr>
                                      <p:to x="100000" y="100000"/>
                                    </p:animScale>
                                    <p:animScale>
                                      <p:cBhvr>
                                        <p:cTn id="23" dur="26">
                                          <p:stCondLst>
                                            <p:cond delay="1808"/>
                                          </p:stCondLst>
                                        </p:cTn>
                                        <p:tgtEl>
                                          <p:spTgt spid="8"/>
                                        </p:tgtEl>
                                      </p:cBhvr>
                                      <p:to x="100000" y="95000"/>
                                    </p:animScale>
                                    <p:animScale>
                                      <p:cBhvr>
                                        <p:cTn id="24" dur="166" decel="50000">
                                          <p:stCondLst>
                                            <p:cond delay="1834"/>
                                          </p:stCondLst>
                                        </p:cTn>
                                        <p:tgtEl>
                                          <p:spTgt spid="8"/>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randombar(horizont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80">
                                          <p:stCondLst>
                                            <p:cond delay="0"/>
                                          </p:stCondLst>
                                        </p:cTn>
                                        <p:tgtEl>
                                          <p:spTgt spid="7"/>
                                        </p:tgtEl>
                                      </p:cBhvr>
                                    </p:animEffect>
                                    <p:anim calcmode="lin" valueType="num">
                                      <p:cBhvr>
                                        <p:cTn id="35"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0" dur="26">
                                          <p:stCondLst>
                                            <p:cond delay="650"/>
                                          </p:stCondLst>
                                        </p:cTn>
                                        <p:tgtEl>
                                          <p:spTgt spid="7"/>
                                        </p:tgtEl>
                                      </p:cBhvr>
                                      <p:to x="100000" y="60000"/>
                                    </p:animScale>
                                    <p:animScale>
                                      <p:cBhvr>
                                        <p:cTn id="41" dur="166" decel="50000">
                                          <p:stCondLst>
                                            <p:cond delay="676"/>
                                          </p:stCondLst>
                                        </p:cTn>
                                        <p:tgtEl>
                                          <p:spTgt spid="7"/>
                                        </p:tgtEl>
                                      </p:cBhvr>
                                      <p:to x="100000" y="100000"/>
                                    </p:animScale>
                                    <p:animScale>
                                      <p:cBhvr>
                                        <p:cTn id="42" dur="26">
                                          <p:stCondLst>
                                            <p:cond delay="1312"/>
                                          </p:stCondLst>
                                        </p:cTn>
                                        <p:tgtEl>
                                          <p:spTgt spid="7"/>
                                        </p:tgtEl>
                                      </p:cBhvr>
                                      <p:to x="100000" y="80000"/>
                                    </p:animScale>
                                    <p:animScale>
                                      <p:cBhvr>
                                        <p:cTn id="43" dur="166" decel="50000">
                                          <p:stCondLst>
                                            <p:cond delay="1338"/>
                                          </p:stCondLst>
                                        </p:cTn>
                                        <p:tgtEl>
                                          <p:spTgt spid="7"/>
                                        </p:tgtEl>
                                      </p:cBhvr>
                                      <p:to x="100000" y="100000"/>
                                    </p:animScale>
                                    <p:animScale>
                                      <p:cBhvr>
                                        <p:cTn id="44" dur="26">
                                          <p:stCondLst>
                                            <p:cond delay="1642"/>
                                          </p:stCondLst>
                                        </p:cTn>
                                        <p:tgtEl>
                                          <p:spTgt spid="7"/>
                                        </p:tgtEl>
                                      </p:cBhvr>
                                      <p:to x="100000" y="90000"/>
                                    </p:animScale>
                                    <p:animScale>
                                      <p:cBhvr>
                                        <p:cTn id="45" dur="166" decel="50000">
                                          <p:stCondLst>
                                            <p:cond delay="1668"/>
                                          </p:stCondLst>
                                        </p:cTn>
                                        <p:tgtEl>
                                          <p:spTgt spid="7"/>
                                        </p:tgtEl>
                                      </p:cBhvr>
                                      <p:to x="100000" y="100000"/>
                                    </p:animScale>
                                    <p:animScale>
                                      <p:cBhvr>
                                        <p:cTn id="46" dur="26">
                                          <p:stCondLst>
                                            <p:cond delay="1808"/>
                                          </p:stCondLst>
                                        </p:cTn>
                                        <p:tgtEl>
                                          <p:spTgt spid="7"/>
                                        </p:tgtEl>
                                      </p:cBhvr>
                                      <p:to x="100000" y="95000"/>
                                    </p:animScale>
                                    <p:animScale>
                                      <p:cBhvr>
                                        <p:cTn id="47" dur="166" decel="50000">
                                          <p:stCondLst>
                                            <p:cond delay="1834"/>
                                          </p:stCondLst>
                                        </p:cTn>
                                        <p:tgtEl>
                                          <p:spTgt spid="7"/>
                                        </p:tgtEl>
                                      </p:cBhvr>
                                      <p:to x="100000" y="100000"/>
                                    </p:animScale>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randombar(horizontal)">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647" y="258772"/>
            <a:ext cx="92704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approach -1</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557647" y="1204889"/>
            <a:ext cx="11052462" cy="1200329"/>
          </a:xfrm>
          <a:prstGeom prst="rect">
            <a:avLst/>
          </a:prstGeom>
        </p:spPr>
        <p:txBody>
          <a:bodyPr wrap="square">
            <a:spAutoFit/>
          </a:bodyPr>
          <a:lstStyle/>
          <a:p>
            <a:r>
              <a:rPr lang="en-IN" sz="2400" dirty="0" smtClean="0">
                <a:latin typeface="Consolas" panose="020B0609020204030204" pitchFamily="49" charset="0"/>
              </a:rPr>
              <a:t>ANN-approach-1</a:t>
            </a:r>
            <a:r>
              <a:rPr lang="en-IN" sz="2400" dirty="0">
                <a:latin typeface="Consolas" panose="020B0609020204030204" pitchFamily="49" charset="0"/>
              </a:rPr>
              <a:t>: </a:t>
            </a:r>
            <a:endParaRPr lang="en-IN" sz="2400" dirty="0" smtClean="0">
              <a:latin typeface="Consolas" panose="020B0609020204030204" pitchFamily="49" charset="0"/>
            </a:endParaRPr>
          </a:p>
          <a:p>
            <a:r>
              <a:rPr lang="en-IN" sz="2400" dirty="0" smtClean="0">
                <a:latin typeface="Consolas" panose="020B0609020204030204" pitchFamily="49" charset="0"/>
              </a:rPr>
              <a:t>query </a:t>
            </a:r>
            <a:r>
              <a:rPr lang="en-IN" sz="2400" dirty="0" smtClean="0">
                <a:latin typeface="Consolas" panose="020B0609020204030204" pitchFamily="49" charset="0"/>
                <a:sym typeface="Wingdings" panose="05000000000000000000" pitchFamily="2" charset="2"/>
              </a:rPr>
              <a:t> [region ,year, month]  [Kerala, 2019, March]</a:t>
            </a:r>
          </a:p>
          <a:p>
            <a:r>
              <a:rPr lang="en-IN" sz="2400" dirty="0" smtClean="0">
                <a:latin typeface="Consolas" panose="020B0609020204030204" pitchFamily="49" charset="0"/>
                <a:sym typeface="Wingdings" panose="05000000000000000000" pitchFamily="2" charset="2"/>
              </a:rPr>
              <a:t>get-data  all data of a month from 1950 to 2017</a:t>
            </a:r>
          </a:p>
        </p:txBody>
      </p:sp>
      <p:graphicFrame>
        <p:nvGraphicFramePr>
          <p:cNvPr id="3" name="Table 2"/>
          <p:cNvGraphicFramePr>
            <a:graphicFrameLocks noGrp="1"/>
          </p:cNvGraphicFramePr>
          <p:nvPr>
            <p:extLst>
              <p:ext uri="{D42A27DB-BD31-4B8C-83A1-F6EECF244321}">
                <p14:modId xmlns:p14="http://schemas.microsoft.com/office/powerpoint/2010/main" val="1590549560"/>
              </p:ext>
            </p:extLst>
          </p:nvPr>
        </p:nvGraphicFramePr>
        <p:xfrm>
          <a:off x="557647" y="2766560"/>
          <a:ext cx="5008675" cy="2560320"/>
        </p:xfrm>
        <a:graphic>
          <a:graphicData uri="http://schemas.openxmlformats.org/drawingml/2006/table">
            <a:tbl>
              <a:tblPr firstRow="1" bandRow="1">
                <a:tableStyleId>{D7AC3CCA-C797-4891-BE02-D94E43425B78}</a:tableStyleId>
              </a:tblPr>
              <a:tblGrid>
                <a:gridCol w="1001735">
                  <a:extLst>
                    <a:ext uri="{9D8B030D-6E8A-4147-A177-3AD203B41FA5}">
                      <a16:colId xmlns:a16="http://schemas.microsoft.com/office/drawing/2014/main" val="3231278424"/>
                    </a:ext>
                  </a:extLst>
                </a:gridCol>
                <a:gridCol w="1001735">
                  <a:extLst>
                    <a:ext uri="{9D8B030D-6E8A-4147-A177-3AD203B41FA5}">
                      <a16:colId xmlns:a16="http://schemas.microsoft.com/office/drawing/2014/main" val="3063026317"/>
                    </a:ext>
                  </a:extLst>
                </a:gridCol>
                <a:gridCol w="1001735">
                  <a:extLst>
                    <a:ext uri="{9D8B030D-6E8A-4147-A177-3AD203B41FA5}">
                      <a16:colId xmlns:a16="http://schemas.microsoft.com/office/drawing/2014/main" val="2048098569"/>
                    </a:ext>
                  </a:extLst>
                </a:gridCol>
                <a:gridCol w="1001735">
                  <a:extLst>
                    <a:ext uri="{9D8B030D-6E8A-4147-A177-3AD203B41FA5}">
                      <a16:colId xmlns:a16="http://schemas.microsoft.com/office/drawing/2014/main" val="936303207"/>
                    </a:ext>
                  </a:extLst>
                </a:gridCol>
                <a:gridCol w="1001735">
                  <a:extLst>
                    <a:ext uri="{9D8B030D-6E8A-4147-A177-3AD203B41FA5}">
                      <a16:colId xmlns:a16="http://schemas.microsoft.com/office/drawing/2014/main" val="1642899513"/>
                    </a:ext>
                  </a:extLst>
                </a:gridCol>
              </a:tblGrid>
              <a:tr h="315430">
                <a:tc>
                  <a:txBody>
                    <a:bodyPr/>
                    <a:lstStyle/>
                    <a:p>
                      <a:pPr algn="ctr"/>
                      <a:r>
                        <a:rPr lang="en-IN" b="0" dirty="0" smtClean="0"/>
                        <a:t>1950</a:t>
                      </a:r>
                      <a:endParaRPr lang="en-IN" b="0" dirty="0"/>
                    </a:p>
                  </a:txBody>
                  <a:tcPr>
                    <a:solidFill>
                      <a:srgbClr val="FFFF00"/>
                    </a:solidFill>
                  </a:tcPr>
                </a:tc>
                <a:tc>
                  <a:txBody>
                    <a:bodyPr/>
                    <a:lstStyle/>
                    <a:p>
                      <a:pPr algn="ctr"/>
                      <a:r>
                        <a:rPr lang="en-IN" b="0" dirty="0" smtClean="0"/>
                        <a:t>1951</a:t>
                      </a:r>
                      <a:endParaRPr lang="en-IN" b="0" dirty="0"/>
                    </a:p>
                  </a:txBody>
                  <a:tcPr>
                    <a:solidFill>
                      <a:srgbClr val="FFFF00"/>
                    </a:solidFill>
                  </a:tcPr>
                </a:tc>
                <a:tc>
                  <a:txBody>
                    <a:bodyPr/>
                    <a:lstStyle/>
                    <a:p>
                      <a:pPr algn="ctr"/>
                      <a:r>
                        <a:rPr lang="en-IN" b="0" dirty="0" smtClean="0"/>
                        <a:t>1952</a:t>
                      </a:r>
                      <a:endParaRPr lang="en-IN" b="0" dirty="0"/>
                    </a:p>
                  </a:txBody>
                  <a:tcPr>
                    <a:solidFill>
                      <a:srgbClr val="FFFF00"/>
                    </a:solidFill>
                  </a:tcPr>
                </a:tc>
                <a:tc>
                  <a:txBody>
                    <a:bodyPr/>
                    <a:lstStyle/>
                    <a:p>
                      <a:pPr algn="ctr"/>
                      <a:r>
                        <a:rPr lang="en-IN" b="0" dirty="0" smtClean="0"/>
                        <a:t>1953</a:t>
                      </a:r>
                      <a:endParaRPr lang="en-IN" b="0" dirty="0"/>
                    </a:p>
                  </a:txBody>
                  <a:tcPr>
                    <a:solidFill>
                      <a:srgbClr val="FFFF00"/>
                    </a:solidFill>
                  </a:tcPr>
                </a:tc>
                <a:tc>
                  <a:txBody>
                    <a:bodyPr/>
                    <a:lstStyle/>
                    <a:p>
                      <a:pPr algn="ctr"/>
                      <a:r>
                        <a:rPr lang="en-IN" b="0" dirty="0" smtClean="0"/>
                        <a:t>1954</a:t>
                      </a:r>
                      <a:endParaRPr lang="en-IN" b="0" dirty="0"/>
                    </a:p>
                  </a:txBody>
                  <a:tcPr>
                    <a:solidFill>
                      <a:srgbClr val="FFFF00"/>
                    </a:solidFill>
                  </a:tcPr>
                </a:tc>
                <a:extLst>
                  <a:ext uri="{0D108BD9-81ED-4DB2-BD59-A6C34878D82A}">
                    <a16:rowId xmlns:a16="http://schemas.microsoft.com/office/drawing/2014/main" val="2625747613"/>
                  </a:ext>
                </a:extLst>
              </a:tr>
              <a:tr h="315430">
                <a:tc>
                  <a:txBody>
                    <a:bodyPr/>
                    <a:lstStyle/>
                    <a:p>
                      <a:pPr algn="ctr"/>
                      <a:r>
                        <a:rPr lang="en-IN" b="0" dirty="0" smtClean="0"/>
                        <a:t>1951</a:t>
                      </a:r>
                      <a:endParaRPr lang="en-IN" b="0" dirty="0"/>
                    </a:p>
                  </a:txBody>
                  <a:tcPr>
                    <a:solidFill>
                      <a:srgbClr val="00B050"/>
                    </a:solidFill>
                  </a:tcPr>
                </a:tc>
                <a:tc>
                  <a:txBody>
                    <a:bodyPr/>
                    <a:lstStyle/>
                    <a:p>
                      <a:pPr algn="ctr"/>
                      <a:r>
                        <a:rPr lang="en-IN" b="0" dirty="0" smtClean="0"/>
                        <a:t>1952</a:t>
                      </a:r>
                      <a:endParaRPr lang="en-IN" b="0" dirty="0"/>
                    </a:p>
                  </a:txBody>
                  <a:tcPr>
                    <a:solidFill>
                      <a:srgbClr val="00B050"/>
                    </a:solidFill>
                  </a:tcPr>
                </a:tc>
                <a:tc>
                  <a:txBody>
                    <a:bodyPr/>
                    <a:lstStyle/>
                    <a:p>
                      <a:pPr algn="ctr"/>
                      <a:r>
                        <a:rPr lang="en-IN" b="0" dirty="0" smtClean="0"/>
                        <a:t>1953</a:t>
                      </a:r>
                      <a:endParaRPr lang="en-IN" b="0" dirty="0"/>
                    </a:p>
                  </a:txBody>
                  <a:tcPr>
                    <a:solidFill>
                      <a:srgbClr val="00B050"/>
                    </a:solidFill>
                  </a:tcPr>
                </a:tc>
                <a:tc>
                  <a:txBody>
                    <a:bodyPr/>
                    <a:lstStyle/>
                    <a:p>
                      <a:pPr algn="ctr"/>
                      <a:r>
                        <a:rPr lang="en-IN" b="0" dirty="0" smtClean="0"/>
                        <a:t>1954</a:t>
                      </a:r>
                      <a:endParaRPr lang="en-IN" b="0" dirty="0"/>
                    </a:p>
                  </a:txBody>
                  <a:tcPr>
                    <a:solidFill>
                      <a:srgbClr val="00B050"/>
                    </a:solidFill>
                  </a:tcPr>
                </a:tc>
                <a:tc>
                  <a:txBody>
                    <a:bodyPr/>
                    <a:lstStyle/>
                    <a:p>
                      <a:pPr algn="ctr"/>
                      <a:r>
                        <a:rPr lang="en-IN" b="0" dirty="0" smtClean="0"/>
                        <a:t>1955</a:t>
                      </a:r>
                      <a:endParaRPr lang="en-IN" b="0" dirty="0"/>
                    </a:p>
                  </a:txBody>
                  <a:tcPr>
                    <a:solidFill>
                      <a:srgbClr val="00B050"/>
                    </a:solidFill>
                  </a:tcPr>
                </a:tc>
                <a:extLst>
                  <a:ext uri="{0D108BD9-81ED-4DB2-BD59-A6C34878D82A}">
                    <a16:rowId xmlns:a16="http://schemas.microsoft.com/office/drawing/2014/main" val="1052093763"/>
                  </a:ext>
                </a:extLst>
              </a:tr>
              <a:tr h="315430">
                <a:tc>
                  <a:txBody>
                    <a:bodyPr/>
                    <a:lstStyle/>
                    <a:p>
                      <a:pPr algn="ctr"/>
                      <a:r>
                        <a:rPr lang="en-IN" b="0" dirty="0" smtClean="0"/>
                        <a:t>1952</a:t>
                      </a:r>
                      <a:endParaRPr lang="en-IN" b="0" dirty="0"/>
                    </a:p>
                  </a:txBody>
                  <a:tcPr>
                    <a:solidFill>
                      <a:srgbClr val="92D050"/>
                    </a:solidFill>
                  </a:tcPr>
                </a:tc>
                <a:tc>
                  <a:txBody>
                    <a:bodyPr/>
                    <a:lstStyle/>
                    <a:p>
                      <a:pPr algn="ctr"/>
                      <a:r>
                        <a:rPr lang="en-IN" b="0" dirty="0" smtClean="0"/>
                        <a:t>1953</a:t>
                      </a:r>
                      <a:endParaRPr lang="en-IN" b="0" dirty="0"/>
                    </a:p>
                  </a:txBody>
                  <a:tcPr>
                    <a:solidFill>
                      <a:srgbClr val="92D050"/>
                    </a:solidFill>
                  </a:tcPr>
                </a:tc>
                <a:tc>
                  <a:txBody>
                    <a:bodyPr/>
                    <a:lstStyle/>
                    <a:p>
                      <a:pPr algn="ctr"/>
                      <a:r>
                        <a:rPr lang="en-IN" b="0" dirty="0" smtClean="0"/>
                        <a:t>1954</a:t>
                      </a:r>
                      <a:endParaRPr lang="en-IN" b="0" dirty="0"/>
                    </a:p>
                  </a:txBody>
                  <a:tcPr>
                    <a:solidFill>
                      <a:srgbClr val="92D050"/>
                    </a:solidFill>
                  </a:tcPr>
                </a:tc>
                <a:tc>
                  <a:txBody>
                    <a:bodyPr/>
                    <a:lstStyle/>
                    <a:p>
                      <a:pPr algn="ctr"/>
                      <a:r>
                        <a:rPr lang="en-IN" b="0" dirty="0" smtClean="0"/>
                        <a:t>1955</a:t>
                      </a:r>
                      <a:endParaRPr lang="en-IN" b="0" dirty="0"/>
                    </a:p>
                  </a:txBody>
                  <a:tcPr>
                    <a:solidFill>
                      <a:srgbClr val="92D050"/>
                    </a:solidFill>
                  </a:tcPr>
                </a:tc>
                <a:tc>
                  <a:txBody>
                    <a:bodyPr/>
                    <a:lstStyle/>
                    <a:p>
                      <a:pPr algn="ctr"/>
                      <a:r>
                        <a:rPr lang="en-IN" b="0" dirty="0" smtClean="0"/>
                        <a:t>1956</a:t>
                      </a:r>
                      <a:endParaRPr lang="en-IN" b="0" dirty="0"/>
                    </a:p>
                  </a:txBody>
                  <a:tcPr>
                    <a:solidFill>
                      <a:srgbClr val="92D050"/>
                    </a:solidFill>
                  </a:tcPr>
                </a:tc>
                <a:extLst>
                  <a:ext uri="{0D108BD9-81ED-4DB2-BD59-A6C34878D82A}">
                    <a16:rowId xmlns:a16="http://schemas.microsoft.com/office/drawing/2014/main" val="3001446706"/>
                  </a:ext>
                </a:extLst>
              </a:tr>
              <a:tr h="315430">
                <a:tc>
                  <a:txBody>
                    <a:bodyPr/>
                    <a:lstStyle/>
                    <a:p>
                      <a:pPr algn="ctr"/>
                      <a:r>
                        <a:rPr lang="en-IN" b="0" dirty="0" smtClean="0"/>
                        <a:t>1953</a:t>
                      </a:r>
                      <a:endParaRPr lang="en-IN" b="0" dirty="0"/>
                    </a:p>
                  </a:txBody>
                  <a:tcPr>
                    <a:solidFill>
                      <a:srgbClr val="00B0F0"/>
                    </a:solidFill>
                  </a:tcPr>
                </a:tc>
                <a:tc>
                  <a:txBody>
                    <a:bodyPr/>
                    <a:lstStyle/>
                    <a:p>
                      <a:pPr algn="ctr"/>
                      <a:r>
                        <a:rPr lang="en-IN" b="0" dirty="0" smtClean="0"/>
                        <a:t>1954</a:t>
                      </a:r>
                      <a:endParaRPr lang="en-IN" b="0" dirty="0"/>
                    </a:p>
                  </a:txBody>
                  <a:tcPr>
                    <a:solidFill>
                      <a:srgbClr val="00B0F0"/>
                    </a:solidFill>
                  </a:tcPr>
                </a:tc>
                <a:tc>
                  <a:txBody>
                    <a:bodyPr/>
                    <a:lstStyle/>
                    <a:p>
                      <a:pPr algn="ctr"/>
                      <a:r>
                        <a:rPr lang="en-IN" b="0" dirty="0" smtClean="0"/>
                        <a:t>1955</a:t>
                      </a:r>
                      <a:endParaRPr lang="en-IN" b="0" dirty="0"/>
                    </a:p>
                  </a:txBody>
                  <a:tcPr>
                    <a:solidFill>
                      <a:srgbClr val="00B0F0"/>
                    </a:solidFill>
                  </a:tcPr>
                </a:tc>
                <a:tc>
                  <a:txBody>
                    <a:bodyPr/>
                    <a:lstStyle/>
                    <a:p>
                      <a:pPr algn="ctr"/>
                      <a:r>
                        <a:rPr lang="en-IN" b="0" dirty="0" smtClean="0"/>
                        <a:t>1956</a:t>
                      </a:r>
                      <a:endParaRPr lang="en-IN" b="0" dirty="0"/>
                    </a:p>
                  </a:txBody>
                  <a:tcPr>
                    <a:solidFill>
                      <a:srgbClr val="00B0F0"/>
                    </a:solidFill>
                  </a:tcPr>
                </a:tc>
                <a:tc>
                  <a:txBody>
                    <a:bodyPr/>
                    <a:lstStyle/>
                    <a:p>
                      <a:pPr algn="ctr"/>
                      <a:r>
                        <a:rPr lang="en-IN" b="0" dirty="0" smtClean="0"/>
                        <a:t>1957</a:t>
                      </a:r>
                      <a:endParaRPr lang="en-IN" b="0" dirty="0"/>
                    </a:p>
                  </a:txBody>
                  <a:tcPr>
                    <a:solidFill>
                      <a:srgbClr val="00B0F0"/>
                    </a:solidFill>
                  </a:tcPr>
                </a:tc>
                <a:extLst>
                  <a:ext uri="{0D108BD9-81ED-4DB2-BD59-A6C34878D82A}">
                    <a16:rowId xmlns:a16="http://schemas.microsoft.com/office/drawing/2014/main" val="547104218"/>
                  </a:ext>
                </a:extLst>
              </a:tr>
              <a:tr h="315430">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extLst>
                  <a:ext uri="{0D108BD9-81ED-4DB2-BD59-A6C34878D82A}">
                    <a16:rowId xmlns:a16="http://schemas.microsoft.com/office/drawing/2014/main" val="3995328575"/>
                  </a:ext>
                </a:extLst>
              </a:tr>
              <a:tr h="315430">
                <a:tc>
                  <a:txBody>
                    <a:bodyPr/>
                    <a:lstStyle/>
                    <a:p>
                      <a:pPr algn="ctr"/>
                      <a:r>
                        <a:rPr lang="en-IN" b="0" dirty="0" smtClean="0"/>
                        <a:t>2011</a:t>
                      </a:r>
                      <a:endParaRPr lang="en-IN" b="0" dirty="0"/>
                    </a:p>
                  </a:txBody>
                  <a:tcPr>
                    <a:solidFill>
                      <a:schemeClr val="accent1">
                        <a:lumMod val="60000"/>
                        <a:lumOff val="40000"/>
                      </a:schemeClr>
                    </a:solidFill>
                  </a:tcPr>
                </a:tc>
                <a:tc>
                  <a:txBody>
                    <a:bodyPr/>
                    <a:lstStyle/>
                    <a:p>
                      <a:pPr algn="ctr"/>
                      <a:r>
                        <a:rPr lang="en-IN" b="0" dirty="0" smtClean="0"/>
                        <a:t>2012</a:t>
                      </a:r>
                      <a:endParaRPr lang="en-IN" b="0" dirty="0"/>
                    </a:p>
                  </a:txBody>
                  <a:tcPr>
                    <a:solidFill>
                      <a:schemeClr val="accent1">
                        <a:lumMod val="60000"/>
                        <a:lumOff val="40000"/>
                      </a:schemeClr>
                    </a:solidFill>
                  </a:tcPr>
                </a:tc>
                <a:tc>
                  <a:txBody>
                    <a:bodyPr/>
                    <a:lstStyle/>
                    <a:p>
                      <a:pPr algn="ctr"/>
                      <a:r>
                        <a:rPr lang="en-IN" b="0" dirty="0" smtClean="0"/>
                        <a:t>2013</a:t>
                      </a:r>
                      <a:endParaRPr lang="en-IN" b="0" dirty="0"/>
                    </a:p>
                  </a:txBody>
                  <a:tcPr>
                    <a:solidFill>
                      <a:schemeClr val="accent1">
                        <a:lumMod val="60000"/>
                        <a:lumOff val="40000"/>
                      </a:schemeClr>
                    </a:solidFill>
                  </a:tcPr>
                </a:tc>
                <a:tc>
                  <a:txBody>
                    <a:bodyPr/>
                    <a:lstStyle/>
                    <a:p>
                      <a:pPr algn="ctr"/>
                      <a:r>
                        <a:rPr lang="en-IN" b="0" dirty="0" smtClean="0"/>
                        <a:t>2014</a:t>
                      </a:r>
                      <a:endParaRPr lang="en-IN" b="0" dirty="0"/>
                    </a:p>
                  </a:txBody>
                  <a:tcPr>
                    <a:solidFill>
                      <a:schemeClr val="accent1">
                        <a:lumMod val="60000"/>
                        <a:lumOff val="40000"/>
                      </a:schemeClr>
                    </a:solidFill>
                  </a:tcPr>
                </a:tc>
                <a:tc>
                  <a:txBody>
                    <a:bodyPr/>
                    <a:lstStyle/>
                    <a:p>
                      <a:pPr algn="ctr"/>
                      <a:r>
                        <a:rPr lang="en-IN" b="0" dirty="0" smtClean="0"/>
                        <a:t>2015</a:t>
                      </a:r>
                      <a:endParaRPr lang="en-IN" b="0" dirty="0"/>
                    </a:p>
                  </a:txBody>
                  <a:tcPr>
                    <a:solidFill>
                      <a:schemeClr val="accent1">
                        <a:lumMod val="60000"/>
                        <a:lumOff val="40000"/>
                      </a:schemeClr>
                    </a:solidFill>
                  </a:tcPr>
                </a:tc>
                <a:extLst>
                  <a:ext uri="{0D108BD9-81ED-4DB2-BD59-A6C34878D82A}">
                    <a16:rowId xmlns:a16="http://schemas.microsoft.com/office/drawing/2014/main" val="3673096724"/>
                  </a:ext>
                </a:extLst>
              </a:tr>
              <a:tr h="315430">
                <a:tc>
                  <a:txBody>
                    <a:bodyPr/>
                    <a:lstStyle/>
                    <a:p>
                      <a:pPr algn="ctr"/>
                      <a:r>
                        <a:rPr lang="en-IN" b="0" dirty="0" smtClean="0"/>
                        <a:t>2012</a:t>
                      </a:r>
                      <a:endParaRPr lang="en-IN" b="0" dirty="0"/>
                    </a:p>
                  </a:txBody>
                  <a:tcPr>
                    <a:solidFill>
                      <a:schemeClr val="accent6">
                        <a:lumMod val="40000"/>
                        <a:lumOff val="60000"/>
                      </a:schemeClr>
                    </a:solidFill>
                  </a:tcPr>
                </a:tc>
                <a:tc>
                  <a:txBody>
                    <a:bodyPr/>
                    <a:lstStyle/>
                    <a:p>
                      <a:pPr algn="ctr"/>
                      <a:r>
                        <a:rPr lang="en-IN" b="0" dirty="0" smtClean="0"/>
                        <a:t>2013</a:t>
                      </a:r>
                      <a:endParaRPr lang="en-IN" b="0" dirty="0"/>
                    </a:p>
                  </a:txBody>
                  <a:tcPr>
                    <a:solidFill>
                      <a:schemeClr val="accent6">
                        <a:lumMod val="40000"/>
                        <a:lumOff val="60000"/>
                      </a:schemeClr>
                    </a:solidFill>
                  </a:tcPr>
                </a:tc>
                <a:tc>
                  <a:txBody>
                    <a:bodyPr/>
                    <a:lstStyle/>
                    <a:p>
                      <a:pPr algn="ctr"/>
                      <a:r>
                        <a:rPr lang="en-IN" b="0" dirty="0" smtClean="0"/>
                        <a:t>2014</a:t>
                      </a:r>
                      <a:endParaRPr lang="en-IN" b="0" dirty="0"/>
                    </a:p>
                  </a:txBody>
                  <a:tcPr>
                    <a:solidFill>
                      <a:schemeClr val="accent6">
                        <a:lumMod val="40000"/>
                        <a:lumOff val="60000"/>
                      </a:schemeClr>
                    </a:solidFill>
                  </a:tcPr>
                </a:tc>
                <a:tc>
                  <a:txBody>
                    <a:bodyPr/>
                    <a:lstStyle/>
                    <a:p>
                      <a:pPr algn="ctr"/>
                      <a:r>
                        <a:rPr lang="en-IN" b="0" dirty="0" smtClean="0"/>
                        <a:t>2015</a:t>
                      </a:r>
                      <a:endParaRPr lang="en-IN" b="0" dirty="0"/>
                    </a:p>
                  </a:txBody>
                  <a:tcPr>
                    <a:solidFill>
                      <a:schemeClr val="accent6">
                        <a:lumMod val="40000"/>
                        <a:lumOff val="60000"/>
                      </a:schemeClr>
                    </a:solidFill>
                  </a:tcPr>
                </a:tc>
                <a:tc>
                  <a:txBody>
                    <a:bodyPr/>
                    <a:lstStyle/>
                    <a:p>
                      <a:pPr algn="ctr"/>
                      <a:r>
                        <a:rPr lang="en-IN" b="0" dirty="0" smtClean="0"/>
                        <a:t>2016</a:t>
                      </a:r>
                      <a:endParaRPr lang="en-IN" b="0" dirty="0"/>
                    </a:p>
                  </a:txBody>
                  <a:tcPr>
                    <a:solidFill>
                      <a:schemeClr val="accent6">
                        <a:lumMod val="40000"/>
                        <a:lumOff val="60000"/>
                      </a:schemeClr>
                    </a:solidFill>
                  </a:tcPr>
                </a:tc>
                <a:extLst>
                  <a:ext uri="{0D108BD9-81ED-4DB2-BD59-A6C34878D82A}">
                    <a16:rowId xmlns:a16="http://schemas.microsoft.com/office/drawing/2014/main" val="4105682006"/>
                  </a:ext>
                </a:extLst>
              </a:tr>
            </a:tbl>
          </a:graphicData>
        </a:graphic>
      </p:graphicFrame>
      <p:sp>
        <p:nvSpPr>
          <p:cNvPr id="6" name="TextBox 5"/>
          <p:cNvSpPr txBox="1"/>
          <p:nvPr/>
        </p:nvSpPr>
        <p:spPr>
          <a:xfrm>
            <a:off x="2092036" y="2397228"/>
            <a:ext cx="1524000" cy="369332"/>
          </a:xfrm>
          <a:prstGeom prst="rect">
            <a:avLst/>
          </a:prstGeom>
          <a:noFill/>
        </p:spPr>
        <p:txBody>
          <a:bodyPr wrap="square" rtlCol="0">
            <a:spAutoFit/>
          </a:bodyPr>
          <a:lstStyle/>
          <a:p>
            <a:r>
              <a:rPr lang="en-IN" dirty="0" smtClean="0">
                <a:latin typeface="Consolas" panose="020B0609020204030204" pitchFamily="49" charset="0"/>
              </a:rPr>
              <a:t>ANN input</a:t>
            </a:r>
            <a:endParaRPr lang="en-IN" dirty="0">
              <a:latin typeface="Consolas" panose="020B0609020204030204" pitchFamily="49" charset="0"/>
            </a:endParaRPr>
          </a:p>
        </p:txBody>
      </p:sp>
      <p:sp>
        <p:nvSpPr>
          <p:cNvPr id="7" name="TextBox 6"/>
          <p:cNvSpPr txBox="1"/>
          <p:nvPr/>
        </p:nvSpPr>
        <p:spPr>
          <a:xfrm>
            <a:off x="8933294" y="2378371"/>
            <a:ext cx="1524000" cy="369332"/>
          </a:xfrm>
          <a:prstGeom prst="rect">
            <a:avLst/>
          </a:prstGeom>
          <a:noFill/>
        </p:spPr>
        <p:txBody>
          <a:bodyPr wrap="square" rtlCol="0">
            <a:spAutoFit/>
          </a:bodyPr>
          <a:lstStyle/>
          <a:p>
            <a:r>
              <a:rPr lang="en-IN" dirty="0" smtClean="0">
                <a:latin typeface="Consolas" panose="020B0609020204030204" pitchFamily="49" charset="0"/>
              </a:rPr>
              <a:t>ANN output</a:t>
            </a:r>
            <a:endParaRPr lang="en-IN" dirty="0">
              <a:latin typeface="Consolas" panose="020B0609020204030204" pitchFamily="49" charset="0"/>
            </a:endParaRPr>
          </a:p>
        </p:txBody>
      </p:sp>
      <p:sp>
        <p:nvSpPr>
          <p:cNvPr id="8" name="TextBox 7"/>
          <p:cNvSpPr txBox="1"/>
          <p:nvPr/>
        </p:nvSpPr>
        <p:spPr>
          <a:xfrm>
            <a:off x="1652155" y="5408430"/>
            <a:ext cx="2157845" cy="369332"/>
          </a:xfrm>
          <a:prstGeom prst="rect">
            <a:avLst/>
          </a:prstGeom>
          <a:noFill/>
        </p:spPr>
        <p:txBody>
          <a:bodyPr wrap="square" rtlCol="0">
            <a:spAutoFit/>
          </a:bodyPr>
          <a:lstStyle/>
          <a:p>
            <a:r>
              <a:rPr lang="en-IN" dirty="0" smtClean="0">
                <a:latin typeface="Consolas" panose="020B0609020204030204" pitchFamily="49" charset="0"/>
              </a:rPr>
              <a:t>ANN query-Input</a:t>
            </a:r>
            <a:endParaRPr lang="en-IN" dirty="0">
              <a:latin typeface="Consolas" panose="020B0609020204030204" pitchFamily="49"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045464902"/>
              </p:ext>
            </p:extLst>
          </p:nvPr>
        </p:nvGraphicFramePr>
        <p:xfrm>
          <a:off x="557647" y="5810445"/>
          <a:ext cx="5008675" cy="370840"/>
        </p:xfrm>
        <a:graphic>
          <a:graphicData uri="http://schemas.openxmlformats.org/drawingml/2006/table">
            <a:tbl>
              <a:tblPr firstRow="1" bandRow="1">
                <a:tableStyleId>{D7AC3CCA-C797-4891-BE02-D94E43425B78}</a:tableStyleId>
              </a:tblPr>
              <a:tblGrid>
                <a:gridCol w="1001735">
                  <a:extLst>
                    <a:ext uri="{9D8B030D-6E8A-4147-A177-3AD203B41FA5}">
                      <a16:colId xmlns:a16="http://schemas.microsoft.com/office/drawing/2014/main" val="2224106849"/>
                    </a:ext>
                  </a:extLst>
                </a:gridCol>
                <a:gridCol w="1001735">
                  <a:extLst>
                    <a:ext uri="{9D8B030D-6E8A-4147-A177-3AD203B41FA5}">
                      <a16:colId xmlns:a16="http://schemas.microsoft.com/office/drawing/2014/main" val="74570919"/>
                    </a:ext>
                  </a:extLst>
                </a:gridCol>
                <a:gridCol w="1001735">
                  <a:extLst>
                    <a:ext uri="{9D8B030D-6E8A-4147-A177-3AD203B41FA5}">
                      <a16:colId xmlns:a16="http://schemas.microsoft.com/office/drawing/2014/main" val="2013013888"/>
                    </a:ext>
                  </a:extLst>
                </a:gridCol>
                <a:gridCol w="1001735">
                  <a:extLst>
                    <a:ext uri="{9D8B030D-6E8A-4147-A177-3AD203B41FA5}">
                      <a16:colId xmlns:a16="http://schemas.microsoft.com/office/drawing/2014/main" val="3162851560"/>
                    </a:ext>
                  </a:extLst>
                </a:gridCol>
                <a:gridCol w="1001735">
                  <a:extLst>
                    <a:ext uri="{9D8B030D-6E8A-4147-A177-3AD203B41FA5}">
                      <a16:colId xmlns:a16="http://schemas.microsoft.com/office/drawing/2014/main" val="1090373857"/>
                    </a:ext>
                  </a:extLst>
                </a:gridCol>
              </a:tblGrid>
              <a:tr h="370840">
                <a:tc>
                  <a:txBody>
                    <a:bodyPr/>
                    <a:lstStyle/>
                    <a:p>
                      <a:pPr algn="ctr"/>
                      <a:r>
                        <a:rPr lang="en-IN" b="0" dirty="0" smtClean="0"/>
                        <a:t>2013</a:t>
                      </a:r>
                      <a:endParaRPr lang="en-IN" b="0" dirty="0"/>
                    </a:p>
                  </a:txBody>
                  <a:tcPr>
                    <a:solidFill>
                      <a:srgbClr val="F96155"/>
                    </a:solidFill>
                  </a:tcPr>
                </a:tc>
                <a:tc>
                  <a:txBody>
                    <a:bodyPr/>
                    <a:lstStyle/>
                    <a:p>
                      <a:pPr algn="ctr"/>
                      <a:r>
                        <a:rPr lang="en-IN" b="0" dirty="0" smtClean="0"/>
                        <a:t>2014</a:t>
                      </a:r>
                      <a:endParaRPr lang="en-IN" b="0" dirty="0"/>
                    </a:p>
                  </a:txBody>
                  <a:tcPr>
                    <a:solidFill>
                      <a:srgbClr val="F96155"/>
                    </a:solidFill>
                  </a:tcPr>
                </a:tc>
                <a:tc>
                  <a:txBody>
                    <a:bodyPr/>
                    <a:lstStyle/>
                    <a:p>
                      <a:pPr algn="ctr"/>
                      <a:r>
                        <a:rPr lang="en-IN" b="0" dirty="0" smtClean="0"/>
                        <a:t>2015</a:t>
                      </a:r>
                      <a:endParaRPr lang="en-IN" b="0" dirty="0"/>
                    </a:p>
                  </a:txBody>
                  <a:tcPr>
                    <a:solidFill>
                      <a:srgbClr val="F96155"/>
                    </a:solidFill>
                  </a:tcPr>
                </a:tc>
                <a:tc>
                  <a:txBody>
                    <a:bodyPr/>
                    <a:lstStyle/>
                    <a:p>
                      <a:pPr algn="ctr"/>
                      <a:r>
                        <a:rPr lang="en-IN" b="0" dirty="0" smtClean="0"/>
                        <a:t>2016</a:t>
                      </a:r>
                      <a:endParaRPr lang="en-IN" b="0" dirty="0"/>
                    </a:p>
                  </a:txBody>
                  <a:tcPr>
                    <a:solidFill>
                      <a:srgbClr val="F96155"/>
                    </a:solidFill>
                  </a:tcPr>
                </a:tc>
                <a:tc>
                  <a:txBody>
                    <a:bodyPr/>
                    <a:lstStyle/>
                    <a:p>
                      <a:pPr algn="ctr"/>
                      <a:r>
                        <a:rPr lang="en-IN" b="0" dirty="0" smtClean="0"/>
                        <a:t>2017</a:t>
                      </a:r>
                      <a:endParaRPr lang="en-IN" b="0" dirty="0"/>
                    </a:p>
                  </a:txBody>
                  <a:tcPr>
                    <a:solidFill>
                      <a:srgbClr val="F96155"/>
                    </a:solidFill>
                  </a:tcPr>
                </a:tc>
                <a:extLst>
                  <a:ext uri="{0D108BD9-81ED-4DB2-BD59-A6C34878D82A}">
                    <a16:rowId xmlns:a16="http://schemas.microsoft.com/office/drawing/2014/main" val="157451457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798377546"/>
              </p:ext>
            </p:extLst>
          </p:nvPr>
        </p:nvGraphicFramePr>
        <p:xfrm>
          <a:off x="9127258" y="2766560"/>
          <a:ext cx="894840" cy="2567505"/>
        </p:xfrm>
        <a:graphic>
          <a:graphicData uri="http://schemas.openxmlformats.org/drawingml/2006/table">
            <a:tbl>
              <a:tblPr firstRow="1" bandRow="1">
                <a:tableStyleId>{D7AC3CCA-C797-4891-BE02-D94E43425B78}</a:tableStyleId>
              </a:tblPr>
              <a:tblGrid>
                <a:gridCol w="894840">
                  <a:extLst>
                    <a:ext uri="{9D8B030D-6E8A-4147-A177-3AD203B41FA5}">
                      <a16:colId xmlns:a16="http://schemas.microsoft.com/office/drawing/2014/main" val="673256668"/>
                    </a:ext>
                  </a:extLst>
                </a:gridCol>
              </a:tblGrid>
              <a:tr h="367197">
                <a:tc>
                  <a:txBody>
                    <a:bodyPr/>
                    <a:lstStyle/>
                    <a:p>
                      <a:pPr algn="ctr"/>
                      <a:r>
                        <a:rPr lang="en-IN" b="0" dirty="0" smtClean="0"/>
                        <a:t>1955</a:t>
                      </a:r>
                      <a:endParaRPr lang="en-IN" b="0" dirty="0"/>
                    </a:p>
                  </a:txBody>
                  <a:tcPr>
                    <a:solidFill>
                      <a:srgbClr val="FFFF00"/>
                    </a:solidFill>
                  </a:tcPr>
                </a:tc>
                <a:extLst>
                  <a:ext uri="{0D108BD9-81ED-4DB2-BD59-A6C34878D82A}">
                    <a16:rowId xmlns:a16="http://schemas.microsoft.com/office/drawing/2014/main" val="842456963"/>
                  </a:ext>
                </a:extLst>
              </a:tr>
              <a:tr h="367197">
                <a:tc>
                  <a:txBody>
                    <a:bodyPr/>
                    <a:lstStyle/>
                    <a:p>
                      <a:pPr algn="ctr"/>
                      <a:r>
                        <a:rPr lang="en-IN" b="0" dirty="0" smtClean="0"/>
                        <a:t>1956</a:t>
                      </a:r>
                      <a:endParaRPr lang="en-IN" b="0" dirty="0"/>
                    </a:p>
                  </a:txBody>
                  <a:tcPr>
                    <a:solidFill>
                      <a:srgbClr val="00B050"/>
                    </a:solidFill>
                  </a:tcPr>
                </a:tc>
                <a:extLst>
                  <a:ext uri="{0D108BD9-81ED-4DB2-BD59-A6C34878D82A}">
                    <a16:rowId xmlns:a16="http://schemas.microsoft.com/office/drawing/2014/main" val="2549336505"/>
                  </a:ext>
                </a:extLst>
              </a:tr>
              <a:tr h="367197">
                <a:tc>
                  <a:txBody>
                    <a:bodyPr/>
                    <a:lstStyle/>
                    <a:p>
                      <a:pPr algn="ctr"/>
                      <a:r>
                        <a:rPr lang="en-IN" b="0" dirty="0" smtClean="0"/>
                        <a:t>1957</a:t>
                      </a:r>
                      <a:endParaRPr lang="en-IN" b="0" dirty="0"/>
                    </a:p>
                  </a:txBody>
                  <a:tcPr>
                    <a:solidFill>
                      <a:srgbClr val="92D050"/>
                    </a:solidFill>
                  </a:tcPr>
                </a:tc>
                <a:extLst>
                  <a:ext uri="{0D108BD9-81ED-4DB2-BD59-A6C34878D82A}">
                    <a16:rowId xmlns:a16="http://schemas.microsoft.com/office/drawing/2014/main" val="1540858971"/>
                  </a:ext>
                </a:extLst>
              </a:tr>
              <a:tr h="367197">
                <a:tc>
                  <a:txBody>
                    <a:bodyPr/>
                    <a:lstStyle/>
                    <a:p>
                      <a:pPr algn="ctr"/>
                      <a:r>
                        <a:rPr lang="en-IN" b="0" dirty="0" smtClean="0"/>
                        <a:t>1958</a:t>
                      </a:r>
                      <a:endParaRPr lang="en-IN" b="0" dirty="0"/>
                    </a:p>
                  </a:txBody>
                  <a:tcPr>
                    <a:solidFill>
                      <a:srgbClr val="00B0F0"/>
                    </a:solidFill>
                  </a:tcPr>
                </a:tc>
                <a:extLst>
                  <a:ext uri="{0D108BD9-81ED-4DB2-BD59-A6C34878D82A}">
                    <a16:rowId xmlns:a16="http://schemas.microsoft.com/office/drawing/2014/main" val="843604353"/>
                  </a:ext>
                </a:extLst>
              </a:tr>
              <a:tr h="367197">
                <a:tc>
                  <a:txBody>
                    <a:bodyPr/>
                    <a:lstStyle/>
                    <a:p>
                      <a:pPr algn="ctr"/>
                      <a:r>
                        <a:rPr lang="en-IN" b="0" dirty="0" smtClean="0"/>
                        <a:t>…</a:t>
                      </a:r>
                      <a:endParaRPr lang="en-IN" b="0" dirty="0"/>
                    </a:p>
                  </a:txBody>
                  <a:tcPr/>
                </a:tc>
                <a:extLst>
                  <a:ext uri="{0D108BD9-81ED-4DB2-BD59-A6C34878D82A}">
                    <a16:rowId xmlns:a16="http://schemas.microsoft.com/office/drawing/2014/main" val="2931746413"/>
                  </a:ext>
                </a:extLst>
              </a:tr>
              <a:tr h="362167">
                <a:tc>
                  <a:txBody>
                    <a:bodyPr/>
                    <a:lstStyle/>
                    <a:p>
                      <a:pPr algn="ctr"/>
                      <a:r>
                        <a:rPr lang="en-IN" b="0" dirty="0" smtClean="0"/>
                        <a:t>2016</a:t>
                      </a:r>
                      <a:endParaRPr lang="en-IN" b="0" dirty="0"/>
                    </a:p>
                  </a:txBody>
                  <a:tcPr>
                    <a:solidFill>
                      <a:schemeClr val="accent1">
                        <a:lumMod val="60000"/>
                        <a:lumOff val="40000"/>
                      </a:schemeClr>
                    </a:solidFill>
                  </a:tcPr>
                </a:tc>
                <a:extLst>
                  <a:ext uri="{0D108BD9-81ED-4DB2-BD59-A6C34878D82A}">
                    <a16:rowId xmlns:a16="http://schemas.microsoft.com/office/drawing/2014/main" val="1358316913"/>
                  </a:ext>
                </a:extLst>
              </a:tr>
              <a:tr h="362167">
                <a:tc>
                  <a:txBody>
                    <a:bodyPr/>
                    <a:lstStyle/>
                    <a:p>
                      <a:pPr algn="ctr"/>
                      <a:r>
                        <a:rPr lang="en-IN" b="0" dirty="0" smtClean="0"/>
                        <a:t>2017</a:t>
                      </a:r>
                      <a:endParaRPr lang="en-IN" b="0" dirty="0"/>
                    </a:p>
                  </a:txBody>
                  <a:tcPr>
                    <a:solidFill>
                      <a:schemeClr val="accent6">
                        <a:lumMod val="40000"/>
                        <a:lumOff val="60000"/>
                      </a:schemeClr>
                    </a:solidFill>
                  </a:tcPr>
                </a:tc>
                <a:extLst>
                  <a:ext uri="{0D108BD9-81ED-4DB2-BD59-A6C34878D82A}">
                    <a16:rowId xmlns:a16="http://schemas.microsoft.com/office/drawing/2014/main" val="1297270332"/>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108426280"/>
              </p:ext>
            </p:extLst>
          </p:nvPr>
        </p:nvGraphicFramePr>
        <p:xfrm>
          <a:off x="9127258" y="5841121"/>
          <a:ext cx="891308" cy="370840"/>
        </p:xfrm>
        <a:graphic>
          <a:graphicData uri="http://schemas.openxmlformats.org/drawingml/2006/table">
            <a:tbl>
              <a:tblPr firstRow="1" bandRow="1">
                <a:tableStyleId>{D7AC3CCA-C797-4891-BE02-D94E43425B78}</a:tableStyleId>
              </a:tblPr>
              <a:tblGrid>
                <a:gridCol w="891308">
                  <a:extLst>
                    <a:ext uri="{9D8B030D-6E8A-4147-A177-3AD203B41FA5}">
                      <a16:colId xmlns:a16="http://schemas.microsoft.com/office/drawing/2014/main" val="3710398620"/>
                    </a:ext>
                  </a:extLst>
                </a:gridCol>
              </a:tblGrid>
              <a:tr h="370840">
                <a:tc>
                  <a:txBody>
                    <a:bodyPr/>
                    <a:lstStyle/>
                    <a:p>
                      <a:pPr algn="ctr"/>
                      <a:r>
                        <a:rPr lang="en-IN" b="0" dirty="0" smtClean="0"/>
                        <a:t>2018 ?</a:t>
                      </a:r>
                      <a:endParaRPr lang="en-IN" b="0" dirty="0"/>
                    </a:p>
                  </a:txBody>
                  <a:tcPr>
                    <a:solidFill>
                      <a:srgbClr val="F96155"/>
                    </a:solidFill>
                  </a:tcPr>
                </a:tc>
                <a:extLst>
                  <a:ext uri="{0D108BD9-81ED-4DB2-BD59-A6C34878D82A}">
                    <a16:rowId xmlns:a16="http://schemas.microsoft.com/office/drawing/2014/main" val="956626628"/>
                  </a:ext>
                </a:extLst>
              </a:tr>
            </a:tbl>
          </a:graphicData>
        </a:graphic>
      </p:graphicFrame>
      <p:sp>
        <p:nvSpPr>
          <p:cNvPr id="12" name="TextBox 11"/>
          <p:cNvSpPr txBox="1"/>
          <p:nvPr/>
        </p:nvSpPr>
        <p:spPr>
          <a:xfrm>
            <a:off x="8484819" y="5471789"/>
            <a:ext cx="2686629" cy="369332"/>
          </a:xfrm>
          <a:prstGeom prst="rect">
            <a:avLst/>
          </a:prstGeom>
          <a:noFill/>
        </p:spPr>
        <p:txBody>
          <a:bodyPr wrap="square" rtlCol="0">
            <a:spAutoFit/>
          </a:bodyPr>
          <a:lstStyle/>
          <a:p>
            <a:r>
              <a:rPr lang="en-IN" dirty="0" smtClean="0">
                <a:latin typeface="Consolas" panose="020B0609020204030204" pitchFamily="49" charset="0"/>
              </a:rPr>
              <a:t>ANN query-output</a:t>
            </a:r>
            <a:endParaRPr lang="en-IN" dirty="0">
              <a:latin typeface="Consolas" panose="020B0609020204030204" pitchFamily="49"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398110373"/>
              </p:ext>
            </p:extLst>
          </p:nvPr>
        </p:nvGraphicFramePr>
        <p:xfrm>
          <a:off x="557646" y="6294010"/>
          <a:ext cx="5008675" cy="370840"/>
        </p:xfrm>
        <a:graphic>
          <a:graphicData uri="http://schemas.openxmlformats.org/drawingml/2006/table">
            <a:tbl>
              <a:tblPr firstRow="1" bandRow="1">
                <a:tableStyleId>{D7AC3CCA-C797-4891-BE02-D94E43425B78}</a:tableStyleId>
              </a:tblPr>
              <a:tblGrid>
                <a:gridCol w="1001735">
                  <a:extLst>
                    <a:ext uri="{9D8B030D-6E8A-4147-A177-3AD203B41FA5}">
                      <a16:colId xmlns:a16="http://schemas.microsoft.com/office/drawing/2014/main" val="2224106849"/>
                    </a:ext>
                  </a:extLst>
                </a:gridCol>
                <a:gridCol w="1001735">
                  <a:extLst>
                    <a:ext uri="{9D8B030D-6E8A-4147-A177-3AD203B41FA5}">
                      <a16:colId xmlns:a16="http://schemas.microsoft.com/office/drawing/2014/main" val="74570919"/>
                    </a:ext>
                  </a:extLst>
                </a:gridCol>
                <a:gridCol w="1001735">
                  <a:extLst>
                    <a:ext uri="{9D8B030D-6E8A-4147-A177-3AD203B41FA5}">
                      <a16:colId xmlns:a16="http://schemas.microsoft.com/office/drawing/2014/main" val="2013013888"/>
                    </a:ext>
                  </a:extLst>
                </a:gridCol>
                <a:gridCol w="1001735">
                  <a:extLst>
                    <a:ext uri="{9D8B030D-6E8A-4147-A177-3AD203B41FA5}">
                      <a16:colId xmlns:a16="http://schemas.microsoft.com/office/drawing/2014/main" val="3162851560"/>
                    </a:ext>
                  </a:extLst>
                </a:gridCol>
                <a:gridCol w="1001735">
                  <a:extLst>
                    <a:ext uri="{9D8B030D-6E8A-4147-A177-3AD203B41FA5}">
                      <a16:colId xmlns:a16="http://schemas.microsoft.com/office/drawing/2014/main" val="1090373857"/>
                    </a:ext>
                  </a:extLst>
                </a:gridCol>
              </a:tblGrid>
              <a:tr h="370840">
                <a:tc>
                  <a:txBody>
                    <a:bodyPr/>
                    <a:lstStyle/>
                    <a:p>
                      <a:pPr algn="ctr"/>
                      <a:r>
                        <a:rPr lang="en-IN" b="0" dirty="0" smtClean="0"/>
                        <a:t>2014</a:t>
                      </a:r>
                      <a:endParaRPr lang="en-IN" b="0" dirty="0"/>
                    </a:p>
                  </a:txBody>
                  <a:tcPr>
                    <a:solidFill>
                      <a:schemeClr val="accent2"/>
                    </a:solidFill>
                  </a:tcPr>
                </a:tc>
                <a:tc>
                  <a:txBody>
                    <a:bodyPr/>
                    <a:lstStyle/>
                    <a:p>
                      <a:pPr algn="ctr"/>
                      <a:r>
                        <a:rPr lang="en-IN" b="0" dirty="0" smtClean="0"/>
                        <a:t>2015</a:t>
                      </a:r>
                      <a:endParaRPr lang="en-IN" b="0" dirty="0"/>
                    </a:p>
                  </a:txBody>
                  <a:tcPr>
                    <a:solidFill>
                      <a:schemeClr val="accent2"/>
                    </a:solidFill>
                  </a:tcPr>
                </a:tc>
                <a:tc>
                  <a:txBody>
                    <a:bodyPr/>
                    <a:lstStyle/>
                    <a:p>
                      <a:pPr algn="ctr"/>
                      <a:r>
                        <a:rPr lang="en-IN" b="0" dirty="0" smtClean="0"/>
                        <a:t>2016</a:t>
                      </a:r>
                      <a:endParaRPr lang="en-IN" b="0" dirty="0"/>
                    </a:p>
                  </a:txBody>
                  <a:tcPr>
                    <a:solidFill>
                      <a:schemeClr val="accent2"/>
                    </a:solidFill>
                  </a:tcPr>
                </a:tc>
                <a:tc>
                  <a:txBody>
                    <a:bodyPr/>
                    <a:lstStyle/>
                    <a:p>
                      <a:pPr algn="ctr"/>
                      <a:r>
                        <a:rPr lang="en-IN" b="0" dirty="0" smtClean="0"/>
                        <a:t>2017</a:t>
                      </a:r>
                      <a:endParaRPr lang="en-IN" b="0" dirty="0"/>
                    </a:p>
                  </a:txBody>
                  <a:tcPr>
                    <a:solidFill>
                      <a:schemeClr val="accent2"/>
                    </a:solidFill>
                  </a:tcPr>
                </a:tc>
                <a:tc>
                  <a:txBody>
                    <a:bodyPr/>
                    <a:lstStyle/>
                    <a:p>
                      <a:pPr algn="ctr"/>
                      <a:r>
                        <a:rPr lang="en-IN" b="0" dirty="0" smtClean="0"/>
                        <a:t>2018</a:t>
                      </a:r>
                      <a:endParaRPr lang="en-IN" b="0" dirty="0"/>
                    </a:p>
                  </a:txBody>
                  <a:tcPr>
                    <a:solidFill>
                      <a:schemeClr val="accent2"/>
                    </a:solidFill>
                  </a:tcPr>
                </a:tc>
                <a:extLst>
                  <a:ext uri="{0D108BD9-81ED-4DB2-BD59-A6C34878D82A}">
                    <a16:rowId xmlns:a16="http://schemas.microsoft.com/office/drawing/2014/main" val="157451457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934849913"/>
              </p:ext>
            </p:extLst>
          </p:nvPr>
        </p:nvGraphicFramePr>
        <p:xfrm>
          <a:off x="9127258" y="6299400"/>
          <a:ext cx="891308" cy="370840"/>
        </p:xfrm>
        <a:graphic>
          <a:graphicData uri="http://schemas.openxmlformats.org/drawingml/2006/table">
            <a:tbl>
              <a:tblPr firstRow="1" bandRow="1">
                <a:tableStyleId>{D7AC3CCA-C797-4891-BE02-D94E43425B78}</a:tableStyleId>
              </a:tblPr>
              <a:tblGrid>
                <a:gridCol w="891308">
                  <a:extLst>
                    <a:ext uri="{9D8B030D-6E8A-4147-A177-3AD203B41FA5}">
                      <a16:colId xmlns:a16="http://schemas.microsoft.com/office/drawing/2014/main" val="3710398620"/>
                    </a:ext>
                  </a:extLst>
                </a:gridCol>
              </a:tblGrid>
              <a:tr h="370840">
                <a:tc>
                  <a:txBody>
                    <a:bodyPr/>
                    <a:lstStyle/>
                    <a:p>
                      <a:pPr algn="ctr"/>
                      <a:r>
                        <a:rPr lang="en-IN" b="0" dirty="0" smtClean="0"/>
                        <a:t>2019 ?</a:t>
                      </a:r>
                      <a:endParaRPr lang="en-IN" b="0" dirty="0"/>
                    </a:p>
                  </a:txBody>
                  <a:tcPr>
                    <a:solidFill>
                      <a:schemeClr val="accent2"/>
                    </a:solidFill>
                  </a:tcPr>
                </a:tc>
                <a:extLst>
                  <a:ext uri="{0D108BD9-81ED-4DB2-BD59-A6C34878D82A}">
                    <a16:rowId xmlns:a16="http://schemas.microsoft.com/office/drawing/2014/main" val="956626628"/>
                  </a:ext>
                </a:extLst>
              </a:tr>
            </a:tbl>
          </a:graphicData>
        </a:graphic>
      </p:graphicFrame>
      <p:sp>
        <p:nvSpPr>
          <p:cNvPr id="15" name="TextBox 14"/>
          <p:cNvSpPr txBox="1"/>
          <p:nvPr/>
        </p:nvSpPr>
        <p:spPr>
          <a:xfrm>
            <a:off x="6373090" y="3384505"/>
            <a:ext cx="1842656" cy="369332"/>
          </a:xfrm>
          <a:prstGeom prst="rect">
            <a:avLst/>
          </a:prstGeom>
          <a:noFill/>
        </p:spPr>
        <p:txBody>
          <a:bodyPr wrap="square" rtlCol="0">
            <a:spAutoFit/>
          </a:bodyPr>
          <a:lstStyle/>
          <a:p>
            <a:r>
              <a:rPr lang="en-IN" b="1" dirty="0" smtClean="0">
                <a:latin typeface="Consolas" panose="020B0609020204030204" pitchFamily="49" charset="0"/>
              </a:rPr>
              <a:t>Training data</a:t>
            </a:r>
            <a:endParaRPr lang="en-IN" b="1" dirty="0">
              <a:latin typeface="Consolas" panose="020B0609020204030204" pitchFamily="49" charset="0"/>
            </a:endParaRPr>
          </a:p>
        </p:txBody>
      </p:sp>
    </p:spTree>
    <p:extLst>
      <p:ext uri="{BB962C8B-B14F-4D97-AF65-F5344CB8AC3E}">
        <p14:creationId xmlns:p14="http://schemas.microsoft.com/office/powerpoint/2010/main" val="40558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down)">
                                      <p:cBhvr>
                                        <p:cTn id="11" dur="580">
                                          <p:stCondLst>
                                            <p:cond delay="0"/>
                                          </p:stCondLst>
                                        </p:cTn>
                                        <p:tgtEl>
                                          <p:spTgt spid="5">
                                            <p:txEl>
                                              <p:pRg st="0" end="0"/>
                                            </p:txEl>
                                          </p:spTgt>
                                        </p:tgtEl>
                                      </p:cBhvr>
                                    </p:animEffect>
                                    <p:anim calcmode="lin" valueType="num">
                                      <p:cBhvr>
                                        <p:cTn id="12"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xEl>
                                              <p:pRg st="0" end="0"/>
                                            </p:txEl>
                                          </p:spTgt>
                                        </p:tgtEl>
                                      </p:cBhvr>
                                      <p:to x="100000" y="60000"/>
                                    </p:animScale>
                                    <p:animScale>
                                      <p:cBhvr>
                                        <p:cTn id="18" dur="166" decel="50000">
                                          <p:stCondLst>
                                            <p:cond delay="676"/>
                                          </p:stCondLst>
                                        </p:cTn>
                                        <p:tgtEl>
                                          <p:spTgt spid="5">
                                            <p:txEl>
                                              <p:pRg st="0" end="0"/>
                                            </p:txEl>
                                          </p:spTgt>
                                        </p:tgtEl>
                                      </p:cBhvr>
                                      <p:to x="100000" y="100000"/>
                                    </p:animScale>
                                    <p:animScale>
                                      <p:cBhvr>
                                        <p:cTn id="19" dur="26">
                                          <p:stCondLst>
                                            <p:cond delay="1312"/>
                                          </p:stCondLst>
                                        </p:cTn>
                                        <p:tgtEl>
                                          <p:spTgt spid="5">
                                            <p:txEl>
                                              <p:pRg st="0" end="0"/>
                                            </p:txEl>
                                          </p:spTgt>
                                        </p:tgtEl>
                                      </p:cBhvr>
                                      <p:to x="100000" y="80000"/>
                                    </p:animScale>
                                    <p:animScale>
                                      <p:cBhvr>
                                        <p:cTn id="20" dur="166" decel="50000">
                                          <p:stCondLst>
                                            <p:cond delay="1338"/>
                                          </p:stCondLst>
                                        </p:cTn>
                                        <p:tgtEl>
                                          <p:spTgt spid="5">
                                            <p:txEl>
                                              <p:pRg st="0" end="0"/>
                                            </p:txEl>
                                          </p:spTgt>
                                        </p:tgtEl>
                                      </p:cBhvr>
                                      <p:to x="100000" y="100000"/>
                                    </p:animScale>
                                    <p:animScale>
                                      <p:cBhvr>
                                        <p:cTn id="21" dur="26">
                                          <p:stCondLst>
                                            <p:cond delay="1642"/>
                                          </p:stCondLst>
                                        </p:cTn>
                                        <p:tgtEl>
                                          <p:spTgt spid="5">
                                            <p:txEl>
                                              <p:pRg st="0" end="0"/>
                                            </p:txEl>
                                          </p:spTgt>
                                        </p:tgtEl>
                                      </p:cBhvr>
                                      <p:to x="100000" y="90000"/>
                                    </p:animScale>
                                    <p:animScale>
                                      <p:cBhvr>
                                        <p:cTn id="22" dur="166" decel="50000">
                                          <p:stCondLst>
                                            <p:cond delay="1668"/>
                                          </p:stCondLst>
                                        </p:cTn>
                                        <p:tgtEl>
                                          <p:spTgt spid="5">
                                            <p:txEl>
                                              <p:pRg st="0" end="0"/>
                                            </p:txEl>
                                          </p:spTgt>
                                        </p:tgtEl>
                                      </p:cBhvr>
                                      <p:to x="100000" y="100000"/>
                                    </p:animScale>
                                    <p:animScale>
                                      <p:cBhvr>
                                        <p:cTn id="23" dur="26">
                                          <p:stCondLst>
                                            <p:cond delay="1808"/>
                                          </p:stCondLst>
                                        </p:cTn>
                                        <p:tgtEl>
                                          <p:spTgt spid="5">
                                            <p:txEl>
                                              <p:pRg st="0" end="0"/>
                                            </p:txEl>
                                          </p:spTgt>
                                        </p:tgtEl>
                                      </p:cBhvr>
                                      <p:to x="100000" y="95000"/>
                                    </p:animScale>
                                    <p:animScale>
                                      <p:cBhvr>
                                        <p:cTn id="24" dur="166" decel="50000">
                                          <p:stCondLst>
                                            <p:cond delay="1834"/>
                                          </p:stCondLst>
                                        </p:cTn>
                                        <p:tgtEl>
                                          <p:spTgt spid="5">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wipe(down)">
                                      <p:cBhvr>
                                        <p:cTn id="29" dur="580">
                                          <p:stCondLst>
                                            <p:cond delay="0"/>
                                          </p:stCondLst>
                                        </p:cTn>
                                        <p:tgtEl>
                                          <p:spTgt spid="5">
                                            <p:txEl>
                                              <p:pRg st="1" end="1"/>
                                            </p:txEl>
                                          </p:spTgt>
                                        </p:tgtEl>
                                      </p:cBhvr>
                                    </p:animEffect>
                                    <p:anim calcmode="lin" valueType="num">
                                      <p:cBhvr>
                                        <p:cTn id="30" dur="1822" tmFilter="0,0; 0.14,0.36; 0.43,0.73; 0.71,0.91; 1.0,1.0">
                                          <p:stCondLst>
                                            <p:cond delay="0"/>
                                          </p:stCondLst>
                                        </p:cTn>
                                        <p:tgtEl>
                                          <p:spTgt spid="5">
                                            <p:txEl>
                                              <p:pRg st="1" end="1"/>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5">
                                            <p:txEl>
                                              <p:pRg st="1" end="1"/>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5">
                                            <p:txEl>
                                              <p:pRg st="1" end="1"/>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5">
                                            <p:txEl>
                                              <p:pRg st="1" end="1"/>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5">
                                            <p:txEl>
                                              <p:pRg st="1" end="1"/>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5">
                                            <p:txEl>
                                              <p:pRg st="1" end="1"/>
                                            </p:txEl>
                                          </p:spTgt>
                                        </p:tgtEl>
                                      </p:cBhvr>
                                      <p:to x="100000" y="60000"/>
                                    </p:animScale>
                                    <p:animScale>
                                      <p:cBhvr>
                                        <p:cTn id="36" dur="166" decel="50000">
                                          <p:stCondLst>
                                            <p:cond delay="676"/>
                                          </p:stCondLst>
                                        </p:cTn>
                                        <p:tgtEl>
                                          <p:spTgt spid="5">
                                            <p:txEl>
                                              <p:pRg st="1" end="1"/>
                                            </p:txEl>
                                          </p:spTgt>
                                        </p:tgtEl>
                                      </p:cBhvr>
                                      <p:to x="100000" y="100000"/>
                                    </p:animScale>
                                    <p:animScale>
                                      <p:cBhvr>
                                        <p:cTn id="37" dur="26">
                                          <p:stCondLst>
                                            <p:cond delay="1312"/>
                                          </p:stCondLst>
                                        </p:cTn>
                                        <p:tgtEl>
                                          <p:spTgt spid="5">
                                            <p:txEl>
                                              <p:pRg st="1" end="1"/>
                                            </p:txEl>
                                          </p:spTgt>
                                        </p:tgtEl>
                                      </p:cBhvr>
                                      <p:to x="100000" y="80000"/>
                                    </p:animScale>
                                    <p:animScale>
                                      <p:cBhvr>
                                        <p:cTn id="38" dur="166" decel="50000">
                                          <p:stCondLst>
                                            <p:cond delay="1338"/>
                                          </p:stCondLst>
                                        </p:cTn>
                                        <p:tgtEl>
                                          <p:spTgt spid="5">
                                            <p:txEl>
                                              <p:pRg st="1" end="1"/>
                                            </p:txEl>
                                          </p:spTgt>
                                        </p:tgtEl>
                                      </p:cBhvr>
                                      <p:to x="100000" y="100000"/>
                                    </p:animScale>
                                    <p:animScale>
                                      <p:cBhvr>
                                        <p:cTn id="39" dur="26">
                                          <p:stCondLst>
                                            <p:cond delay="1642"/>
                                          </p:stCondLst>
                                        </p:cTn>
                                        <p:tgtEl>
                                          <p:spTgt spid="5">
                                            <p:txEl>
                                              <p:pRg st="1" end="1"/>
                                            </p:txEl>
                                          </p:spTgt>
                                        </p:tgtEl>
                                      </p:cBhvr>
                                      <p:to x="100000" y="90000"/>
                                    </p:animScale>
                                    <p:animScale>
                                      <p:cBhvr>
                                        <p:cTn id="40" dur="166" decel="50000">
                                          <p:stCondLst>
                                            <p:cond delay="1668"/>
                                          </p:stCondLst>
                                        </p:cTn>
                                        <p:tgtEl>
                                          <p:spTgt spid="5">
                                            <p:txEl>
                                              <p:pRg st="1" end="1"/>
                                            </p:txEl>
                                          </p:spTgt>
                                        </p:tgtEl>
                                      </p:cBhvr>
                                      <p:to x="100000" y="100000"/>
                                    </p:animScale>
                                    <p:animScale>
                                      <p:cBhvr>
                                        <p:cTn id="41" dur="26">
                                          <p:stCondLst>
                                            <p:cond delay="1808"/>
                                          </p:stCondLst>
                                        </p:cTn>
                                        <p:tgtEl>
                                          <p:spTgt spid="5">
                                            <p:txEl>
                                              <p:pRg st="1" end="1"/>
                                            </p:txEl>
                                          </p:spTgt>
                                        </p:tgtEl>
                                      </p:cBhvr>
                                      <p:to x="100000" y="95000"/>
                                    </p:animScale>
                                    <p:animScale>
                                      <p:cBhvr>
                                        <p:cTn id="42" dur="166" decel="50000">
                                          <p:stCondLst>
                                            <p:cond delay="1834"/>
                                          </p:stCondLst>
                                        </p:cTn>
                                        <p:tgtEl>
                                          <p:spTgt spid="5">
                                            <p:txEl>
                                              <p:pRg st="1" end="1"/>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circle(in)">
                                      <p:cBhvr>
                                        <p:cTn id="47" dur="20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wipe(down)">
                                      <p:cBhvr>
                                        <p:cTn id="59" dur="580">
                                          <p:stCondLst>
                                            <p:cond delay="0"/>
                                          </p:stCondLst>
                                        </p:cTn>
                                        <p:tgtEl>
                                          <p:spTgt spid="6"/>
                                        </p:tgtEl>
                                      </p:cBhvr>
                                    </p:animEffect>
                                    <p:anim calcmode="lin" valueType="num">
                                      <p:cBhvr>
                                        <p:cTn id="6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5" dur="26">
                                          <p:stCondLst>
                                            <p:cond delay="650"/>
                                          </p:stCondLst>
                                        </p:cTn>
                                        <p:tgtEl>
                                          <p:spTgt spid="6"/>
                                        </p:tgtEl>
                                      </p:cBhvr>
                                      <p:to x="100000" y="60000"/>
                                    </p:animScale>
                                    <p:animScale>
                                      <p:cBhvr>
                                        <p:cTn id="66" dur="166" decel="50000">
                                          <p:stCondLst>
                                            <p:cond delay="676"/>
                                          </p:stCondLst>
                                        </p:cTn>
                                        <p:tgtEl>
                                          <p:spTgt spid="6"/>
                                        </p:tgtEl>
                                      </p:cBhvr>
                                      <p:to x="100000" y="100000"/>
                                    </p:animScale>
                                    <p:animScale>
                                      <p:cBhvr>
                                        <p:cTn id="67" dur="26">
                                          <p:stCondLst>
                                            <p:cond delay="1312"/>
                                          </p:stCondLst>
                                        </p:cTn>
                                        <p:tgtEl>
                                          <p:spTgt spid="6"/>
                                        </p:tgtEl>
                                      </p:cBhvr>
                                      <p:to x="100000" y="80000"/>
                                    </p:animScale>
                                    <p:animScale>
                                      <p:cBhvr>
                                        <p:cTn id="68" dur="166" decel="50000">
                                          <p:stCondLst>
                                            <p:cond delay="1338"/>
                                          </p:stCondLst>
                                        </p:cTn>
                                        <p:tgtEl>
                                          <p:spTgt spid="6"/>
                                        </p:tgtEl>
                                      </p:cBhvr>
                                      <p:to x="100000" y="100000"/>
                                    </p:animScale>
                                    <p:animScale>
                                      <p:cBhvr>
                                        <p:cTn id="69" dur="26">
                                          <p:stCondLst>
                                            <p:cond delay="1642"/>
                                          </p:stCondLst>
                                        </p:cTn>
                                        <p:tgtEl>
                                          <p:spTgt spid="6"/>
                                        </p:tgtEl>
                                      </p:cBhvr>
                                      <p:to x="100000" y="90000"/>
                                    </p:animScale>
                                    <p:animScale>
                                      <p:cBhvr>
                                        <p:cTn id="70" dur="166" decel="50000">
                                          <p:stCondLst>
                                            <p:cond delay="1668"/>
                                          </p:stCondLst>
                                        </p:cTn>
                                        <p:tgtEl>
                                          <p:spTgt spid="6"/>
                                        </p:tgtEl>
                                      </p:cBhvr>
                                      <p:to x="100000" y="100000"/>
                                    </p:animScale>
                                    <p:animScale>
                                      <p:cBhvr>
                                        <p:cTn id="71" dur="26">
                                          <p:stCondLst>
                                            <p:cond delay="1808"/>
                                          </p:stCondLst>
                                        </p:cTn>
                                        <p:tgtEl>
                                          <p:spTgt spid="6"/>
                                        </p:tgtEl>
                                      </p:cBhvr>
                                      <p:to x="100000" y="95000"/>
                                    </p:animScale>
                                    <p:animScale>
                                      <p:cBhvr>
                                        <p:cTn id="72" dur="166" decel="50000">
                                          <p:stCondLst>
                                            <p:cond delay="1834"/>
                                          </p:stCondLst>
                                        </p:cTn>
                                        <p:tgtEl>
                                          <p:spTgt spid="6"/>
                                        </p:tgtEl>
                                      </p:cBhvr>
                                      <p:to x="100000" y="100000"/>
                                    </p:animScale>
                                  </p:childTnLst>
                                </p:cTn>
                              </p:par>
                              <p:par>
                                <p:cTn id="73" presetID="26" presetClass="entr" presetSubtype="0" fill="hold" grpId="0" nodeType="with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wipe(down)">
                                      <p:cBhvr>
                                        <p:cTn id="75" dur="580">
                                          <p:stCondLst>
                                            <p:cond delay="0"/>
                                          </p:stCondLst>
                                        </p:cTn>
                                        <p:tgtEl>
                                          <p:spTgt spid="7"/>
                                        </p:tgtEl>
                                      </p:cBhvr>
                                    </p:animEffect>
                                    <p:anim calcmode="lin" valueType="num">
                                      <p:cBhvr>
                                        <p:cTn id="7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81" dur="26">
                                          <p:stCondLst>
                                            <p:cond delay="650"/>
                                          </p:stCondLst>
                                        </p:cTn>
                                        <p:tgtEl>
                                          <p:spTgt spid="7"/>
                                        </p:tgtEl>
                                      </p:cBhvr>
                                      <p:to x="100000" y="60000"/>
                                    </p:animScale>
                                    <p:animScale>
                                      <p:cBhvr>
                                        <p:cTn id="82" dur="166" decel="50000">
                                          <p:stCondLst>
                                            <p:cond delay="676"/>
                                          </p:stCondLst>
                                        </p:cTn>
                                        <p:tgtEl>
                                          <p:spTgt spid="7"/>
                                        </p:tgtEl>
                                      </p:cBhvr>
                                      <p:to x="100000" y="100000"/>
                                    </p:animScale>
                                    <p:animScale>
                                      <p:cBhvr>
                                        <p:cTn id="83" dur="26">
                                          <p:stCondLst>
                                            <p:cond delay="1312"/>
                                          </p:stCondLst>
                                        </p:cTn>
                                        <p:tgtEl>
                                          <p:spTgt spid="7"/>
                                        </p:tgtEl>
                                      </p:cBhvr>
                                      <p:to x="100000" y="80000"/>
                                    </p:animScale>
                                    <p:animScale>
                                      <p:cBhvr>
                                        <p:cTn id="84" dur="166" decel="50000">
                                          <p:stCondLst>
                                            <p:cond delay="1338"/>
                                          </p:stCondLst>
                                        </p:cTn>
                                        <p:tgtEl>
                                          <p:spTgt spid="7"/>
                                        </p:tgtEl>
                                      </p:cBhvr>
                                      <p:to x="100000" y="100000"/>
                                    </p:animScale>
                                    <p:animScale>
                                      <p:cBhvr>
                                        <p:cTn id="85" dur="26">
                                          <p:stCondLst>
                                            <p:cond delay="1642"/>
                                          </p:stCondLst>
                                        </p:cTn>
                                        <p:tgtEl>
                                          <p:spTgt spid="7"/>
                                        </p:tgtEl>
                                      </p:cBhvr>
                                      <p:to x="100000" y="90000"/>
                                    </p:animScale>
                                    <p:animScale>
                                      <p:cBhvr>
                                        <p:cTn id="86" dur="166" decel="50000">
                                          <p:stCondLst>
                                            <p:cond delay="1668"/>
                                          </p:stCondLst>
                                        </p:cTn>
                                        <p:tgtEl>
                                          <p:spTgt spid="7"/>
                                        </p:tgtEl>
                                      </p:cBhvr>
                                      <p:to x="100000" y="100000"/>
                                    </p:animScale>
                                    <p:animScale>
                                      <p:cBhvr>
                                        <p:cTn id="87" dur="26">
                                          <p:stCondLst>
                                            <p:cond delay="1808"/>
                                          </p:stCondLst>
                                        </p:cTn>
                                        <p:tgtEl>
                                          <p:spTgt spid="7"/>
                                        </p:tgtEl>
                                      </p:cBhvr>
                                      <p:to x="100000" y="95000"/>
                                    </p:animScale>
                                    <p:animScale>
                                      <p:cBhvr>
                                        <p:cTn id="88" dur="166" decel="50000">
                                          <p:stCondLst>
                                            <p:cond delay="1834"/>
                                          </p:stCondLst>
                                        </p:cTn>
                                        <p:tgtEl>
                                          <p:spTgt spid="7"/>
                                        </p:tgtEl>
                                      </p:cBhvr>
                                      <p:to x="100000" y="100000"/>
                                    </p:animScale>
                                  </p:childTnLst>
                                </p:cTn>
                              </p:par>
                            </p:childTnLst>
                          </p:cTn>
                        </p:par>
                      </p:childTnLst>
                    </p:cTn>
                  </p:par>
                  <p:par>
                    <p:cTn id="89" fill="hold">
                      <p:stCondLst>
                        <p:cond delay="indefinite"/>
                      </p:stCondLst>
                      <p:childTnLst>
                        <p:par>
                          <p:cTn id="90" fill="hold">
                            <p:stCondLst>
                              <p:cond delay="0"/>
                            </p:stCondLst>
                            <p:childTnLst>
                              <p:par>
                                <p:cTn id="91" presetID="14" presetClass="entr" presetSubtype="10" fill="hold" nodeType="clickEffect">
                                  <p:stCondLst>
                                    <p:cond delay="0"/>
                                  </p:stCondLst>
                                  <p:childTnLst>
                                    <p:set>
                                      <p:cBhvr>
                                        <p:cTn id="92" dur="1" fill="hold">
                                          <p:stCondLst>
                                            <p:cond delay="0"/>
                                          </p:stCondLst>
                                        </p:cTn>
                                        <p:tgtEl>
                                          <p:spTgt spid="3"/>
                                        </p:tgtEl>
                                        <p:attrNameLst>
                                          <p:attrName>style.visibility</p:attrName>
                                        </p:attrNameLst>
                                      </p:cBhvr>
                                      <p:to>
                                        <p:strVal val="visible"/>
                                      </p:to>
                                    </p:set>
                                    <p:animEffect transition="in" filter="randombar(horizontal)">
                                      <p:cBhvr>
                                        <p:cTn id="93" dur="500"/>
                                        <p:tgtEl>
                                          <p:spTgt spid="3"/>
                                        </p:tgtEl>
                                      </p:cBhvr>
                                    </p:animEffect>
                                  </p:childTnLst>
                                </p:cTn>
                              </p:par>
                              <p:par>
                                <p:cTn id="94" presetID="14" presetClass="entr" presetSubtype="10" fill="hold" nodeType="with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randombar(horizontal)">
                                      <p:cBhvr>
                                        <p:cTn id="96" dur="500"/>
                                        <p:tgtEl>
                                          <p:spTgt spid="10"/>
                                        </p:tgtEl>
                                      </p:cBhvr>
                                    </p:animEffect>
                                  </p:childTnLst>
                                </p:cTn>
                              </p:par>
                            </p:childTnLst>
                          </p:cTn>
                        </p:par>
                      </p:childTnLst>
                    </p:cTn>
                  </p:par>
                  <p:par>
                    <p:cTn id="97" fill="hold">
                      <p:stCondLst>
                        <p:cond delay="indefinite"/>
                      </p:stCondLst>
                      <p:childTnLst>
                        <p:par>
                          <p:cTn id="98" fill="hold">
                            <p:stCondLst>
                              <p:cond delay="0"/>
                            </p:stCondLst>
                            <p:childTnLst>
                              <p:par>
                                <p:cTn id="99" presetID="26" presetClass="entr" presetSubtype="0" fill="hold" grpId="0" nodeType="click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wipe(down)">
                                      <p:cBhvr>
                                        <p:cTn id="101" dur="580">
                                          <p:stCondLst>
                                            <p:cond delay="0"/>
                                          </p:stCondLst>
                                        </p:cTn>
                                        <p:tgtEl>
                                          <p:spTgt spid="8"/>
                                        </p:tgtEl>
                                      </p:cBhvr>
                                    </p:animEffect>
                                    <p:anim calcmode="lin" valueType="num">
                                      <p:cBhvr>
                                        <p:cTn id="10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0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7" dur="26">
                                          <p:stCondLst>
                                            <p:cond delay="650"/>
                                          </p:stCondLst>
                                        </p:cTn>
                                        <p:tgtEl>
                                          <p:spTgt spid="8"/>
                                        </p:tgtEl>
                                      </p:cBhvr>
                                      <p:to x="100000" y="60000"/>
                                    </p:animScale>
                                    <p:animScale>
                                      <p:cBhvr>
                                        <p:cTn id="108" dur="166" decel="50000">
                                          <p:stCondLst>
                                            <p:cond delay="676"/>
                                          </p:stCondLst>
                                        </p:cTn>
                                        <p:tgtEl>
                                          <p:spTgt spid="8"/>
                                        </p:tgtEl>
                                      </p:cBhvr>
                                      <p:to x="100000" y="100000"/>
                                    </p:animScale>
                                    <p:animScale>
                                      <p:cBhvr>
                                        <p:cTn id="109" dur="26">
                                          <p:stCondLst>
                                            <p:cond delay="1312"/>
                                          </p:stCondLst>
                                        </p:cTn>
                                        <p:tgtEl>
                                          <p:spTgt spid="8"/>
                                        </p:tgtEl>
                                      </p:cBhvr>
                                      <p:to x="100000" y="80000"/>
                                    </p:animScale>
                                    <p:animScale>
                                      <p:cBhvr>
                                        <p:cTn id="110" dur="166" decel="50000">
                                          <p:stCondLst>
                                            <p:cond delay="1338"/>
                                          </p:stCondLst>
                                        </p:cTn>
                                        <p:tgtEl>
                                          <p:spTgt spid="8"/>
                                        </p:tgtEl>
                                      </p:cBhvr>
                                      <p:to x="100000" y="100000"/>
                                    </p:animScale>
                                    <p:animScale>
                                      <p:cBhvr>
                                        <p:cTn id="111" dur="26">
                                          <p:stCondLst>
                                            <p:cond delay="1642"/>
                                          </p:stCondLst>
                                        </p:cTn>
                                        <p:tgtEl>
                                          <p:spTgt spid="8"/>
                                        </p:tgtEl>
                                      </p:cBhvr>
                                      <p:to x="100000" y="90000"/>
                                    </p:animScale>
                                    <p:animScale>
                                      <p:cBhvr>
                                        <p:cTn id="112" dur="166" decel="50000">
                                          <p:stCondLst>
                                            <p:cond delay="1668"/>
                                          </p:stCondLst>
                                        </p:cTn>
                                        <p:tgtEl>
                                          <p:spTgt spid="8"/>
                                        </p:tgtEl>
                                      </p:cBhvr>
                                      <p:to x="100000" y="100000"/>
                                    </p:animScale>
                                    <p:animScale>
                                      <p:cBhvr>
                                        <p:cTn id="113" dur="26">
                                          <p:stCondLst>
                                            <p:cond delay="1808"/>
                                          </p:stCondLst>
                                        </p:cTn>
                                        <p:tgtEl>
                                          <p:spTgt spid="8"/>
                                        </p:tgtEl>
                                      </p:cBhvr>
                                      <p:to x="100000" y="95000"/>
                                    </p:animScale>
                                    <p:animScale>
                                      <p:cBhvr>
                                        <p:cTn id="114" dur="166" decel="50000">
                                          <p:stCondLst>
                                            <p:cond delay="1834"/>
                                          </p:stCondLst>
                                        </p:cTn>
                                        <p:tgtEl>
                                          <p:spTgt spid="8"/>
                                        </p:tgtEl>
                                      </p:cBhvr>
                                      <p:to x="100000" y="100000"/>
                                    </p:animScale>
                                  </p:childTnLst>
                                </p:cTn>
                              </p:par>
                              <p:par>
                                <p:cTn id="115" presetID="26" presetClass="entr" presetSubtype="0" fill="hold" grpId="0" nodeType="withEffect">
                                  <p:stCondLst>
                                    <p:cond delay="0"/>
                                  </p:stCondLst>
                                  <p:childTnLst>
                                    <p:set>
                                      <p:cBhvr>
                                        <p:cTn id="116" dur="1" fill="hold">
                                          <p:stCondLst>
                                            <p:cond delay="0"/>
                                          </p:stCondLst>
                                        </p:cTn>
                                        <p:tgtEl>
                                          <p:spTgt spid="12"/>
                                        </p:tgtEl>
                                        <p:attrNameLst>
                                          <p:attrName>style.visibility</p:attrName>
                                        </p:attrNameLst>
                                      </p:cBhvr>
                                      <p:to>
                                        <p:strVal val="visible"/>
                                      </p:to>
                                    </p:set>
                                    <p:animEffect transition="in" filter="wipe(down)">
                                      <p:cBhvr>
                                        <p:cTn id="117" dur="580">
                                          <p:stCondLst>
                                            <p:cond delay="0"/>
                                          </p:stCondLst>
                                        </p:cTn>
                                        <p:tgtEl>
                                          <p:spTgt spid="12"/>
                                        </p:tgtEl>
                                      </p:cBhvr>
                                    </p:animEffect>
                                    <p:anim calcmode="lin" valueType="num">
                                      <p:cBhvr>
                                        <p:cTn id="11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1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2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2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23" dur="26">
                                          <p:stCondLst>
                                            <p:cond delay="650"/>
                                          </p:stCondLst>
                                        </p:cTn>
                                        <p:tgtEl>
                                          <p:spTgt spid="12"/>
                                        </p:tgtEl>
                                      </p:cBhvr>
                                      <p:to x="100000" y="60000"/>
                                    </p:animScale>
                                    <p:animScale>
                                      <p:cBhvr>
                                        <p:cTn id="124" dur="166" decel="50000">
                                          <p:stCondLst>
                                            <p:cond delay="676"/>
                                          </p:stCondLst>
                                        </p:cTn>
                                        <p:tgtEl>
                                          <p:spTgt spid="12"/>
                                        </p:tgtEl>
                                      </p:cBhvr>
                                      <p:to x="100000" y="100000"/>
                                    </p:animScale>
                                    <p:animScale>
                                      <p:cBhvr>
                                        <p:cTn id="125" dur="26">
                                          <p:stCondLst>
                                            <p:cond delay="1312"/>
                                          </p:stCondLst>
                                        </p:cTn>
                                        <p:tgtEl>
                                          <p:spTgt spid="12"/>
                                        </p:tgtEl>
                                      </p:cBhvr>
                                      <p:to x="100000" y="80000"/>
                                    </p:animScale>
                                    <p:animScale>
                                      <p:cBhvr>
                                        <p:cTn id="126" dur="166" decel="50000">
                                          <p:stCondLst>
                                            <p:cond delay="1338"/>
                                          </p:stCondLst>
                                        </p:cTn>
                                        <p:tgtEl>
                                          <p:spTgt spid="12"/>
                                        </p:tgtEl>
                                      </p:cBhvr>
                                      <p:to x="100000" y="100000"/>
                                    </p:animScale>
                                    <p:animScale>
                                      <p:cBhvr>
                                        <p:cTn id="127" dur="26">
                                          <p:stCondLst>
                                            <p:cond delay="1642"/>
                                          </p:stCondLst>
                                        </p:cTn>
                                        <p:tgtEl>
                                          <p:spTgt spid="12"/>
                                        </p:tgtEl>
                                      </p:cBhvr>
                                      <p:to x="100000" y="90000"/>
                                    </p:animScale>
                                    <p:animScale>
                                      <p:cBhvr>
                                        <p:cTn id="128" dur="166" decel="50000">
                                          <p:stCondLst>
                                            <p:cond delay="1668"/>
                                          </p:stCondLst>
                                        </p:cTn>
                                        <p:tgtEl>
                                          <p:spTgt spid="12"/>
                                        </p:tgtEl>
                                      </p:cBhvr>
                                      <p:to x="100000" y="100000"/>
                                    </p:animScale>
                                    <p:animScale>
                                      <p:cBhvr>
                                        <p:cTn id="129" dur="26">
                                          <p:stCondLst>
                                            <p:cond delay="1808"/>
                                          </p:stCondLst>
                                        </p:cTn>
                                        <p:tgtEl>
                                          <p:spTgt spid="12"/>
                                        </p:tgtEl>
                                      </p:cBhvr>
                                      <p:to x="100000" y="95000"/>
                                    </p:animScale>
                                    <p:animScale>
                                      <p:cBhvr>
                                        <p:cTn id="130" dur="166" decel="50000">
                                          <p:stCondLst>
                                            <p:cond delay="1834"/>
                                          </p:stCondLst>
                                        </p:cTn>
                                        <p:tgtEl>
                                          <p:spTgt spid="12"/>
                                        </p:tgtEl>
                                      </p:cBhvr>
                                      <p:to x="100000" y="100000"/>
                                    </p:animScale>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nodeType="clickEffect">
                                  <p:stCondLst>
                                    <p:cond delay="0"/>
                                  </p:stCondLst>
                                  <p:childTnLst>
                                    <p:set>
                                      <p:cBhvr>
                                        <p:cTn id="134" dur="1" fill="hold">
                                          <p:stCondLst>
                                            <p:cond delay="0"/>
                                          </p:stCondLst>
                                        </p:cTn>
                                        <p:tgtEl>
                                          <p:spTgt spid="9"/>
                                        </p:tgtEl>
                                        <p:attrNameLst>
                                          <p:attrName>style.visibility</p:attrName>
                                        </p:attrNameLst>
                                      </p:cBhvr>
                                      <p:to>
                                        <p:strVal val="visible"/>
                                      </p:to>
                                    </p:set>
                                    <p:anim calcmode="lin" valueType="num">
                                      <p:cBhvr>
                                        <p:cTn id="135" dur="500" fill="hold"/>
                                        <p:tgtEl>
                                          <p:spTgt spid="9"/>
                                        </p:tgtEl>
                                        <p:attrNameLst>
                                          <p:attrName>ppt_w</p:attrName>
                                        </p:attrNameLst>
                                      </p:cBhvr>
                                      <p:tavLst>
                                        <p:tav tm="0">
                                          <p:val>
                                            <p:fltVal val="0"/>
                                          </p:val>
                                        </p:tav>
                                        <p:tav tm="100000">
                                          <p:val>
                                            <p:strVal val="#ppt_w"/>
                                          </p:val>
                                        </p:tav>
                                      </p:tavLst>
                                    </p:anim>
                                    <p:anim calcmode="lin" valueType="num">
                                      <p:cBhvr>
                                        <p:cTn id="136" dur="500" fill="hold"/>
                                        <p:tgtEl>
                                          <p:spTgt spid="9"/>
                                        </p:tgtEl>
                                        <p:attrNameLst>
                                          <p:attrName>ppt_h</p:attrName>
                                        </p:attrNameLst>
                                      </p:cBhvr>
                                      <p:tavLst>
                                        <p:tav tm="0">
                                          <p:val>
                                            <p:fltVal val="0"/>
                                          </p:val>
                                        </p:tav>
                                        <p:tav tm="100000">
                                          <p:val>
                                            <p:strVal val="#ppt_h"/>
                                          </p:val>
                                        </p:tav>
                                      </p:tavLst>
                                    </p:anim>
                                    <p:animEffect transition="in" filter="fade">
                                      <p:cBhvr>
                                        <p:cTn id="137" dur="500"/>
                                        <p:tgtEl>
                                          <p:spTgt spid="9"/>
                                        </p:tgtEl>
                                      </p:cBhvr>
                                    </p:animEffect>
                                  </p:childTnLst>
                                </p:cTn>
                              </p:par>
                            </p:childTnLst>
                          </p:cTn>
                        </p:par>
                      </p:childTnLst>
                    </p:cTn>
                  </p:par>
                  <p:par>
                    <p:cTn id="138" fill="hold">
                      <p:stCondLst>
                        <p:cond delay="indefinite"/>
                      </p:stCondLst>
                      <p:childTnLst>
                        <p:par>
                          <p:cTn id="139" fill="hold">
                            <p:stCondLst>
                              <p:cond delay="0"/>
                            </p:stCondLst>
                            <p:childTnLst>
                              <p:par>
                                <p:cTn id="140" presetID="6" presetClass="entr" presetSubtype="16" fill="hold" nodeType="clickEffect">
                                  <p:stCondLst>
                                    <p:cond delay="0"/>
                                  </p:stCondLst>
                                  <p:childTnLst>
                                    <p:set>
                                      <p:cBhvr>
                                        <p:cTn id="141" dur="1" fill="hold">
                                          <p:stCondLst>
                                            <p:cond delay="0"/>
                                          </p:stCondLst>
                                        </p:cTn>
                                        <p:tgtEl>
                                          <p:spTgt spid="11"/>
                                        </p:tgtEl>
                                        <p:attrNameLst>
                                          <p:attrName>style.visibility</p:attrName>
                                        </p:attrNameLst>
                                      </p:cBhvr>
                                      <p:to>
                                        <p:strVal val="visible"/>
                                      </p:to>
                                    </p:set>
                                    <p:animEffect transition="in" filter="circle(in)">
                                      <p:cBhvr>
                                        <p:cTn id="142" dur="2000"/>
                                        <p:tgtEl>
                                          <p:spTgt spid="11"/>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nodeType="clickEffect">
                                  <p:stCondLst>
                                    <p:cond delay="0"/>
                                  </p:stCondLst>
                                  <p:childTnLst>
                                    <p:set>
                                      <p:cBhvr>
                                        <p:cTn id="146" dur="1" fill="hold">
                                          <p:stCondLst>
                                            <p:cond delay="0"/>
                                          </p:stCondLst>
                                        </p:cTn>
                                        <p:tgtEl>
                                          <p:spTgt spid="13"/>
                                        </p:tgtEl>
                                        <p:attrNameLst>
                                          <p:attrName>style.visibility</p:attrName>
                                        </p:attrNameLst>
                                      </p:cBhvr>
                                      <p:to>
                                        <p:strVal val="visible"/>
                                      </p:to>
                                    </p:set>
                                    <p:anim calcmode="lin" valueType="num">
                                      <p:cBhvr>
                                        <p:cTn id="147" dur="500" fill="hold"/>
                                        <p:tgtEl>
                                          <p:spTgt spid="13"/>
                                        </p:tgtEl>
                                        <p:attrNameLst>
                                          <p:attrName>ppt_w</p:attrName>
                                        </p:attrNameLst>
                                      </p:cBhvr>
                                      <p:tavLst>
                                        <p:tav tm="0">
                                          <p:val>
                                            <p:fltVal val="0"/>
                                          </p:val>
                                        </p:tav>
                                        <p:tav tm="100000">
                                          <p:val>
                                            <p:strVal val="#ppt_w"/>
                                          </p:val>
                                        </p:tav>
                                      </p:tavLst>
                                    </p:anim>
                                    <p:anim calcmode="lin" valueType="num">
                                      <p:cBhvr>
                                        <p:cTn id="148" dur="500" fill="hold"/>
                                        <p:tgtEl>
                                          <p:spTgt spid="13"/>
                                        </p:tgtEl>
                                        <p:attrNameLst>
                                          <p:attrName>ppt_h</p:attrName>
                                        </p:attrNameLst>
                                      </p:cBhvr>
                                      <p:tavLst>
                                        <p:tav tm="0">
                                          <p:val>
                                            <p:fltVal val="0"/>
                                          </p:val>
                                        </p:tav>
                                        <p:tav tm="100000">
                                          <p:val>
                                            <p:strVal val="#ppt_h"/>
                                          </p:val>
                                        </p:tav>
                                      </p:tavLst>
                                    </p:anim>
                                    <p:animEffect transition="in" filter="fade">
                                      <p:cBhvr>
                                        <p:cTn id="149" dur="500"/>
                                        <p:tgtEl>
                                          <p:spTgt spid="13"/>
                                        </p:tgtEl>
                                      </p:cBhvr>
                                    </p:animEffect>
                                  </p:childTnLst>
                                </p:cTn>
                              </p:par>
                            </p:childTnLst>
                          </p:cTn>
                        </p:par>
                      </p:childTnLst>
                    </p:cTn>
                  </p:par>
                  <p:par>
                    <p:cTn id="150" fill="hold">
                      <p:stCondLst>
                        <p:cond delay="indefinite"/>
                      </p:stCondLst>
                      <p:childTnLst>
                        <p:par>
                          <p:cTn id="151" fill="hold">
                            <p:stCondLst>
                              <p:cond delay="0"/>
                            </p:stCondLst>
                            <p:childTnLst>
                              <p:par>
                                <p:cTn id="152" presetID="6" presetClass="entr" presetSubtype="16" fill="hold" nodeType="clickEffect">
                                  <p:stCondLst>
                                    <p:cond delay="0"/>
                                  </p:stCondLst>
                                  <p:childTnLst>
                                    <p:set>
                                      <p:cBhvr>
                                        <p:cTn id="153" dur="1" fill="hold">
                                          <p:stCondLst>
                                            <p:cond delay="0"/>
                                          </p:stCondLst>
                                        </p:cTn>
                                        <p:tgtEl>
                                          <p:spTgt spid="14"/>
                                        </p:tgtEl>
                                        <p:attrNameLst>
                                          <p:attrName>style.visibility</p:attrName>
                                        </p:attrNameLst>
                                      </p:cBhvr>
                                      <p:to>
                                        <p:strVal val="visible"/>
                                      </p:to>
                                    </p:set>
                                    <p:animEffect transition="in" filter="circle(in)">
                                      <p:cBhvr>
                                        <p:cTn id="154"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2"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647" y="258772"/>
            <a:ext cx="92704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approach -1</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3" name="Rectangle 2"/>
          <p:cNvSpPr/>
          <p:nvPr/>
        </p:nvSpPr>
        <p:spPr>
          <a:xfrm>
            <a:off x="557647" y="1204889"/>
            <a:ext cx="11052462" cy="2308324"/>
          </a:xfrm>
          <a:prstGeom prst="rect">
            <a:avLst/>
          </a:prstGeom>
        </p:spPr>
        <p:txBody>
          <a:bodyPr wrap="square">
            <a:spAutoFit/>
          </a:bodyPr>
          <a:lstStyle/>
          <a:p>
            <a:r>
              <a:rPr lang="en-IN" sz="2400" b="1" dirty="0" smtClean="0"/>
              <a:t>ANN-approach-1</a:t>
            </a:r>
            <a:r>
              <a:rPr lang="en-IN" sz="2400" b="1" dirty="0"/>
              <a:t>: </a:t>
            </a:r>
            <a:endParaRPr lang="en-IN" sz="2400" b="1" dirty="0" smtClean="0"/>
          </a:p>
          <a:p>
            <a:endParaRPr lang="en-IN" sz="2400" b="1" dirty="0" smtClean="0"/>
          </a:p>
          <a:p>
            <a:r>
              <a:rPr lang="en-IN" sz="2400" dirty="0" smtClean="0"/>
              <a:t>query </a:t>
            </a:r>
            <a:r>
              <a:rPr lang="en-IN" sz="2400" dirty="0" smtClean="0">
                <a:sym typeface="Wingdings" panose="05000000000000000000" pitchFamily="2" charset="2"/>
              </a:rPr>
              <a:t> [region ,year]   [Kerala, 2020] </a:t>
            </a:r>
          </a:p>
          <a:p>
            <a:endParaRPr lang="en-IN" sz="2400" dirty="0" smtClean="0">
              <a:sym typeface="Wingdings" panose="05000000000000000000" pitchFamily="2" charset="2"/>
            </a:endParaRPr>
          </a:p>
          <a:p>
            <a:r>
              <a:rPr lang="en-IN" sz="2400" dirty="0" smtClean="0">
                <a:sym typeface="Wingdings" panose="05000000000000000000" pitchFamily="2" charset="2"/>
              </a:rPr>
              <a:t>get-data  all data of each month from 1950 to 2017</a:t>
            </a:r>
          </a:p>
          <a:p>
            <a:endParaRPr lang="en-IN" sz="2400" dirty="0" smtClean="0">
              <a:sym typeface="Wingdings" panose="05000000000000000000" pitchFamily="2" charset="2"/>
            </a:endParaRPr>
          </a:p>
        </p:txBody>
      </p:sp>
    </p:spTree>
    <p:extLst>
      <p:ext uri="{BB962C8B-B14F-4D97-AF65-F5344CB8AC3E}">
        <p14:creationId xmlns:p14="http://schemas.microsoft.com/office/powerpoint/2010/main" val="350855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647" y="258772"/>
            <a:ext cx="92704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approach -2</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3" name="Rectangle 2"/>
          <p:cNvSpPr/>
          <p:nvPr/>
        </p:nvSpPr>
        <p:spPr>
          <a:xfrm>
            <a:off x="682338" y="1028213"/>
            <a:ext cx="11052462" cy="1569660"/>
          </a:xfrm>
          <a:prstGeom prst="rect">
            <a:avLst/>
          </a:prstGeom>
        </p:spPr>
        <p:txBody>
          <a:bodyPr wrap="square">
            <a:spAutoFit/>
          </a:bodyPr>
          <a:lstStyle/>
          <a:p>
            <a:r>
              <a:rPr lang="en-IN" sz="2400" b="1" dirty="0" smtClean="0"/>
              <a:t>ANN-approach-2: </a:t>
            </a:r>
          </a:p>
          <a:p>
            <a:r>
              <a:rPr lang="en-IN" sz="2400" dirty="0"/>
              <a:t>query </a:t>
            </a:r>
            <a:r>
              <a:rPr lang="en-IN" sz="2400" dirty="0">
                <a:sym typeface="Wingdings" panose="05000000000000000000" pitchFamily="2" charset="2"/>
              </a:rPr>
              <a:t> [region ,year, month</a:t>
            </a:r>
            <a:r>
              <a:rPr lang="en-IN" sz="2400" dirty="0" smtClean="0">
                <a:sym typeface="Wingdings" panose="05000000000000000000" pitchFamily="2" charset="2"/>
              </a:rPr>
              <a:t>]; month  march</a:t>
            </a:r>
            <a:endParaRPr lang="en-IN" sz="2400" dirty="0">
              <a:sym typeface="Wingdings" panose="05000000000000000000" pitchFamily="2" charset="2"/>
            </a:endParaRPr>
          </a:p>
          <a:p>
            <a:r>
              <a:rPr lang="en-IN" sz="2400" dirty="0">
                <a:sym typeface="Wingdings" panose="05000000000000000000" pitchFamily="2" charset="2"/>
              </a:rPr>
              <a:t>get-data  all data of </a:t>
            </a:r>
            <a:r>
              <a:rPr lang="en-IN" sz="2400" dirty="0" smtClean="0">
                <a:sym typeface="Wingdings" panose="05000000000000000000" pitchFamily="2" charset="2"/>
              </a:rPr>
              <a:t>query month and its previous 5 months </a:t>
            </a:r>
          </a:p>
          <a:p>
            <a:r>
              <a:rPr lang="en-IN" sz="2400" dirty="0">
                <a:sym typeface="Wingdings" panose="05000000000000000000" pitchFamily="2" charset="2"/>
              </a:rPr>
              <a:t>	</a:t>
            </a:r>
            <a:r>
              <a:rPr lang="en-IN" sz="2400" dirty="0" smtClean="0">
                <a:sym typeface="Wingdings" panose="05000000000000000000" pitchFamily="2" charset="2"/>
              </a:rPr>
              <a:t>										from </a:t>
            </a:r>
            <a:r>
              <a:rPr lang="en-IN" sz="2400" dirty="0">
                <a:sym typeface="Wingdings" panose="05000000000000000000" pitchFamily="2" charset="2"/>
              </a:rPr>
              <a:t>1950 to </a:t>
            </a:r>
            <a:r>
              <a:rPr lang="en-IN" sz="2400" dirty="0" smtClean="0">
                <a:sym typeface="Wingdings" panose="05000000000000000000" pitchFamily="2" charset="2"/>
              </a:rPr>
              <a:t>2017</a:t>
            </a:r>
            <a:endParaRPr lang="en-IN" sz="2400" dirty="0">
              <a:sym typeface="Wingdings" panose="05000000000000000000" pitchFamily="2" charset="2"/>
            </a:endParaRPr>
          </a:p>
        </p:txBody>
      </p:sp>
      <p:graphicFrame>
        <p:nvGraphicFramePr>
          <p:cNvPr id="12" name="Table 11"/>
          <p:cNvGraphicFramePr>
            <a:graphicFrameLocks noGrp="1"/>
          </p:cNvGraphicFramePr>
          <p:nvPr>
            <p:extLst>
              <p:ext uri="{D42A27DB-BD31-4B8C-83A1-F6EECF244321}">
                <p14:modId xmlns:p14="http://schemas.microsoft.com/office/powerpoint/2010/main" val="2993097287"/>
              </p:ext>
            </p:extLst>
          </p:nvPr>
        </p:nvGraphicFramePr>
        <p:xfrm>
          <a:off x="779320" y="2867890"/>
          <a:ext cx="7243905" cy="2560320"/>
        </p:xfrm>
        <a:graphic>
          <a:graphicData uri="http://schemas.openxmlformats.org/drawingml/2006/table">
            <a:tbl>
              <a:tblPr firstRow="1" bandRow="1">
                <a:tableStyleId>{D7AC3CCA-C797-4891-BE02-D94E43425B78}</a:tableStyleId>
              </a:tblPr>
              <a:tblGrid>
                <a:gridCol w="1448781">
                  <a:extLst>
                    <a:ext uri="{9D8B030D-6E8A-4147-A177-3AD203B41FA5}">
                      <a16:colId xmlns:a16="http://schemas.microsoft.com/office/drawing/2014/main" val="3231278424"/>
                    </a:ext>
                  </a:extLst>
                </a:gridCol>
                <a:gridCol w="1448781">
                  <a:extLst>
                    <a:ext uri="{9D8B030D-6E8A-4147-A177-3AD203B41FA5}">
                      <a16:colId xmlns:a16="http://schemas.microsoft.com/office/drawing/2014/main" val="3063026317"/>
                    </a:ext>
                  </a:extLst>
                </a:gridCol>
                <a:gridCol w="1448781">
                  <a:extLst>
                    <a:ext uri="{9D8B030D-6E8A-4147-A177-3AD203B41FA5}">
                      <a16:colId xmlns:a16="http://schemas.microsoft.com/office/drawing/2014/main" val="2048098569"/>
                    </a:ext>
                  </a:extLst>
                </a:gridCol>
                <a:gridCol w="1448781">
                  <a:extLst>
                    <a:ext uri="{9D8B030D-6E8A-4147-A177-3AD203B41FA5}">
                      <a16:colId xmlns:a16="http://schemas.microsoft.com/office/drawing/2014/main" val="936303207"/>
                    </a:ext>
                  </a:extLst>
                </a:gridCol>
                <a:gridCol w="1448781">
                  <a:extLst>
                    <a:ext uri="{9D8B030D-6E8A-4147-A177-3AD203B41FA5}">
                      <a16:colId xmlns:a16="http://schemas.microsoft.com/office/drawing/2014/main" val="1642899513"/>
                    </a:ext>
                  </a:extLst>
                </a:gridCol>
              </a:tblGrid>
              <a:tr h="300585">
                <a:tc>
                  <a:txBody>
                    <a:bodyPr/>
                    <a:lstStyle/>
                    <a:p>
                      <a:pPr algn="ctr"/>
                      <a:r>
                        <a:rPr lang="en-IN" b="0" dirty="0" smtClean="0"/>
                        <a:t>Oct, ‘50</a:t>
                      </a:r>
                      <a:endParaRPr lang="en-IN" b="0" dirty="0"/>
                    </a:p>
                  </a:txBody>
                  <a:tcPr>
                    <a:solidFill>
                      <a:srgbClr val="00B050"/>
                    </a:solidFill>
                  </a:tcPr>
                </a:tc>
                <a:tc>
                  <a:txBody>
                    <a:bodyPr/>
                    <a:lstStyle/>
                    <a:p>
                      <a:pPr algn="ctr"/>
                      <a:r>
                        <a:rPr lang="en-IN" b="0" dirty="0" smtClean="0"/>
                        <a:t>Nov,</a:t>
                      </a:r>
                      <a:r>
                        <a:rPr lang="en-IN" b="0" baseline="0" dirty="0" smtClean="0"/>
                        <a:t> ‘</a:t>
                      </a:r>
                      <a:r>
                        <a:rPr lang="en-IN" b="0" dirty="0" smtClean="0"/>
                        <a:t>50</a:t>
                      </a:r>
                      <a:endParaRPr lang="en-IN" b="0" dirty="0"/>
                    </a:p>
                  </a:txBody>
                  <a:tcPr>
                    <a:solidFill>
                      <a:srgbClr val="00B050"/>
                    </a:solidFill>
                  </a:tcPr>
                </a:tc>
                <a:tc>
                  <a:txBody>
                    <a:bodyPr/>
                    <a:lstStyle/>
                    <a:p>
                      <a:pPr algn="ctr"/>
                      <a:r>
                        <a:rPr lang="en-IN" b="0" dirty="0" smtClean="0"/>
                        <a:t>Dec, ‘50</a:t>
                      </a:r>
                      <a:endParaRPr lang="en-IN" b="0" dirty="0"/>
                    </a:p>
                  </a:txBody>
                  <a:tcPr>
                    <a:solidFill>
                      <a:srgbClr val="00B050"/>
                    </a:solidFill>
                  </a:tcPr>
                </a:tc>
                <a:tc>
                  <a:txBody>
                    <a:bodyPr/>
                    <a:lstStyle/>
                    <a:p>
                      <a:pPr algn="ctr"/>
                      <a:r>
                        <a:rPr lang="en-IN" b="0" dirty="0" smtClean="0"/>
                        <a:t>Jan, ’51</a:t>
                      </a:r>
                      <a:endParaRPr lang="en-IN" b="0" dirty="0"/>
                    </a:p>
                  </a:txBody>
                  <a:tcPr>
                    <a:solidFill>
                      <a:srgbClr val="00B050"/>
                    </a:solidFill>
                  </a:tcPr>
                </a:tc>
                <a:tc>
                  <a:txBody>
                    <a:bodyPr/>
                    <a:lstStyle/>
                    <a:p>
                      <a:pPr algn="ctr"/>
                      <a:r>
                        <a:rPr lang="en-IN" b="0" dirty="0" smtClean="0"/>
                        <a:t>Feb, ’51</a:t>
                      </a:r>
                      <a:endParaRPr lang="en-IN" b="0" dirty="0"/>
                    </a:p>
                  </a:txBody>
                  <a:tcPr>
                    <a:solidFill>
                      <a:srgbClr val="00B050"/>
                    </a:solidFill>
                  </a:tcPr>
                </a:tc>
                <a:extLst>
                  <a:ext uri="{0D108BD9-81ED-4DB2-BD59-A6C34878D82A}">
                    <a16:rowId xmlns:a16="http://schemas.microsoft.com/office/drawing/2014/main" val="2625747613"/>
                  </a:ext>
                </a:extLst>
              </a:tr>
              <a:tr h="315430">
                <a:tc>
                  <a:txBody>
                    <a:bodyPr/>
                    <a:lstStyle/>
                    <a:p>
                      <a:pPr algn="ctr"/>
                      <a:r>
                        <a:rPr lang="en-IN" b="0" dirty="0" smtClean="0"/>
                        <a:t>Oct, ‘51</a:t>
                      </a:r>
                      <a:endParaRPr lang="en-IN" b="0" dirty="0"/>
                    </a:p>
                  </a:txBody>
                  <a:tcPr>
                    <a:solidFill>
                      <a:srgbClr val="FFFF00"/>
                    </a:solidFill>
                  </a:tcPr>
                </a:tc>
                <a:tc>
                  <a:txBody>
                    <a:bodyPr/>
                    <a:lstStyle/>
                    <a:p>
                      <a:pPr algn="ctr"/>
                      <a:r>
                        <a:rPr lang="en-IN" b="0" dirty="0" smtClean="0"/>
                        <a:t>Nov,</a:t>
                      </a:r>
                      <a:r>
                        <a:rPr lang="en-IN" b="0" baseline="0" dirty="0" smtClean="0"/>
                        <a:t> ‘</a:t>
                      </a:r>
                      <a:r>
                        <a:rPr lang="en-IN" b="0" dirty="0" smtClean="0"/>
                        <a:t>51</a:t>
                      </a:r>
                      <a:endParaRPr lang="en-IN" b="0" dirty="0"/>
                    </a:p>
                  </a:txBody>
                  <a:tcPr>
                    <a:solidFill>
                      <a:srgbClr val="FFFF00"/>
                    </a:solidFill>
                  </a:tcPr>
                </a:tc>
                <a:tc>
                  <a:txBody>
                    <a:bodyPr/>
                    <a:lstStyle/>
                    <a:p>
                      <a:pPr algn="ctr"/>
                      <a:r>
                        <a:rPr lang="en-IN" b="0" dirty="0" smtClean="0"/>
                        <a:t>Dec, ‘51</a:t>
                      </a:r>
                      <a:endParaRPr lang="en-IN" b="0" dirty="0"/>
                    </a:p>
                  </a:txBody>
                  <a:tcPr>
                    <a:solidFill>
                      <a:srgbClr val="FFFF00"/>
                    </a:solidFill>
                  </a:tcPr>
                </a:tc>
                <a:tc>
                  <a:txBody>
                    <a:bodyPr/>
                    <a:lstStyle/>
                    <a:p>
                      <a:pPr algn="ctr"/>
                      <a:r>
                        <a:rPr lang="en-IN" b="0" dirty="0" smtClean="0"/>
                        <a:t>Jan, ’52</a:t>
                      </a:r>
                      <a:endParaRPr lang="en-IN" b="0" dirty="0"/>
                    </a:p>
                  </a:txBody>
                  <a:tcPr>
                    <a:solidFill>
                      <a:srgbClr val="FFFF00"/>
                    </a:solidFill>
                  </a:tcPr>
                </a:tc>
                <a:tc>
                  <a:txBody>
                    <a:bodyPr/>
                    <a:lstStyle/>
                    <a:p>
                      <a:pPr algn="ctr"/>
                      <a:r>
                        <a:rPr lang="en-IN" b="0" dirty="0" smtClean="0"/>
                        <a:t>Feb, ‘52</a:t>
                      </a:r>
                      <a:endParaRPr lang="en-IN" b="0" dirty="0"/>
                    </a:p>
                  </a:txBody>
                  <a:tcPr>
                    <a:solidFill>
                      <a:srgbClr val="FFFF00"/>
                    </a:solidFill>
                  </a:tcPr>
                </a:tc>
                <a:extLst>
                  <a:ext uri="{0D108BD9-81ED-4DB2-BD59-A6C34878D82A}">
                    <a16:rowId xmlns:a16="http://schemas.microsoft.com/office/drawing/2014/main" val="1052093763"/>
                  </a:ext>
                </a:extLst>
              </a:tr>
              <a:tr h="315430">
                <a:tc>
                  <a:txBody>
                    <a:bodyPr/>
                    <a:lstStyle/>
                    <a:p>
                      <a:pPr algn="ctr"/>
                      <a:r>
                        <a:rPr lang="en-IN" b="0" dirty="0" smtClean="0"/>
                        <a:t>Oct, ’52</a:t>
                      </a:r>
                      <a:endParaRPr lang="en-IN" b="0" dirty="0"/>
                    </a:p>
                  </a:txBody>
                  <a:tcPr>
                    <a:solidFill>
                      <a:schemeClr val="accent1">
                        <a:lumMod val="60000"/>
                        <a:lumOff val="40000"/>
                      </a:schemeClr>
                    </a:solidFill>
                  </a:tcPr>
                </a:tc>
                <a:tc>
                  <a:txBody>
                    <a:bodyPr/>
                    <a:lstStyle/>
                    <a:p>
                      <a:pPr algn="ctr"/>
                      <a:r>
                        <a:rPr lang="en-IN" b="0" dirty="0" smtClean="0"/>
                        <a:t>Nov,</a:t>
                      </a:r>
                      <a:r>
                        <a:rPr lang="en-IN" b="0" baseline="0" dirty="0" smtClean="0"/>
                        <a:t> ’</a:t>
                      </a:r>
                      <a:r>
                        <a:rPr lang="en-IN" b="0" dirty="0" smtClean="0"/>
                        <a:t>52</a:t>
                      </a:r>
                      <a:endParaRPr lang="en-IN" b="0" dirty="0"/>
                    </a:p>
                  </a:txBody>
                  <a:tcPr>
                    <a:solidFill>
                      <a:schemeClr val="accent1">
                        <a:lumMod val="60000"/>
                        <a:lumOff val="40000"/>
                      </a:schemeClr>
                    </a:solidFill>
                  </a:tcPr>
                </a:tc>
                <a:tc>
                  <a:txBody>
                    <a:bodyPr/>
                    <a:lstStyle/>
                    <a:p>
                      <a:pPr algn="ctr"/>
                      <a:r>
                        <a:rPr lang="en-IN" b="0" dirty="0" smtClean="0"/>
                        <a:t>Dec, ’52</a:t>
                      </a:r>
                      <a:endParaRPr lang="en-IN" b="0" dirty="0"/>
                    </a:p>
                  </a:txBody>
                  <a:tcPr>
                    <a:solidFill>
                      <a:schemeClr val="accent1">
                        <a:lumMod val="60000"/>
                        <a:lumOff val="40000"/>
                      </a:schemeClr>
                    </a:solidFill>
                  </a:tcPr>
                </a:tc>
                <a:tc>
                  <a:txBody>
                    <a:bodyPr/>
                    <a:lstStyle/>
                    <a:p>
                      <a:pPr algn="ctr"/>
                      <a:r>
                        <a:rPr lang="en-IN" b="0" dirty="0" smtClean="0"/>
                        <a:t>Jan, ’53</a:t>
                      </a:r>
                      <a:endParaRPr lang="en-IN" b="0" dirty="0"/>
                    </a:p>
                  </a:txBody>
                  <a:tcPr>
                    <a:solidFill>
                      <a:schemeClr val="accent1">
                        <a:lumMod val="60000"/>
                        <a:lumOff val="40000"/>
                      </a:schemeClr>
                    </a:solidFill>
                  </a:tcPr>
                </a:tc>
                <a:tc>
                  <a:txBody>
                    <a:bodyPr/>
                    <a:lstStyle/>
                    <a:p>
                      <a:pPr algn="ctr"/>
                      <a:r>
                        <a:rPr lang="en-IN" b="0" dirty="0" smtClean="0"/>
                        <a:t>Feb, ’53</a:t>
                      </a:r>
                      <a:endParaRPr lang="en-IN" b="0" dirty="0"/>
                    </a:p>
                  </a:txBody>
                  <a:tcPr>
                    <a:solidFill>
                      <a:schemeClr val="accent1">
                        <a:lumMod val="60000"/>
                        <a:lumOff val="40000"/>
                      </a:schemeClr>
                    </a:solidFill>
                  </a:tcPr>
                </a:tc>
                <a:extLst>
                  <a:ext uri="{0D108BD9-81ED-4DB2-BD59-A6C34878D82A}">
                    <a16:rowId xmlns:a16="http://schemas.microsoft.com/office/drawing/2014/main" val="3001446706"/>
                  </a:ext>
                </a:extLst>
              </a:tr>
              <a:tr h="315430">
                <a:tc>
                  <a:txBody>
                    <a:bodyPr/>
                    <a:lstStyle/>
                    <a:p>
                      <a:pPr algn="ctr"/>
                      <a:r>
                        <a:rPr lang="en-IN" b="0" dirty="0" smtClean="0"/>
                        <a:t>Oct, ’53</a:t>
                      </a:r>
                      <a:endParaRPr lang="en-IN" b="0" dirty="0"/>
                    </a:p>
                  </a:txBody>
                  <a:tcPr>
                    <a:solidFill>
                      <a:srgbClr val="00B0F0"/>
                    </a:solidFill>
                  </a:tcPr>
                </a:tc>
                <a:tc>
                  <a:txBody>
                    <a:bodyPr/>
                    <a:lstStyle/>
                    <a:p>
                      <a:pPr algn="ctr"/>
                      <a:r>
                        <a:rPr lang="en-IN" b="0" dirty="0" smtClean="0"/>
                        <a:t>Nov,</a:t>
                      </a:r>
                      <a:r>
                        <a:rPr lang="en-IN" b="0" baseline="0" dirty="0" smtClean="0"/>
                        <a:t> ’</a:t>
                      </a:r>
                      <a:r>
                        <a:rPr lang="en-IN" b="0" dirty="0" smtClean="0"/>
                        <a:t>53</a:t>
                      </a:r>
                      <a:endParaRPr lang="en-IN" b="0" dirty="0"/>
                    </a:p>
                  </a:txBody>
                  <a:tcPr>
                    <a:solidFill>
                      <a:srgbClr val="00B0F0"/>
                    </a:solidFill>
                  </a:tcPr>
                </a:tc>
                <a:tc>
                  <a:txBody>
                    <a:bodyPr/>
                    <a:lstStyle/>
                    <a:p>
                      <a:pPr algn="ctr"/>
                      <a:r>
                        <a:rPr lang="en-IN" b="0" dirty="0" smtClean="0"/>
                        <a:t>Dec, ’53</a:t>
                      </a:r>
                      <a:endParaRPr lang="en-IN" b="0" dirty="0"/>
                    </a:p>
                  </a:txBody>
                  <a:tcPr>
                    <a:solidFill>
                      <a:srgbClr val="00B0F0"/>
                    </a:solidFill>
                  </a:tcPr>
                </a:tc>
                <a:tc>
                  <a:txBody>
                    <a:bodyPr/>
                    <a:lstStyle/>
                    <a:p>
                      <a:pPr algn="ctr"/>
                      <a:r>
                        <a:rPr lang="en-IN" b="0" dirty="0" smtClean="0"/>
                        <a:t>Jan, ’54</a:t>
                      </a:r>
                      <a:endParaRPr lang="en-IN" b="0" dirty="0"/>
                    </a:p>
                  </a:txBody>
                  <a:tcPr>
                    <a:solidFill>
                      <a:srgbClr val="00B0F0"/>
                    </a:solidFill>
                  </a:tcPr>
                </a:tc>
                <a:tc>
                  <a:txBody>
                    <a:bodyPr/>
                    <a:lstStyle/>
                    <a:p>
                      <a:pPr algn="ctr"/>
                      <a:r>
                        <a:rPr lang="en-IN" b="0" dirty="0" smtClean="0"/>
                        <a:t>Feb, ’54</a:t>
                      </a:r>
                      <a:endParaRPr lang="en-IN" b="0" dirty="0"/>
                    </a:p>
                  </a:txBody>
                  <a:tcPr>
                    <a:solidFill>
                      <a:srgbClr val="00B0F0"/>
                    </a:solidFill>
                  </a:tcPr>
                </a:tc>
                <a:extLst>
                  <a:ext uri="{0D108BD9-81ED-4DB2-BD59-A6C34878D82A}">
                    <a16:rowId xmlns:a16="http://schemas.microsoft.com/office/drawing/2014/main" val="547104218"/>
                  </a:ext>
                </a:extLst>
              </a:tr>
              <a:tr h="315430">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tc>
                  <a:txBody>
                    <a:bodyPr/>
                    <a:lstStyle/>
                    <a:p>
                      <a:pPr algn="ctr"/>
                      <a:r>
                        <a:rPr lang="en-IN" b="0" dirty="0" smtClean="0"/>
                        <a:t>…</a:t>
                      </a:r>
                      <a:endParaRPr lang="en-IN" b="0" dirty="0"/>
                    </a:p>
                  </a:txBody>
                  <a:tcPr/>
                </a:tc>
                <a:extLst>
                  <a:ext uri="{0D108BD9-81ED-4DB2-BD59-A6C34878D82A}">
                    <a16:rowId xmlns:a16="http://schemas.microsoft.com/office/drawing/2014/main" val="3995328575"/>
                  </a:ext>
                </a:extLst>
              </a:tr>
              <a:tr h="315430">
                <a:tc>
                  <a:txBody>
                    <a:bodyPr/>
                    <a:lstStyle/>
                    <a:p>
                      <a:pPr algn="ctr"/>
                      <a:r>
                        <a:rPr lang="en-IN" b="0" dirty="0" smtClean="0"/>
                        <a:t>Oct, ’16</a:t>
                      </a:r>
                      <a:endParaRPr lang="en-IN" b="0" dirty="0"/>
                    </a:p>
                  </a:txBody>
                  <a:tcPr>
                    <a:solidFill>
                      <a:srgbClr val="92D050"/>
                    </a:solidFill>
                  </a:tcPr>
                </a:tc>
                <a:tc>
                  <a:txBody>
                    <a:bodyPr/>
                    <a:lstStyle/>
                    <a:p>
                      <a:pPr algn="ctr"/>
                      <a:r>
                        <a:rPr lang="en-IN" b="0" dirty="0" smtClean="0"/>
                        <a:t>Nov,</a:t>
                      </a:r>
                      <a:r>
                        <a:rPr lang="en-IN" b="0" baseline="0" dirty="0" smtClean="0"/>
                        <a:t> ‘</a:t>
                      </a:r>
                      <a:r>
                        <a:rPr lang="en-IN" b="0" dirty="0" smtClean="0"/>
                        <a:t>16</a:t>
                      </a:r>
                      <a:endParaRPr lang="en-IN" b="0" dirty="0"/>
                    </a:p>
                  </a:txBody>
                  <a:tcPr>
                    <a:solidFill>
                      <a:srgbClr val="92D050"/>
                    </a:solidFill>
                  </a:tcPr>
                </a:tc>
                <a:tc>
                  <a:txBody>
                    <a:bodyPr/>
                    <a:lstStyle/>
                    <a:p>
                      <a:pPr algn="ctr"/>
                      <a:r>
                        <a:rPr lang="en-IN" b="0" dirty="0" smtClean="0"/>
                        <a:t>Dec, ’16</a:t>
                      </a:r>
                      <a:endParaRPr lang="en-IN" b="0" dirty="0"/>
                    </a:p>
                  </a:txBody>
                  <a:tcPr>
                    <a:solidFill>
                      <a:srgbClr val="92D050"/>
                    </a:solidFill>
                  </a:tcPr>
                </a:tc>
                <a:tc>
                  <a:txBody>
                    <a:bodyPr/>
                    <a:lstStyle/>
                    <a:p>
                      <a:pPr algn="ctr"/>
                      <a:r>
                        <a:rPr lang="en-IN" b="0" dirty="0" smtClean="0"/>
                        <a:t>Jan, ’17</a:t>
                      </a:r>
                      <a:endParaRPr lang="en-IN" b="0" dirty="0"/>
                    </a:p>
                  </a:txBody>
                  <a:tcPr>
                    <a:solidFill>
                      <a:srgbClr val="92D050"/>
                    </a:solidFill>
                  </a:tcPr>
                </a:tc>
                <a:tc>
                  <a:txBody>
                    <a:bodyPr/>
                    <a:lstStyle/>
                    <a:p>
                      <a:pPr algn="ctr"/>
                      <a:r>
                        <a:rPr lang="en-IN" b="0" dirty="0" smtClean="0"/>
                        <a:t>Feb, ‘17</a:t>
                      </a:r>
                      <a:endParaRPr lang="en-IN" b="0" dirty="0"/>
                    </a:p>
                  </a:txBody>
                  <a:tcPr>
                    <a:solidFill>
                      <a:srgbClr val="92D050"/>
                    </a:solidFill>
                  </a:tcPr>
                </a:tc>
                <a:extLst>
                  <a:ext uri="{0D108BD9-81ED-4DB2-BD59-A6C34878D82A}">
                    <a16:rowId xmlns:a16="http://schemas.microsoft.com/office/drawing/2014/main" val="3673096724"/>
                  </a:ext>
                </a:extLst>
              </a:tr>
              <a:tr h="315430">
                <a:tc>
                  <a:txBody>
                    <a:bodyPr/>
                    <a:lstStyle/>
                    <a:p>
                      <a:pPr algn="ctr"/>
                      <a:r>
                        <a:rPr lang="en-IN" b="0" dirty="0" smtClean="0"/>
                        <a:t>Oct, ‘17</a:t>
                      </a:r>
                      <a:endParaRPr lang="en-IN" b="0" dirty="0"/>
                    </a:p>
                  </a:txBody>
                  <a:tcPr>
                    <a:solidFill>
                      <a:schemeClr val="accent3">
                        <a:lumMod val="60000"/>
                        <a:lumOff val="40000"/>
                      </a:schemeClr>
                    </a:solidFill>
                  </a:tcPr>
                </a:tc>
                <a:tc>
                  <a:txBody>
                    <a:bodyPr/>
                    <a:lstStyle/>
                    <a:p>
                      <a:pPr algn="ctr"/>
                      <a:r>
                        <a:rPr lang="en-IN" b="0" dirty="0" smtClean="0"/>
                        <a:t>Nov,</a:t>
                      </a:r>
                      <a:r>
                        <a:rPr lang="en-IN" b="0" baseline="0" dirty="0" smtClean="0"/>
                        <a:t> ’</a:t>
                      </a:r>
                      <a:r>
                        <a:rPr lang="en-IN" b="0" dirty="0" smtClean="0"/>
                        <a:t>17</a:t>
                      </a:r>
                      <a:endParaRPr lang="en-IN" b="0" dirty="0"/>
                    </a:p>
                  </a:txBody>
                  <a:tcPr>
                    <a:solidFill>
                      <a:schemeClr val="accent3">
                        <a:lumMod val="60000"/>
                        <a:lumOff val="40000"/>
                      </a:schemeClr>
                    </a:solidFill>
                  </a:tcPr>
                </a:tc>
                <a:tc>
                  <a:txBody>
                    <a:bodyPr/>
                    <a:lstStyle/>
                    <a:p>
                      <a:pPr algn="ctr"/>
                      <a:r>
                        <a:rPr lang="en-IN" b="0" dirty="0" smtClean="0"/>
                        <a:t>Dec, ‘17</a:t>
                      </a:r>
                      <a:endParaRPr lang="en-IN" b="0" dirty="0"/>
                    </a:p>
                  </a:txBody>
                  <a:tcPr>
                    <a:solidFill>
                      <a:schemeClr val="accent3">
                        <a:lumMod val="60000"/>
                        <a:lumOff val="40000"/>
                      </a:schemeClr>
                    </a:solidFill>
                  </a:tcPr>
                </a:tc>
                <a:tc>
                  <a:txBody>
                    <a:bodyPr/>
                    <a:lstStyle/>
                    <a:p>
                      <a:pPr algn="ctr"/>
                      <a:r>
                        <a:rPr lang="en-IN" b="0" dirty="0" smtClean="0"/>
                        <a:t>Jan, ’18</a:t>
                      </a:r>
                      <a:endParaRPr lang="en-IN" b="0" dirty="0"/>
                    </a:p>
                  </a:txBody>
                  <a:tcPr>
                    <a:solidFill>
                      <a:schemeClr val="accent3">
                        <a:lumMod val="60000"/>
                        <a:lumOff val="40000"/>
                      </a:schemeClr>
                    </a:solidFill>
                  </a:tcPr>
                </a:tc>
                <a:tc>
                  <a:txBody>
                    <a:bodyPr/>
                    <a:lstStyle/>
                    <a:p>
                      <a:pPr algn="ctr"/>
                      <a:r>
                        <a:rPr lang="en-IN" b="0" dirty="0" smtClean="0"/>
                        <a:t>Feb, ’18</a:t>
                      </a:r>
                      <a:endParaRPr lang="en-IN" b="0" dirty="0"/>
                    </a:p>
                  </a:txBody>
                  <a:tcPr>
                    <a:solidFill>
                      <a:schemeClr val="accent3">
                        <a:lumMod val="60000"/>
                        <a:lumOff val="40000"/>
                      </a:schemeClr>
                    </a:solidFill>
                  </a:tcPr>
                </a:tc>
                <a:extLst>
                  <a:ext uri="{0D108BD9-81ED-4DB2-BD59-A6C34878D82A}">
                    <a16:rowId xmlns:a16="http://schemas.microsoft.com/office/drawing/2014/main" val="4105682006"/>
                  </a:ext>
                </a:extLst>
              </a:tr>
            </a:tbl>
          </a:graphicData>
        </a:graphic>
      </p:graphicFrame>
      <p:sp>
        <p:nvSpPr>
          <p:cNvPr id="13" name="TextBox 12"/>
          <p:cNvSpPr txBox="1"/>
          <p:nvPr/>
        </p:nvSpPr>
        <p:spPr>
          <a:xfrm>
            <a:off x="2258291" y="2385498"/>
            <a:ext cx="1524000" cy="369332"/>
          </a:xfrm>
          <a:prstGeom prst="rect">
            <a:avLst/>
          </a:prstGeom>
          <a:noFill/>
        </p:spPr>
        <p:txBody>
          <a:bodyPr wrap="square" rtlCol="0">
            <a:spAutoFit/>
          </a:bodyPr>
          <a:lstStyle/>
          <a:p>
            <a:r>
              <a:rPr lang="en-IN" b="1" dirty="0" smtClean="0"/>
              <a:t>ANN input</a:t>
            </a:r>
            <a:endParaRPr lang="en-IN" b="1" dirty="0"/>
          </a:p>
        </p:txBody>
      </p:sp>
      <p:sp>
        <p:nvSpPr>
          <p:cNvPr id="14" name="TextBox 13"/>
          <p:cNvSpPr txBox="1"/>
          <p:nvPr/>
        </p:nvSpPr>
        <p:spPr>
          <a:xfrm>
            <a:off x="10086684" y="2330963"/>
            <a:ext cx="1524000" cy="369332"/>
          </a:xfrm>
          <a:prstGeom prst="rect">
            <a:avLst/>
          </a:prstGeom>
          <a:noFill/>
        </p:spPr>
        <p:txBody>
          <a:bodyPr wrap="square" rtlCol="0">
            <a:spAutoFit/>
          </a:bodyPr>
          <a:lstStyle/>
          <a:p>
            <a:r>
              <a:rPr lang="en-IN" b="1" dirty="0" smtClean="0"/>
              <a:t>ANN output</a:t>
            </a:r>
            <a:endParaRPr lang="en-IN" b="1" dirty="0"/>
          </a:p>
        </p:txBody>
      </p:sp>
      <p:sp>
        <p:nvSpPr>
          <p:cNvPr id="15" name="TextBox 14"/>
          <p:cNvSpPr txBox="1"/>
          <p:nvPr/>
        </p:nvSpPr>
        <p:spPr>
          <a:xfrm>
            <a:off x="1818410" y="5581366"/>
            <a:ext cx="2157845" cy="369332"/>
          </a:xfrm>
          <a:prstGeom prst="rect">
            <a:avLst/>
          </a:prstGeom>
          <a:noFill/>
        </p:spPr>
        <p:txBody>
          <a:bodyPr wrap="square" rtlCol="0">
            <a:spAutoFit/>
          </a:bodyPr>
          <a:lstStyle/>
          <a:p>
            <a:r>
              <a:rPr lang="en-IN" b="1" dirty="0" smtClean="0"/>
              <a:t>ANN query-Input</a:t>
            </a:r>
            <a:endParaRPr lang="en-IN" b="1" dirty="0"/>
          </a:p>
        </p:txBody>
      </p:sp>
      <p:graphicFrame>
        <p:nvGraphicFramePr>
          <p:cNvPr id="16" name="Table 15"/>
          <p:cNvGraphicFramePr>
            <a:graphicFrameLocks noGrp="1"/>
          </p:cNvGraphicFramePr>
          <p:nvPr>
            <p:extLst>
              <p:ext uri="{D42A27DB-BD31-4B8C-83A1-F6EECF244321}">
                <p14:modId xmlns:p14="http://schemas.microsoft.com/office/powerpoint/2010/main" val="538316912"/>
              </p:ext>
            </p:extLst>
          </p:nvPr>
        </p:nvGraphicFramePr>
        <p:xfrm>
          <a:off x="848593" y="5950698"/>
          <a:ext cx="7062355" cy="370840"/>
        </p:xfrm>
        <a:graphic>
          <a:graphicData uri="http://schemas.openxmlformats.org/drawingml/2006/table">
            <a:tbl>
              <a:tblPr firstRow="1" bandRow="1">
                <a:tableStyleId>{D7AC3CCA-C797-4891-BE02-D94E43425B78}</a:tableStyleId>
              </a:tblPr>
              <a:tblGrid>
                <a:gridCol w="1412471">
                  <a:extLst>
                    <a:ext uri="{9D8B030D-6E8A-4147-A177-3AD203B41FA5}">
                      <a16:colId xmlns:a16="http://schemas.microsoft.com/office/drawing/2014/main" val="2224106849"/>
                    </a:ext>
                  </a:extLst>
                </a:gridCol>
                <a:gridCol w="1412471">
                  <a:extLst>
                    <a:ext uri="{9D8B030D-6E8A-4147-A177-3AD203B41FA5}">
                      <a16:colId xmlns:a16="http://schemas.microsoft.com/office/drawing/2014/main" val="74570919"/>
                    </a:ext>
                  </a:extLst>
                </a:gridCol>
                <a:gridCol w="1412471">
                  <a:extLst>
                    <a:ext uri="{9D8B030D-6E8A-4147-A177-3AD203B41FA5}">
                      <a16:colId xmlns:a16="http://schemas.microsoft.com/office/drawing/2014/main" val="2013013888"/>
                    </a:ext>
                  </a:extLst>
                </a:gridCol>
                <a:gridCol w="1412471">
                  <a:extLst>
                    <a:ext uri="{9D8B030D-6E8A-4147-A177-3AD203B41FA5}">
                      <a16:colId xmlns:a16="http://schemas.microsoft.com/office/drawing/2014/main" val="3162851560"/>
                    </a:ext>
                  </a:extLst>
                </a:gridCol>
                <a:gridCol w="1412471">
                  <a:extLst>
                    <a:ext uri="{9D8B030D-6E8A-4147-A177-3AD203B41FA5}">
                      <a16:colId xmlns:a16="http://schemas.microsoft.com/office/drawing/2014/main" val="1090373857"/>
                    </a:ext>
                  </a:extLst>
                </a:gridCol>
              </a:tblGrid>
              <a:tr h="370840">
                <a:tc>
                  <a:txBody>
                    <a:bodyPr/>
                    <a:lstStyle/>
                    <a:p>
                      <a:pPr algn="ctr"/>
                      <a:r>
                        <a:rPr lang="en-IN" b="0" dirty="0" smtClean="0"/>
                        <a:t>Oct, ‘17</a:t>
                      </a:r>
                      <a:endParaRPr lang="en-IN" b="0" dirty="0"/>
                    </a:p>
                  </a:txBody>
                  <a:tcPr>
                    <a:solidFill>
                      <a:schemeClr val="accent6">
                        <a:lumMod val="75000"/>
                      </a:schemeClr>
                    </a:solidFill>
                  </a:tcPr>
                </a:tc>
                <a:tc>
                  <a:txBody>
                    <a:bodyPr/>
                    <a:lstStyle/>
                    <a:p>
                      <a:pPr algn="ctr"/>
                      <a:r>
                        <a:rPr lang="en-IN" b="0" dirty="0" smtClean="0"/>
                        <a:t>Nov,</a:t>
                      </a:r>
                      <a:r>
                        <a:rPr lang="en-IN" b="0" baseline="0" dirty="0" smtClean="0"/>
                        <a:t> ’</a:t>
                      </a:r>
                      <a:r>
                        <a:rPr lang="en-IN" b="0" dirty="0" smtClean="0"/>
                        <a:t>17</a:t>
                      </a:r>
                      <a:endParaRPr lang="en-IN" b="0" dirty="0"/>
                    </a:p>
                  </a:txBody>
                  <a:tcPr>
                    <a:solidFill>
                      <a:schemeClr val="accent6">
                        <a:lumMod val="75000"/>
                      </a:schemeClr>
                    </a:solidFill>
                  </a:tcPr>
                </a:tc>
                <a:tc>
                  <a:txBody>
                    <a:bodyPr/>
                    <a:lstStyle/>
                    <a:p>
                      <a:pPr algn="ctr"/>
                      <a:r>
                        <a:rPr lang="en-IN" b="0" dirty="0" smtClean="0"/>
                        <a:t>Dec, ‘17</a:t>
                      </a:r>
                      <a:endParaRPr lang="en-IN" b="0" dirty="0"/>
                    </a:p>
                  </a:txBody>
                  <a:tcPr>
                    <a:solidFill>
                      <a:schemeClr val="accent6">
                        <a:lumMod val="75000"/>
                      </a:schemeClr>
                    </a:solidFill>
                  </a:tcPr>
                </a:tc>
                <a:tc>
                  <a:txBody>
                    <a:bodyPr/>
                    <a:lstStyle/>
                    <a:p>
                      <a:pPr algn="ctr"/>
                      <a:r>
                        <a:rPr lang="en-IN" b="0" dirty="0" smtClean="0"/>
                        <a:t>Jan, ’18</a:t>
                      </a:r>
                      <a:endParaRPr lang="en-IN" b="0" dirty="0"/>
                    </a:p>
                  </a:txBody>
                  <a:tcPr>
                    <a:solidFill>
                      <a:schemeClr val="accent6">
                        <a:lumMod val="75000"/>
                      </a:schemeClr>
                    </a:solidFill>
                  </a:tcPr>
                </a:tc>
                <a:tc>
                  <a:txBody>
                    <a:bodyPr/>
                    <a:lstStyle/>
                    <a:p>
                      <a:pPr algn="ctr"/>
                      <a:r>
                        <a:rPr lang="en-IN" b="0" dirty="0" smtClean="0"/>
                        <a:t>Feb, ’18</a:t>
                      </a:r>
                      <a:endParaRPr lang="en-IN" b="0" dirty="0"/>
                    </a:p>
                  </a:txBody>
                  <a:tcPr>
                    <a:solidFill>
                      <a:schemeClr val="accent6">
                        <a:lumMod val="75000"/>
                      </a:schemeClr>
                    </a:solidFill>
                  </a:tcPr>
                </a:tc>
                <a:extLst>
                  <a:ext uri="{0D108BD9-81ED-4DB2-BD59-A6C34878D82A}">
                    <a16:rowId xmlns:a16="http://schemas.microsoft.com/office/drawing/2014/main" val="1574514571"/>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457007475"/>
              </p:ext>
            </p:extLst>
          </p:nvPr>
        </p:nvGraphicFramePr>
        <p:xfrm>
          <a:off x="10138640" y="2754830"/>
          <a:ext cx="1499178" cy="2567505"/>
        </p:xfrm>
        <a:graphic>
          <a:graphicData uri="http://schemas.openxmlformats.org/drawingml/2006/table">
            <a:tbl>
              <a:tblPr firstRow="1" bandRow="1">
                <a:tableStyleId>{D7AC3CCA-C797-4891-BE02-D94E43425B78}</a:tableStyleId>
              </a:tblPr>
              <a:tblGrid>
                <a:gridCol w="1499178">
                  <a:extLst>
                    <a:ext uri="{9D8B030D-6E8A-4147-A177-3AD203B41FA5}">
                      <a16:colId xmlns:a16="http://schemas.microsoft.com/office/drawing/2014/main" val="673256668"/>
                    </a:ext>
                  </a:extLst>
                </a:gridCol>
              </a:tblGrid>
              <a:tr h="367197">
                <a:tc>
                  <a:txBody>
                    <a:bodyPr/>
                    <a:lstStyle/>
                    <a:p>
                      <a:pPr algn="ctr"/>
                      <a:r>
                        <a:rPr lang="en-IN" b="0" dirty="0" smtClean="0"/>
                        <a:t>march, ’51</a:t>
                      </a:r>
                      <a:endParaRPr lang="en-IN" b="0" dirty="0"/>
                    </a:p>
                  </a:txBody>
                  <a:tcPr>
                    <a:solidFill>
                      <a:srgbClr val="00B050"/>
                    </a:solidFill>
                  </a:tcPr>
                </a:tc>
                <a:extLst>
                  <a:ext uri="{0D108BD9-81ED-4DB2-BD59-A6C34878D82A}">
                    <a16:rowId xmlns:a16="http://schemas.microsoft.com/office/drawing/2014/main" val="842456963"/>
                  </a:ext>
                </a:extLst>
              </a:tr>
              <a:tr h="367197">
                <a:tc>
                  <a:txBody>
                    <a:bodyPr/>
                    <a:lstStyle/>
                    <a:p>
                      <a:pPr algn="ctr"/>
                      <a:r>
                        <a:rPr lang="en-IN" b="0" dirty="0" smtClean="0"/>
                        <a:t>march, ’52</a:t>
                      </a:r>
                      <a:endParaRPr lang="en-IN" b="0" dirty="0"/>
                    </a:p>
                  </a:txBody>
                  <a:tcPr>
                    <a:solidFill>
                      <a:srgbClr val="FFFF00"/>
                    </a:solidFill>
                  </a:tcPr>
                </a:tc>
                <a:extLst>
                  <a:ext uri="{0D108BD9-81ED-4DB2-BD59-A6C34878D82A}">
                    <a16:rowId xmlns:a16="http://schemas.microsoft.com/office/drawing/2014/main" val="2549336505"/>
                  </a:ext>
                </a:extLst>
              </a:tr>
              <a:tr h="367197">
                <a:tc>
                  <a:txBody>
                    <a:bodyPr/>
                    <a:lstStyle/>
                    <a:p>
                      <a:pPr algn="ctr"/>
                      <a:r>
                        <a:rPr lang="en-IN" b="0" dirty="0" smtClean="0"/>
                        <a:t>march, ’53</a:t>
                      </a:r>
                      <a:endParaRPr lang="en-IN" b="0" dirty="0"/>
                    </a:p>
                  </a:txBody>
                  <a:tcPr>
                    <a:solidFill>
                      <a:schemeClr val="accent1">
                        <a:lumMod val="60000"/>
                        <a:lumOff val="40000"/>
                      </a:schemeClr>
                    </a:solidFill>
                  </a:tcPr>
                </a:tc>
                <a:extLst>
                  <a:ext uri="{0D108BD9-81ED-4DB2-BD59-A6C34878D82A}">
                    <a16:rowId xmlns:a16="http://schemas.microsoft.com/office/drawing/2014/main" val="1540858971"/>
                  </a:ext>
                </a:extLst>
              </a:tr>
              <a:tr h="367197">
                <a:tc>
                  <a:txBody>
                    <a:bodyPr/>
                    <a:lstStyle/>
                    <a:p>
                      <a:pPr algn="ctr"/>
                      <a:r>
                        <a:rPr lang="en-IN" b="0" dirty="0" smtClean="0"/>
                        <a:t>march, ’54</a:t>
                      </a:r>
                      <a:endParaRPr lang="en-IN" b="0" dirty="0"/>
                    </a:p>
                  </a:txBody>
                  <a:tcPr>
                    <a:solidFill>
                      <a:srgbClr val="00B0F0"/>
                    </a:solidFill>
                  </a:tcPr>
                </a:tc>
                <a:extLst>
                  <a:ext uri="{0D108BD9-81ED-4DB2-BD59-A6C34878D82A}">
                    <a16:rowId xmlns:a16="http://schemas.microsoft.com/office/drawing/2014/main" val="843604353"/>
                  </a:ext>
                </a:extLst>
              </a:tr>
              <a:tr h="367197">
                <a:tc>
                  <a:txBody>
                    <a:bodyPr/>
                    <a:lstStyle/>
                    <a:p>
                      <a:pPr algn="ctr"/>
                      <a:r>
                        <a:rPr lang="en-IN" b="0" dirty="0" smtClean="0"/>
                        <a:t>…</a:t>
                      </a:r>
                      <a:endParaRPr lang="en-IN" b="0" dirty="0"/>
                    </a:p>
                  </a:txBody>
                  <a:tcPr/>
                </a:tc>
                <a:extLst>
                  <a:ext uri="{0D108BD9-81ED-4DB2-BD59-A6C34878D82A}">
                    <a16:rowId xmlns:a16="http://schemas.microsoft.com/office/drawing/2014/main" val="2931746413"/>
                  </a:ext>
                </a:extLst>
              </a:tr>
              <a:tr h="362167">
                <a:tc>
                  <a:txBody>
                    <a:bodyPr/>
                    <a:lstStyle/>
                    <a:p>
                      <a:pPr algn="ctr"/>
                      <a:r>
                        <a:rPr lang="en-IN" b="0" dirty="0" smtClean="0"/>
                        <a:t>march, ’18</a:t>
                      </a:r>
                      <a:endParaRPr lang="en-IN" b="0" dirty="0"/>
                    </a:p>
                  </a:txBody>
                  <a:tcPr>
                    <a:solidFill>
                      <a:srgbClr val="92D050"/>
                    </a:solidFill>
                  </a:tcPr>
                </a:tc>
                <a:extLst>
                  <a:ext uri="{0D108BD9-81ED-4DB2-BD59-A6C34878D82A}">
                    <a16:rowId xmlns:a16="http://schemas.microsoft.com/office/drawing/2014/main" val="1358316913"/>
                  </a:ext>
                </a:extLst>
              </a:tr>
              <a:tr h="362167">
                <a:tc>
                  <a:txBody>
                    <a:bodyPr/>
                    <a:lstStyle/>
                    <a:p>
                      <a:pPr algn="ctr"/>
                      <a:r>
                        <a:rPr lang="en-IN" b="0" dirty="0" smtClean="0"/>
                        <a:t>march, ‘19</a:t>
                      </a:r>
                      <a:endParaRPr lang="en-IN" b="0" dirty="0"/>
                    </a:p>
                  </a:txBody>
                  <a:tcPr>
                    <a:solidFill>
                      <a:schemeClr val="accent3">
                        <a:lumMod val="60000"/>
                        <a:lumOff val="40000"/>
                      </a:schemeClr>
                    </a:solidFill>
                  </a:tcPr>
                </a:tc>
                <a:extLst>
                  <a:ext uri="{0D108BD9-81ED-4DB2-BD59-A6C34878D82A}">
                    <a16:rowId xmlns:a16="http://schemas.microsoft.com/office/drawing/2014/main" val="1297270332"/>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824426587"/>
              </p:ext>
            </p:extLst>
          </p:nvPr>
        </p:nvGraphicFramePr>
        <p:xfrm>
          <a:off x="10161441" y="5950698"/>
          <a:ext cx="1374487" cy="370840"/>
        </p:xfrm>
        <a:graphic>
          <a:graphicData uri="http://schemas.openxmlformats.org/drawingml/2006/table">
            <a:tbl>
              <a:tblPr firstRow="1" bandRow="1">
                <a:tableStyleId>{D7AC3CCA-C797-4891-BE02-D94E43425B78}</a:tableStyleId>
              </a:tblPr>
              <a:tblGrid>
                <a:gridCol w="1374487">
                  <a:extLst>
                    <a:ext uri="{9D8B030D-6E8A-4147-A177-3AD203B41FA5}">
                      <a16:colId xmlns:a16="http://schemas.microsoft.com/office/drawing/2014/main" val="3710398620"/>
                    </a:ext>
                  </a:extLst>
                </a:gridCol>
              </a:tblGrid>
              <a:tr h="370840">
                <a:tc>
                  <a:txBody>
                    <a:bodyPr/>
                    <a:lstStyle/>
                    <a:p>
                      <a:pPr algn="ctr"/>
                      <a:r>
                        <a:rPr lang="en-IN" b="0" dirty="0" smtClean="0"/>
                        <a:t>march, ‘18</a:t>
                      </a:r>
                      <a:endParaRPr lang="en-IN" b="0" dirty="0"/>
                    </a:p>
                  </a:txBody>
                  <a:tcPr>
                    <a:solidFill>
                      <a:schemeClr val="accent6">
                        <a:lumMod val="75000"/>
                      </a:schemeClr>
                    </a:solidFill>
                  </a:tcPr>
                </a:tc>
                <a:extLst>
                  <a:ext uri="{0D108BD9-81ED-4DB2-BD59-A6C34878D82A}">
                    <a16:rowId xmlns:a16="http://schemas.microsoft.com/office/drawing/2014/main" val="956626628"/>
                  </a:ext>
                </a:extLst>
              </a:tr>
            </a:tbl>
          </a:graphicData>
        </a:graphic>
      </p:graphicFrame>
      <p:sp>
        <p:nvSpPr>
          <p:cNvPr id="19" name="TextBox 18"/>
          <p:cNvSpPr txBox="1"/>
          <p:nvPr/>
        </p:nvSpPr>
        <p:spPr>
          <a:xfrm>
            <a:off x="9505371" y="5581366"/>
            <a:ext cx="2686629" cy="369332"/>
          </a:xfrm>
          <a:prstGeom prst="rect">
            <a:avLst/>
          </a:prstGeom>
          <a:noFill/>
        </p:spPr>
        <p:txBody>
          <a:bodyPr wrap="square" rtlCol="0">
            <a:spAutoFit/>
          </a:bodyPr>
          <a:lstStyle/>
          <a:p>
            <a:r>
              <a:rPr lang="en-IN" b="1" dirty="0" smtClean="0"/>
              <a:t>ANN query-output</a:t>
            </a:r>
            <a:endParaRPr lang="en-IN" b="1" dirty="0"/>
          </a:p>
        </p:txBody>
      </p:sp>
      <p:sp>
        <p:nvSpPr>
          <p:cNvPr id="20" name="TextBox 19"/>
          <p:cNvSpPr txBox="1"/>
          <p:nvPr/>
        </p:nvSpPr>
        <p:spPr>
          <a:xfrm>
            <a:off x="8159604" y="3490511"/>
            <a:ext cx="1842656" cy="369332"/>
          </a:xfrm>
          <a:prstGeom prst="rect">
            <a:avLst/>
          </a:prstGeom>
          <a:noFill/>
        </p:spPr>
        <p:txBody>
          <a:bodyPr wrap="square" rtlCol="0">
            <a:spAutoFit/>
          </a:bodyPr>
          <a:lstStyle/>
          <a:p>
            <a:r>
              <a:rPr lang="en-IN" b="1" dirty="0" smtClean="0">
                <a:latin typeface="Consolas" panose="020B0609020204030204" pitchFamily="49" charset="0"/>
              </a:rPr>
              <a:t>Training data</a:t>
            </a:r>
            <a:endParaRPr lang="en-IN" b="1" dirty="0">
              <a:latin typeface="Consolas" panose="020B0609020204030204" pitchFamily="49" charset="0"/>
            </a:endParaRPr>
          </a:p>
        </p:txBody>
      </p:sp>
      <p:sp>
        <p:nvSpPr>
          <p:cNvPr id="4" name="TextBox 3"/>
          <p:cNvSpPr txBox="1"/>
          <p:nvPr/>
        </p:nvSpPr>
        <p:spPr>
          <a:xfrm>
            <a:off x="547258" y="6488668"/>
            <a:ext cx="3418608" cy="369332"/>
          </a:xfrm>
          <a:prstGeom prst="rect">
            <a:avLst/>
          </a:prstGeom>
          <a:noFill/>
        </p:spPr>
        <p:txBody>
          <a:bodyPr wrap="square" rtlCol="0">
            <a:spAutoFit/>
          </a:bodyPr>
          <a:lstStyle/>
          <a:p>
            <a:r>
              <a:rPr lang="en-IN" dirty="0" smtClean="0"/>
              <a:t>Problem create…..</a:t>
            </a:r>
            <a:endParaRPr lang="en-IN" dirty="0"/>
          </a:p>
        </p:txBody>
      </p:sp>
    </p:spTree>
    <p:extLst>
      <p:ext uri="{BB962C8B-B14F-4D97-AF65-F5344CB8AC3E}">
        <p14:creationId xmlns:p14="http://schemas.microsoft.com/office/powerpoint/2010/main" val="163524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80">
                                          <p:stCondLst>
                                            <p:cond delay="0"/>
                                          </p:stCondLst>
                                        </p:cTn>
                                        <p:tgtEl>
                                          <p:spTgt spid="3">
                                            <p:txEl>
                                              <p:pRg st="0" end="0"/>
                                            </p:txEl>
                                          </p:spTgt>
                                        </p:tgtEl>
                                      </p:cBhvr>
                                    </p:animEffect>
                                    <p:anim calcmode="lin" valueType="num">
                                      <p:cBhvr>
                                        <p:cTn id="1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0" end="0"/>
                                            </p:txEl>
                                          </p:spTgt>
                                        </p:tgtEl>
                                      </p:cBhvr>
                                      <p:to x="100000" y="60000"/>
                                    </p:animScale>
                                    <p:animScale>
                                      <p:cBhvr>
                                        <p:cTn id="18" dur="166" decel="50000">
                                          <p:stCondLst>
                                            <p:cond delay="676"/>
                                          </p:stCondLst>
                                        </p:cTn>
                                        <p:tgtEl>
                                          <p:spTgt spid="3">
                                            <p:txEl>
                                              <p:pRg st="0" end="0"/>
                                            </p:txEl>
                                          </p:spTgt>
                                        </p:tgtEl>
                                      </p:cBhvr>
                                      <p:to x="100000" y="100000"/>
                                    </p:animScale>
                                    <p:animScale>
                                      <p:cBhvr>
                                        <p:cTn id="19" dur="26">
                                          <p:stCondLst>
                                            <p:cond delay="1312"/>
                                          </p:stCondLst>
                                        </p:cTn>
                                        <p:tgtEl>
                                          <p:spTgt spid="3">
                                            <p:txEl>
                                              <p:pRg st="0" end="0"/>
                                            </p:txEl>
                                          </p:spTgt>
                                        </p:tgtEl>
                                      </p:cBhvr>
                                      <p:to x="100000" y="80000"/>
                                    </p:animScale>
                                    <p:animScale>
                                      <p:cBhvr>
                                        <p:cTn id="20" dur="166" decel="50000">
                                          <p:stCondLst>
                                            <p:cond delay="1338"/>
                                          </p:stCondLst>
                                        </p:cTn>
                                        <p:tgtEl>
                                          <p:spTgt spid="3">
                                            <p:txEl>
                                              <p:pRg st="0" end="0"/>
                                            </p:txEl>
                                          </p:spTgt>
                                        </p:tgtEl>
                                      </p:cBhvr>
                                      <p:to x="100000" y="100000"/>
                                    </p:animScale>
                                    <p:animScale>
                                      <p:cBhvr>
                                        <p:cTn id="21" dur="26">
                                          <p:stCondLst>
                                            <p:cond delay="1642"/>
                                          </p:stCondLst>
                                        </p:cTn>
                                        <p:tgtEl>
                                          <p:spTgt spid="3">
                                            <p:txEl>
                                              <p:pRg st="0" end="0"/>
                                            </p:txEl>
                                          </p:spTgt>
                                        </p:tgtEl>
                                      </p:cBhvr>
                                      <p:to x="100000" y="90000"/>
                                    </p:animScale>
                                    <p:animScale>
                                      <p:cBhvr>
                                        <p:cTn id="22" dur="166" decel="50000">
                                          <p:stCondLst>
                                            <p:cond delay="1668"/>
                                          </p:stCondLst>
                                        </p:cTn>
                                        <p:tgtEl>
                                          <p:spTgt spid="3">
                                            <p:txEl>
                                              <p:pRg st="0" end="0"/>
                                            </p:txEl>
                                          </p:spTgt>
                                        </p:tgtEl>
                                      </p:cBhvr>
                                      <p:to x="100000" y="100000"/>
                                    </p:animScale>
                                    <p:animScale>
                                      <p:cBhvr>
                                        <p:cTn id="23" dur="26">
                                          <p:stCondLst>
                                            <p:cond delay="1808"/>
                                          </p:stCondLst>
                                        </p:cTn>
                                        <p:tgtEl>
                                          <p:spTgt spid="3">
                                            <p:txEl>
                                              <p:pRg st="0" end="0"/>
                                            </p:txEl>
                                          </p:spTgt>
                                        </p:tgtEl>
                                      </p:cBhvr>
                                      <p:to x="100000" y="95000"/>
                                    </p:animScale>
                                    <p:animScale>
                                      <p:cBhvr>
                                        <p:cTn id="24" dur="166" decel="50000">
                                          <p:stCondLst>
                                            <p:cond delay="1834"/>
                                          </p:stCondLst>
                                        </p:cTn>
                                        <p:tgtEl>
                                          <p:spTgt spid="3">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wipe(down)">
                                      <p:cBhvr>
                                        <p:cTn id="29" dur="580">
                                          <p:stCondLst>
                                            <p:cond delay="0"/>
                                          </p:stCondLst>
                                        </p:cTn>
                                        <p:tgtEl>
                                          <p:spTgt spid="3">
                                            <p:txEl>
                                              <p:pRg st="1" end="1"/>
                                            </p:txEl>
                                          </p:spTgt>
                                        </p:tgtEl>
                                      </p:cBhvr>
                                    </p:animEffect>
                                    <p:anim calcmode="lin" valueType="num">
                                      <p:cBhvr>
                                        <p:cTn id="30"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1" end="1"/>
                                            </p:txEl>
                                          </p:spTgt>
                                        </p:tgtEl>
                                      </p:cBhvr>
                                      <p:to x="100000" y="60000"/>
                                    </p:animScale>
                                    <p:animScale>
                                      <p:cBhvr>
                                        <p:cTn id="36" dur="166" decel="50000">
                                          <p:stCondLst>
                                            <p:cond delay="676"/>
                                          </p:stCondLst>
                                        </p:cTn>
                                        <p:tgtEl>
                                          <p:spTgt spid="3">
                                            <p:txEl>
                                              <p:pRg st="1" end="1"/>
                                            </p:txEl>
                                          </p:spTgt>
                                        </p:tgtEl>
                                      </p:cBhvr>
                                      <p:to x="100000" y="100000"/>
                                    </p:animScale>
                                    <p:animScale>
                                      <p:cBhvr>
                                        <p:cTn id="37" dur="26">
                                          <p:stCondLst>
                                            <p:cond delay="1312"/>
                                          </p:stCondLst>
                                        </p:cTn>
                                        <p:tgtEl>
                                          <p:spTgt spid="3">
                                            <p:txEl>
                                              <p:pRg st="1" end="1"/>
                                            </p:txEl>
                                          </p:spTgt>
                                        </p:tgtEl>
                                      </p:cBhvr>
                                      <p:to x="100000" y="80000"/>
                                    </p:animScale>
                                    <p:animScale>
                                      <p:cBhvr>
                                        <p:cTn id="38" dur="166" decel="50000">
                                          <p:stCondLst>
                                            <p:cond delay="1338"/>
                                          </p:stCondLst>
                                        </p:cTn>
                                        <p:tgtEl>
                                          <p:spTgt spid="3">
                                            <p:txEl>
                                              <p:pRg st="1" end="1"/>
                                            </p:txEl>
                                          </p:spTgt>
                                        </p:tgtEl>
                                      </p:cBhvr>
                                      <p:to x="100000" y="100000"/>
                                    </p:animScale>
                                    <p:animScale>
                                      <p:cBhvr>
                                        <p:cTn id="39" dur="26">
                                          <p:stCondLst>
                                            <p:cond delay="1642"/>
                                          </p:stCondLst>
                                        </p:cTn>
                                        <p:tgtEl>
                                          <p:spTgt spid="3">
                                            <p:txEl>
                                              <p:pRg st="1" end="1"/>
                                            </p:txEl>
                                          </p:spTgt>
                                        </p:tgtEl>
                                      </p:cBhvr>
                                      <p:to x="100000" y="90000"/>
                                    </p:animScale>
                                    <p:animScale>
                                      <p:cBhvr>
                                        <p:cTn id="40" dur="166" decel="50000">
                                          <p:stCondLst>
                                            <p:cond delay="1668"/>
                                          </p:stCondLst>
                                        </p:cTn>
                                        <p:tgtEl>
                                          <p:spTgt spid="3">
                                            <p:txEl>
                                              <p:pRg st="1" end="1"/>
                                            </p:txEl>
                                          </p:spTgt>
                                        </p:tgtEl>
                                      </p:cBhvr>
                                      <p:to x="100000" y="100000"/>
                                    </p:animScale>
                                    <p:animScale>
                                      <p:cBhvr>
                                        <p:cTn id="41" dur="26">
                                          <p:stCondLst>
                                            <p:cond delay="1808"/>
                                          </p:stCondLst>
                                        </p:cTn>
                                        <p:tgtEl>
                                          <p:spTgt spid="3">
                                            <p:txEl>
                                              <p:pRg st="1" end="1"/>
                                            </p:txEl>
                                          </p:spTgt>
                                        </p:tgtEl>
                                      </p:cBhvr>
                                      <p:to x="100000" y="95000"/>
                                    </p:animScale>
                                    <p:animScale>
                                      <p:cBhvr>
                                        <p:cTn id="42" dur="166" decel="50000">
                                          <p:stCondLst>
                                            <p:cond delay="1834"/>
                                          </p:stCondLst>
                                        </p:cTn>
                                        <p:tgtEl>
                                          <p:spTgt spid="3">
                                            <p:txEl>
                                              <p:pRg st="1" end="1"/>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wipe(down)">
                                      <p:cBhvr>
                                        <p:cTn id="47" dur="580">
                                          <p:stCondLst>
                                            <p:cond delay="0"/>
                                          </p:stCondLst>
                                        </p:cTn>
                                        <p:tgtEl>
                                          <p:spTgt spid="3">
                                            <p:txEl>
                                              <p:pRg st="2" end="2"/>
                                            </p:txEl>
                                          </p:spTgt>
                                        </p:tgtEl>
                                      </p:cBhvr>
                                    </p:animEffect>
                                    <p:anim calcmode="lin" valueType="num">
                                      <p:cBhvr>
                                        <p:cTn id="48"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2" end="2"/>
                                            </p:txEl>
                                          </p:spTgt>
                                        </p:tgtEl>
                                      </p:cBhvr>
                                      <p:to x="100000" y="60000"/>
                                    </p:animScale>
                                    <p:animScale>
                                      <p:cBhvr>
                                        <p:cTn id="54" dur="166" decel="50000">
                                          <p:stCondLst>
                                            <p:cond delay="676"/>
                                          </p:stCondLst>
                                        </p:cTn>
                                        <p:tgtEl>
                                          <p:spTgt spid="3">
                                            <p:txEl>
                                              <p:pRg st="2" end="2"/>
                                            </p:txEl>
                                          </p:spTgt>
                                        </p:tgtEl>
                                      </p:cBhvr>
                                      <p:to x="100000" y="100000"/>
                                    </p:animScale>
                                    <p:animScale>
                                      <p:cBhvr>
                                        <p:cTn id="55" dur="26">
                                          <p:stCondLst>
                                            <p:cond delay="1312"/>
                                          </p:stCondLst>
                                        </p:cTn>
                                        <p:tgtEl>
                                          <p:spTgt spid="3">
                                            <p:txEl>
                                              <p:pRg st="2" end="2"/>
                                            </p:txEl>
                                          </p:spTgt>
                                        </p:tgtEl>
                                      </p:cBhvr>
                                      <p:to x="100000" y="80000"/>
                                    </p:animScale>
                                    <p:animScale>
                                      <p:cBhvr>
                                        <p:cTn id="56" dur="166" decel="50000">
                                          <p:stCondLst>
                                            <p:cond delay="1338"/>
                                          </p:stCondLst>
                                        </p:cTn>
                                        <p:tgtEl>
                                          <p:spTgt spid="3">
                                            <p:txEl>
                                              <p:pRg st="2" end="2"/>
                                            </p:txEl>
                                          </p:spTgt>
                                        </p:tgtEl>
                                      </p:cBhvr>
                                      <p:to x="100000" y="100000"/>
                                    </p:animScale>
                                    <p:animScale>
                                      <p:cBhvr>
                                        <p:cTn id="57" dur="26">
                                          <p:stCondLst>
                                            <p:cond delay="1642"/>
                                          </p:stCondLst>
                                        </p:cTn>
                                        <p:tgtEl>
                                          <p:spTgt spid="3">
                                            <p:txEl>
                                              <p:pRg st="2" end="2"/>
                                            </p:txEl>
                                          </p:spTgt>
                                        </p:tgtEl>
                                      </p:cBhvr>
                                      <p:to x="100000" y="90000"/>
                                    </p:animScale>
                                    <p:animScale>
                                      <p:cBhvr>
                                        <p:cTn id="58" dur="166" decel="50000">
                                          <p:stCondLst>
                                            <p:cond delay="1668"/>
                                          </p:stCondLst>
                                        </p:cTn>
                                        <p:tgtEl>
                                          <p:spTgt spid="3">
                                            <p:txEl>
                                              <p:pRg st="2" end="2"/>
                                            </p:txEl>
                                          </p:spTgt>
                                        </p:tgtEl>
                                      </p:cBhvr>
                                      <p:to x="100000" y="100000"/>
                                    </p:animScale>
                                    <p:animScale>
                                      <p:cBhvr>
                                        <p:cTn id="59" dur="26">
                                          <p:stCondLst>
                                            <p:cond delay="1808"/>
                                          </p:stCondLst>
                                        </p:cTn>
                                        <p:tgtEl>
                                          <p:spTgt spid="3">
                                            <p:txEl>
                                              <p:pRg st="2" end="2"/>
                                            </p:txEl>
                                          </p:spTgt>
                                        </p:tgtEl>
                                      </p:cBhvr>
                                      <p:to x="100000" y="95000"/>
                                    </p:animScale>
                                    <p:animScale>
                                      <p:cBhvr>
                                        <p:cTn id="60" dur="166" decel="50000">
                                          <p:stCondLst>
                                            <p:cond delay="1834"/>
                                          </p:stCondLst>
                                        </p:cTn>
                                        <p:tgtEl>
                                          <p:spTgt spid="3">
                                            <p:txEl>
                                              <p:pRg st="2" end="2"/>
                                            </p:txEl>
                                          </p:spTgt>
                                        </p:tgtEl>
                                      </p:cBhvr>
                                      <p:to x="100000" y="100000"/>
                                    </p:animScale>
                                  </p:childTnLst>
                                </p:cTn>
                              </p:par>
                              <p:par>
                                <p:cTn id="61" presetID="26" presetClass="entr" presetSubtype="0" fill="hold" nodeType="with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animEffect transition="in" filter="wipe(down)">
                                      <p:cBhvr>
                                        <p:cTn id="63" dur="580">
                                          <p:stCondLst>
                                            <p:cond delay="0"/>
                                          </p:stCondLst>
                                        </p:cTn>
                                        <p:tgtEl>
                                          <p:spTgt spid="3">
                                            <p:txEl>
                                              <p:pRg st="3" end="3"/>
                                            </p:txEl>
                                          </p:spTgt>
                                        </p:tgtEl>
                                      </p:cBhvr>
                                    </p:animEffect>
                                    <p:anim calcmode="lin" valueType="num">
                                      <p:cBhvr>
                                        <p:cTn id="6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9" dur="26">
                                          <p:stCondLst>
                                            <p:cond delay="650"/>
                                          </p:stCondLst>
                                        </p:cTn>
                                        <p:tgtEl>
                                          <p:spTgt spid="3">
                                            <p:txEl>
                                              <p:pRg st="3" end="3"/>
                                            </p:txEl>
                                          </p:spTgt>
                                        </p:tgtEl>
                                      </p:cBhvr>
                                      <p:to x="100000" y="60000"/>
                                    </p:animScale>
                                    <p:animScale>
                                      <p:cBhvr>
                                        <p:cTn id="70" dur="166" decel="50000">
                                          <p:stCondLst>
                                            <p:cond delay="676"/>
                                          </p:stCondLst>
                                        </p:cTn>
                                        <p:tgtEl>
                                          <p:spTgt spid="3">
                                            <p:txEl>
                                              <p:pRg st="3" end="3"/>
                                            </p:txEl>
                                          </p:spTgt>
                                        </p:tgtEl>
                                      </p:cBhvr>
                                      <p:to x="100000" y="100000"/>
                                    </p:animScale>
                                    <p:animScale>
                                      <p:cBhvr>
                                        <p:cTn id="71" dur="26">
                                          <p:stCondLst>
                                            <p:cond delay="1312"/>
                                          </p:stCondLst>
                                        </p:cTn>
                                        <p:tgtEl>
                                          <p:spTgt spid="3">
                                            <p:txEl>
                                              <p:pRg st="3" end="3"/>
                                            </p:txEl>
                                          </p:spTgt>
                                        </p:tgtEl>
                                      </p:cBhvr>
                                      <p:to x="100000" y="80000"/>
                                    </p:animScale>
                                    <p:animScale>
                                      <p:cBhvr>
                                        <p:cTn id="72" dur="166" decel="50000">
                                          <p:stCondLst>
                                            <p:cond delay="1338"/>
                                          </p:stCondLst>
                                        </p:cTn>
                                        <p:tgtEl>
                                          <p:spTgt spid="3">
                                            <p:txEl>
                                              <p:pRg st="3" end="3"/>
                                            </p:txEl>
                                          </p:spTgt>
                                        </p:tgtEl>
                                      </p:cBhvr>
                                      <p:to x="100000" y="100000"/>
                                    </p:animScale>
                                    <p:animScale>
                                      <p:cBhvr>
                                        <p:cTn id="73" dur="26">
                                          <p:stCondLst>
                                            <p:cond delay="1642"/>
                                          </p:stCondLst>
                                        </p:cTn>
                                        <p:tgtEl>
                                          <p:spTgt spid="3">
                                            <p:txEl>
                                              <p:pRg st="3" end="3"/>
                                            </p:txEl>
                                          </p:spTgt>
                                        </p:tgtEl>
                                      </p:cBhvr>
                                      <p:to x="100000" y="90000"/>
                                    </p:animScale>
                                    <p:animScale>
                                      <p:cBhvr>
                                        <p:cTn id="74" dur="166" decel="50000">
                                          <p:stCondLst>
                                            <p:cond delay="1668"/>
                                          </p:stCondLst>
                                        </p:cTn>
                                        <p:tgtEl>
                                          <p:spTgt spid="3">
                                            <p:txEl>
                                              <p:pRg st="3" end="3"/>
                                            </p:txEl>
                                          </p:spTgt>
                                        </p:tgtEl>
                                      </p:cBhvr>
                                      <p:to x="100000" y="100000"/>
                                    </p:animScale>
                                    <p:animScale>
                                      <p:cBhvr>
                                        <p:cTn id="75" dur="26">
                                          <p:stCondLst>
                                            <p:cond delay="1808"/>
                                          </p:stCondLst>
                                        </p:cTn>
                                        <p:tgtEl>
                                          <p:spTgt spid="3">
                                            <p:txEl>
                                              <p:pRg st="3" end="3"/>
                                            </p:txEl>
                                          </p:spTgt>
                                        </p:tgtEl>
                                      </p:cBhvr>
                                      <p:to x="100000" y="95000"/>
                                    </p:animScale>
                                    <p:animScale>
                                      <p:cBhvr>
                                        <p:cTn id="76" dur="166" decel="50000">
                                          <p:stCondLst>
                                            <p:cond delay="1834"/>
                                          </p:stCondLst>
                                        </p:cTn>
                                        <p:tgtEl>
                                          <p:spTgt spid="3">
                                            <p:txEl>
                                              <p:pRg st="3" end="3"/>
                                            </p:txEl>
                                          </p:spTgt>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wipe(down)">
                                      <p:cBhvr>
                                        <p:cTn id="81" dur="580">
                                          <p:stCondLst>
                                            <p:cond delay="0"/>
                                          </p:stCondLst>
                                        </p:cTn>
                                        <p:tgtEl>
                                          <p:spTgt spid="20"/>
                                        </p:tgtEl>
                                      </p:cBhvr>
                                    </p:animEffect>
                                    <p:anim calcmode="lin" valueType="num">
                                      <p:cBhvr>
                                        <p:cTn id="82"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87" dur="26">
                                          <p:stCondLst>
                                            <p:cond delay="650"/>
                                          </p:stCondLst>
                                        </p:cTn>
                                        <p:tgtEl>
                                          <p:spTgt spid="20"/>
                                        </p:tgtEl>
                                      </p:cBhvr>
                                      <p:to x="100000" y="60000"/>
                                    </p:animScale>
                                    <p:animScale>
                                      <p:cBhvr>
                                        <p:cTn id="88" dur="166" decel="50000">
                                          <p:stCondLst>
                                            <p:cond delay="676"/>
                                          </p:stCondLst>
                                        </p:cTn>
                                        <p:tgtEl>
                                          <p:spTgt spid="20"/>
                                        </p:tgtEl>
                                      </p:cBhvr>
                                      <p:to x="100000" y="100000"/>
                                    </p:animScale>
                                    <p:animScale>
                                      <p:cBhvr>
                                        <p:cTn id="89" dur="26">
                                          <p:stCondLst>
                                            <p:cond delay="1312"/>
                                          </p:stCondLst>
                                        </p:cTn>
                                        <p:tgtEl>
                                          <p:spTgt spid="20"/>
                                        </p:tgtEl>
                                      </p:cBhvr>
                                      <p:to x="100000" y="80000"/>
                                    </p:animScale>
                                    <p:animScale>
                                      <p:cBhvr>
                                        <p:cTn id="90" dur="166" decel="50000">
                                          <p:stCondLst>
                                            <p:cond delay="1338"/>
                                          </p:stCondLst>
                                        </p:cTn>
                                        <p:tgtEl>
                                          <p:spTgt spid="20"/>
                                        </p:tgtEl>
                                      </p:cBhvr>
                                      <p:to x="100000" y="100000"/>
                                    </p:animScale>
                                    <p:animScale>
                                      <p:cBhvr>
                                        <p:cTn id="91" dur="26">
                                          <p:stCondLst>
                                            <p:cond delay="1642"/>
                                          </p:stCondLst>
                                        </p:cTn>
                                        <p:tgtEl>
                                          <p:spTgt spid="20"/>
                                        </p:tgtEl>
                                      </p:cBhvr>
                                      <p:to x="100000" y="90000"/>
                                    </p:animScale>
                                    <p:animScale>
                                      <p:cBhvr>
                                        <p:cTn id="92" dur="166" decel="50000">
                                          <p:stCondLst>
                                            <p:cond delay="1668"/>
                                          </p:stCondLst>
                                        </p:cTn>
                                        <p:tgtEl>
                                          <p:spTgt spid="20"/>
                                        </p:tgtEl>
                                      </p:cBhvr>
                                      <p:to x="100000" y="100000"/>
                                    </p:animScale>
                                    <p:animScale>
                                      <p:cBhvr>
                                        <p:cTn id="93" dur="26">
                                          <p:stCondLst>
                                            <p:cond delay="1808"/>
                                          </p:stCondLst>
                                        </p:cTn>
                                        <p:tgtEl>
                                          <p:spTgt spid="20"/>
                                        </p:tgtEl>
                                      </p:cBhvr>
                                      <p:to x="100000" y="95000"/>
                                    </p:animScale>
                                    <p:animScale>
                                      <p:cBhvr>
                                        <p:cTn id="94" dur="166" decel="50000">
                                          <p:stCondLst>
                                            <p:cond delay="1834"/>
                                          </p:stCondLst>
                                        </p:cTn>
                                        <p:tgtEl>
                                          <p:spTgt spid="20"/>
                                        </p:tgtEl>
                                      </p:cBhvr>
                                      <p:to x="100000" y="100000"/>
                                    </p:animScale>
                                  </p:childTnLst>
                                </p:cTn>
                              </p:par>
                            </p:childTnLst>
                          </p:cTn>
                        </p:par>
                      </p:childTnLst>
                    </p:cTn>
                  </p:par>
                  <p:par>
                    <p:cTn id="95" fill="hold">
                      <p:stCondLst>
                        <p:cond delay="indefinite"/>
                      </p:stCondLst>
                      <p:childTnLst>
                        <p:par>
                          <p:cTn id="96" fill="hold">
                            <p:stCondLst>
                              <p:cond delay="0"/>
                            </p:stCondLst>
                            <p:childTnLst>
                              <p:par>
                                <p:cTn id="97" presetID="26" presetClass="entr" presetSubtype="0" fill="hold" grpId="0" nodeType="click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wipe(down)">
                                      <p:cBhvr>
                                        <p:cTn id="99" dur="580">
                                          <p:stCondLst>
                                            <p:cond delay="0"/>
                                          </p:stCondLst>
                                        </p:cTn>
                                        <p:tgtEl>
                                          <p:spTgt spid="13"/>
                                        </p:tgtEl>
                                      </p:cBhvr>
                                    </p:animEffect>
                                    <p:anim calcmode="lin" valueType="num">
                                      <p:cBhvr>
                                        <p:cTn id="10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0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0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0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0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05" dur="26">
                                          <p:stCondLst>
                                            <p:cond delay="650"/>
                                          </p:stCondLst>
                                        </p:cTn>
                                        <p:tgtEl>
                                          <p:spTgt spid="13"/>
                                        </p:tgtEl>
                                      </p:cBhvr>
                                      <p:to x="100000" y="60000"/>
                                    </p:animScale>
                                    <p:animScale>
                                      <p:cBhvr>
                                        <p:cTn id="106" dur="166" decel="50000">
                                          <p:stCondLst>
                                            <p:cond delay="676"/>
                                          </p:stCondLst>
                                        </p:cTn>
                                        <p:tgtEl>
                                          <p:spTgt spid="13"/>
                                        </p:tgtEl>
                                      </p:cBhvr>
                                      <p:to x="100000" y="100000"/>
                                    </p:animScale>
                                    <p:animScale>
                                      <p:cBhvr>
                                        <p:cTn id="107" dur="26">
                                          <p:stCondLst>
                                            <p:cond delay="1312"/>
                                          </p:stCondLst>
                                        </p:cTn>
                                        <p:tgtEl>
                                          <p:spTgt spid="13"/>
                                        </p:tgtEl>
                                      </p:cBhvr>
                                      <p:to x="100000" y="80000"/>
                                    </p:animScale>
                                    <p:animScale>
                                      <p:cBhvr>
                                        <p:cTn id="108" dur="166" decel="50000">
                                          <p:stCondLst>
                                            <p:cond delay="1338"/>
                                          </p:stCondLst>
                                        </p:cTn>
                                        <p:tgtEl>
                                          <p:spTgt spid="13"/>
                                        </p:tgtEl>
                                      </p:cBhvr>
                                      <p:to x="100000" y="100000"/>
                                    </p:animScale>
                                    <p:animScale>
                                      <p:cBhvr>
                                        <p:cTn id="109" dur="26">
                                          <p:stCondLst>
                                            <p:cond delay="1642"/>
                                          </p:stCondLst>
                                        </p:cTn>
                                        <p:tgtEl>
                                          <p:spTgt spid="13"/>
                                        </p:tgtEl>
                                      </p:cBhvr>
                                      <p:to x="100000" y="90000"/>
                                    </p:animScale>
                                    <p:animScale>
                                      <p:cBhvr>
                                        <p:cTn id="110" dur="166" decel="50000">
                                          <p:stCondLst>
                                            <p:cond delay="1668"/>
                                          </p:stCondLst>
                                        </p:cTn>
                                        <p:tgtEl>
                                          <p:spTgt spid="13"/>
                                        </p:tgtEl>
                                      </p:cBhvr>
                                      <p:to x="100000" y="100000"/>
                                    </p:animScale>
                                    <p:animScale>
                                      <p:cBhvr>
                                        <p:cTn id="111" dur="26">
                                          <p:stCondLst>
                                            <p:cond delay="1808"/>
                                          </p:stCondLst>
                                        </p:cTn>
                                        <p:tgtEl>
                                          <p:spTgt spid="13"/>
                                        </p:tgtEl>
                                      </p:cBhvr>
                                      <p:to x="100000" y="95000"/>
                                    </p:animScale>
                                    <p:animScale>
                                      <p:cBhvr>
                                        <p:cTn id="112" dur="166" decel="50000">
                                          <p:stCondLst>
                                            <p:cond delay="1834"/>
                                          </p:stCondLst>
                                        </p:cTn>
                                        <p:tgtEl>
                                          <p:spTgt spid="13"/>
                                        </p:tgtEl>
                                      </p:cBhvr>
                                      <p:to x="100000" y="100000"/>
                                    </p:animScale>
                                  </p:childTnLst>
                                </p:cTn>
                              </p:par>
                              <p:par>
                                <p:cTn id="113" presetID="26" presetClass="entr" presetSubtype="0"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Effect transition="in" filter="wipe(down)">
                                      <p:cBhvr>
                                        <p:cTn id="115" dur="580">
                                          <p:stCondLst>
                                            <p:cond delay="0"/>
                                          </p:stCondLst>
                                        </p:cTn>
                                        <p:tgtEl>
                                          <p:spTgt spid="14"/>
                                        </p:tgtEl>
                                      </p:cBhvr>
                                    </p:animEffect>
                                    <p:anim calcmode="lin" valueType="num">
                                      <p:cBhvr>
                                        <p:cTn id="11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21" dur="26">
                                          <p:stCondLst>
                                            <p:cond delay="650"/>
                                          </p:stCondLst>
                                        </p:cTn>
                                        <p:tgtEl>
                                          <p:spTgt spid="14"/>
                                        </p:tgtEl>
                                      </p:cBhvr>
                                      <p:to x="100000" y="60000"/>
                                    </p:animScale>
                                    <p:animScale>
                                      <p:cBhvr>
                                        <p:cTn id="122" dur="166" decel="50000">
                                          <p:stCondLst>
                                            <p:cond delay="676"/>
                                          </p:stCondLst>
                                        </p:cTn>
                                        <p:tgtEl>
                                          <p:spTgt spid="14"/>
                                        </p:tgtEl>
                                      </p:cBhvr>
                                      <p:to x="100000" y="100000"/>
                                    </p:animScale>
                                    <p:animScale>
                                      <p:cBhvr>
                                        <p:cTn id="123" dur="26">
                                          <p:stCondLst>
                                            <p:cond delay="1312"/>
                                          </p:stCondLst>
                                        </p:cTn>
                                        <p:tgtEl>
                                          <p:spTgt spid="14"/>
                                        </p:tgtEl>
                                      </p:cBhvr>
                                      <p:to x="100000" y="80000"/>
                                    </p:animScale>
                                    <p:animScale>
                                      <p:cBhvr>
                                        <p:cTn id="124" dur="166" decel="50000">
                                          <p:stCondLst>
                                            <p:cond delay="1338"/>
                                          </p:stCondLst>
                                        </p:cTn>
                                        <p:tgtEl>
                                          <p:spTgt spid="14"/>
                                        </p:tgtEl>
                                      </p:cBhvr>
                                      <p:to x="100000" y="100000"/>
                                    </p:animScale>
                                    <p:animScale>
                                      <p:cBhvr>
                                        <p:cTn id="125" dur="26">
                                          <p:stCondLst>
                                            <p:cond delay="1642"/>
                                          </p:stCondLst>
                                        </p:cTn>
                                        <p:tgtEl>
                                          <p:spTgt spid="14"/>
                                        </p:tgtEl>
                                      </p:cBhvr>
                                      <p:to x="100000" y="90000"/>
                                    </p:animScale>
                                    <p:animScale>
                                      <p:cBhvr>
                                        <p:cTn id="126" dur="166" decel="50000">
                                          <p:stCondLst>
                                            <p:cond delay="1668"/>
                                          </p:stCondLst>
                                        </p:cTn>
                                        <p:tgtEl>
                                          <p:spTgt spid="14"/>
                                        </p:tgtEl>
                                      </p:cBhvr>
                                      <p:to x="100000" y="100000"/>
                                    </p:animScale>
                                    <p:animScale>
                                      <p:cBhvr>
                                        <p:cTn id="127" dur="26">
                                          <p:stCondLst>
                                            <p:cond delay="1808"/>
                                          </p:stCondLst>
                                        </p:cTn>
                                        <p:tgtEl>
                                          <p:spTgt spid="14"/>
                                        </p:tgtEl>
                                      </p:cBhvr>
                                      <p:to x="100000" y="95000"/>
                                    </p:animScale>
                                    <p:animScale>
                                      <p:cBhvr>
                                        <p:cTn id="128" dur="166" decel="50000">
                                          <p:stCondLst>
                                            <p:cond delay="1834"/>
                                          </p:stCondLst>
                                        </p:cTn>
                                        <p:tgtEl>
                                          <p:spTgt spid="14"/>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14" presetClass="entr" presetSubtype="10" fill="hold" nodeType="clickEffect">
                                  <p:stCondLst>
                                    <p:cond delay="0"/>
                                  </p:stCondLst>
                                  <p:childTnLst>
                                    <p:set>
                                      <p:cBhvr>
                                        <p:cTn id="132" dur="1" fill="hold">
                                          <p:stCondLst>
                                            <p:cond delay="0"/>
                                          </p:stCondLst>
                                        </p:cTn>
                                        <p:tgtEl>
                                          <p:spTgt spid="12"/>
                                        </p:tgtEl>
                                        <p:attrNameLst>
                                          <p:attrName>style.visibility</p:attrName>
                                        </p:attrNameLst>
                                      </p:cBhvr>
                                      <p:to>
                                        <p:strVal val="visible"/>
                                      </p:to>
                                    </p:set>
                                    <p:animEffect transition="in" filter="randombar(horizontal)">
                                      <p:cBhvr>
                                        <p:cTn id="133" dur="500"/>
                                        <p:tgtEl>
                                          <p:spTgt spid="12"/>
                                        </p:tgtEl>
                                      </p:cBhvr>
                                    </p:animEffect>
                                  </p:childTnLst>
                                </p:cTn>
                              </p:par>
                              <p:par>
                                <p:cTn id="134" presetID="14" presetClass="entr" presetSubtype="10" fill="hold" nodeType="withEffect">
                                  <p:stCondLst>
                                    <p:cond delay="0"/>
                                  </p:stCondLst>
                                  <p:childTnLst>
                                    <p:set>
                                      <p:cBhvr>
                                        <p:cTn id="135" dur="1" fill="hold">
                                          <p:stCondLst>
                                            <p:cond delay="0"/>
                                          </p:stCondLst>
                                        </p:cTn>
                                        <p:tgtEl>
                                          <p:spTgt spid="17"/>
                                        </p:tgtEl>
                                        <p:attrNameLst>
                                          <p:attrName>style.visibility</p:attrName>
                                        </p:attrNameLst>
                                      </p:cBhvr>
                                      <p:to>
                                        <p:strVal val="visible"/>
                                      </p:to>
                                    </p:set>
                                    <p:animEffect transition="in" filter="randombar(horizontal)">
                                      <p:cBhvr>
                                        <p:cTn id="136" dur="500"/>
                                        <p:tgtEl>
                                          <p:spTgt spid="17"/>
                                        </p:tgtEl>
                                      </p:cBhvr>
                                    </p:animEffect>
                                  </p:childTnLst>
                                </p:cTn>
                              </p:par>
                            </p:childTnLst>
                          </p:cTn>
                        </p:par>
                      </p:childTnLst>
                    </p:cTn>
                  </p:par>
                  <p:par>
                    <p:cTn id="137" fill="hold">
                      <p:stCondLst>
                        <p:cond delay="indefinite"/>
                      </p:stCondLst>
                      <p:childTnLst>
                        <p:par>
                          <p:cTn id="138" fill="hold">
                            <p:stCondLst>
                              <p:cond delay="0"/>
                            </p:stCondLst>
                            <p:childTnLst>
                              <p:par>
                                <p:cTn id="139" presetID="26" presetClass="entr" presetSubtype="0" fill="hold" grpId="0" nodeType="clickEffect">
                                  <p:stCondLst>
                                    <p:cond delay="0"/>
                                  </p:stCondLst>
                                  <p:childTnLst>
                                    <p:set>
                                      <p:cBhvr>
                                        <p:cTn id="140" dur="1" fill="hold">
                                          <p:stCondLst>
                                            <p:cond delay="0"/>
                                          </p:stCondLst>
                                        </p:cTn>
                                        <p:tgtEl>
                                          <p:spTgt spid="15"/>
                                        </p:tgtEl>
                                        <p:attrNameLst>
                                          <p:attrName>style.visibility</p:attrName>
                                        </p:attrNameLst>
                                      </p:cBhvr>
                                      <p:to>
                                        <p:strVal val="visible"/>
                                      </p:to>
                                    </p:set>
                                    <p:animEffect transition="in" filter="wipe(down)">
                                      <p:cBhvr>
                                        <p:cTn id="141" dur="580">
                                          <p:stCondLst>
                                            <p:cond delay="0"/>
                                          </p:stCondLst>
                                        </p:cTn>
                                        <p:tgtEl>
                                          <p:spTgt spid="15"/>
                                        </p:tgtEl>
                                      </p:cBhvr>
                                    </p:animEffect>
                                    <p:anim calcmode="lin" valueType="num">
                                      <p:cBhvr>
                                        <p:cTn id="14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47" dur="26">
                                          <p:stCondLst>
                                            <p:cond delay="650"/>
                                          </p:stCondLst>
                                        </p:cTn>
                                        <p:tgtEl>
                                          <p:spTgt spid="15"/>
                                        </p:tgtEl>
                                      </p:cBhvr>
                                      <p:to x="100000" y="60000"/>
                                    </p:animScale>
                                    <p:animScale>
                                      <p:cBhvr>
                                        <p:cTn id="148" dur="166" decel="50000">
                                          <p:stCondLst>
                                            <p:cond delay="676"/>
                                          </p:stCondLst>
                                        </p:cTn>
                                        <p:tgtEl>
                                          <p:spTgt spid="15"/>
                                        </p:tgtEl>
                                      </p:cBhvr>
                                      <p:to x="100000" y="100000"/>
                                    </p:animScale>
                                    <p:animScale>
                                      <p:cBhvr>
                                        <p:cTn id="149" dur="26">
                                          <p:stCondLst>
                                            <p:cond delay="1312"/>
                                          </p:stCondLst>
                                        </p:cTn>
                                        <p:tgtEl>
                                          <p:spTgt spid="15"/>
                                        </p:tgtEl>
                                      </p:cBhvr>
                                      <p:to x="100000" y="80000"/>
                                    </p:animScale>
                                    <p:animScale>
                                      <p:cBhvr>
                                        <p:cTn id="150" dur="166" decel="50000">
                                          <p:stCondLst>
                                            <p:cond delay="1338"/>
                                          </p:stCondLst>
                                        </p:cTn>
                                        <p:tgtEl>
                                          <p:spTgt spid="15"/>
                                        </p:tgtEl>
                                      </p:cBhvr>
                                      <p:to x="100000" y="100000"/>
                                    </p:animScale>
                                    <p:animScale>
                                      <p:cBhvr>
                                        <p:cTn id="151" dur="26">
                                          <p:stCondLst>
                                            <p:cond delay="1642"/>
                                          </p:stCondLst>
                                        </p:cTn>
                                        <p:tgtEl>
                                          <p:spTgt spid="15"/>
                                        </p:tgtEl>
                                      </p:cBhvr>
                                      <p:to x="100000" y="90000"/>
                                    </p:animScale>
                                    <p:animScale>
                                      <p:cBhvr>
                                        <p:cTn id="152" dur="166" decel="50000">
                                          <p:stCondLst>
                                            <p:cond delay="1668"/>
                                          </p:stCondLst>
                                        </p:cTn>
                                        <p:tgtEl>
                                          <p:spTgt spid="15"/>
                                        </p:tgtEl>
                                      </p:cBhvr>
                                      <p:to x="100000" y="100000"/>
                                    </p:animScale>
                                    <p:animScale>
                                      <p:cBhvr>
                                        <p:cTn id="153" dur="26">
                                          <p:stCondLst>
                                            <p:cond delay="1808"/>
                                          </p:stCondLst>
                                        </p:cTn>
                                        <p:tgtEl>
                                          <p:spTgt spid="15"/>
                                        </p:tgtEl>
                                      </p:cBhvr>
                                      <p:to x="100000" y="95000"/>
                                    </p:animScale>
                                    <p:animScale>
                                      <p:cBhvr>
                                        <p:cTn id="154" dur="166" decel="50000">
                                          <p:stCondLst>
                                            <p:cond delay="1834"/>
                                          </p:stCondLst>
                                        </p:cTn>
                                        <p:tgtEl>
                                          <p:spTgt spid="15"/>
                                        </p:tgtEl>
                                      </p:cBhvr>
                                      <p:to x="100000" y="100000"/>
                                    </p:animScale>
                                  </p:childTnLst>
                                </p:cTn>
                              </p:par>
                              <p:par>
                                <p:cTn id="155" presetID="26" presetClass="entr" presetSubtype="0" fill="hold" grpId="0" nodeType="withEffect">
                                  <p:stCondLst>
                                    <p:cond delay="0"/>
                                  </p:stCondLst>
                                  <p:childTnLst>
                                    <p:set>
                                      <p:cBhvr>
                                        <p:cTn id="156" dur="1" fill="hold">
                                          <p:stCondLst>
                                            <p:cond delay="0"/>
                                          </p:stCondLst>
                                        </p:cTn>
                                        <p:tgtEl>
                                          <p:spTgt spid="19"/>
                                        </p:tgtEl>
                                        <p:attrNameLst>
                                          <p:attrName>style.visibility</p:attrName>
                                        </p:attrNameLst>
                                      </p:cBhvr>
                                      <p:to>
                                        <p:strVal val="visible"/>
                                      </p:to>
                                    </p:set>
                                    <p:animEffect transition="in" filter="wipe(down)">
                                      <p:cBhvr>
                                        <p:cTn id="157" dur="580">
                                          <p:stCondLst>
                                            <p:cond delay="0"/>
                                          </p:stCondLst>
                                        </p:cTn>
                                        <p:tgtEl>
                                          <p:spTgt spid="19"/>
                                        </p:tgtEl>
                                      </p:cBhvr>
                                    </p:animEffect>
                                    <p:anim calcmode="lin" valueType="num">
                                      <p:cBhvr>
                                        <p:cTn id="158"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63" dur="26">
                                          <p:stCondLst>
                                            <p:cond delay="650"/>
                                          </p:stCondLst>
                                        </p:cTn>
                                        <p:tgtEl>
                                          <p:spTgt spid="19"/>
                                        </p:tgtEl>
                                      </p:cBhvr>
                                      <p:to x="100000" y="60000"/>
                                    </p:animScale>
                                    <p:animScale>
                                      <p:cBhvr>
                                        <p:cTn id="164" dur="166" decel="50000">
                                          <p:stCondLst>
                                            <p:cond delay="676"/>
                                          </p:stCondLst>
                                        </p:cTn>
                                        <p:tgtEl>
                                          <p:spTgt spid="19"/>
                                        </p:tgtEl>
                                      </p:cBhvr>
                                      <p:to x="100000" y="100000"/>
                                    </p:animScale>
                                    <p:animScale>
                                      <p:cBhvr>
                                        <p:cTn id="165" dur="26">
                                          <p:stCondLst>
                                            <p:cond delay="1312"/>
                                          </p:stCondLst>
                                        </p:cTn>
                                        <p:tgtEl>
                                          <p:spTgt spid="19"/>
                                        </p:tgtEl>
                                      </p:cBhvr>
                                      <p:to x="100000" y="80000"/>
                                    </p:animScale>
                                    <p:animScale>
                                      <p:cBhvr>
                                        <p:cTn id="166" dur="166" decel="50000">
                                          <p:stCondLst>
                                            <p:cond delay="1338"/>
                                          </p:stCondLst>
                                        </p:cTn>
                                        <p:tgtEl>
                                          <p:spTgt spid="19"/>
                                        </p:tgtEl>
                                      </p:cBhvr>
                                      <p:to x="100000" y="100000"/>
                                    </p:animScale>
                                    <p:animScale>
                                      <p:cBhvr>
                                        <p:cTn id="167" dur="26">
                                          <p:stCondLst>
                                            <p:cond delay="1642"/>
                                          </p:stCondLst>
                                        </p:cTn>
                                        <p:tgtEl>
                                          <p:spTgt spid="19"/>
                                        </p:tgtEl>
                                      </p:cBhvr>
                                      <p:to x="100000" y="90000"/>
                                    </p:animScale>
                                    <p:animScale>
                                      <p:cBhvr>
                                        <p:cTn id="168" dur="166" decel="50000">
                                          <p:stCondLst>
                                            <p:cond delay="1668"/>
                                          </p:stCondLst>
                                        </p:cTn>
                                        <p:tgtEl>
                                          <p:spTgt spid="19"/>
                                        </p:tgtEl>
                                      </p:cBhvr>
                                      <p:to x="100000" y="100000"/>
                                    </p:animScale>
                                    <p:animScale>
                                      <p:cBhvr>
                                        <p:cTn id="169" dur="26">
                                          <p:stCondLst>
                                            <p:cond delay="1808"/>
                                          </p:stCondLst>
                                        </p:cTn>
                                        <p:tgtEl>
                                          <p:spTgt spid="19"/>
                                        </p:tgtEl>
                                      </p:cBhvr>
                                      <p:to x="100000" y="95000"/>
                                    </p:animScale>
                                    <p:animScale>
                                      <p:cBhvr>
                                        <p:cTn id="170" dur="166" decel="50000">
                                          <p:stCondLst>
                                            <p:cond delay="1834"/>
                                          </p:stCondLst>
                                        </p:cTn>
                                        <p:tgtEl>
                                          <p:spTgt spid="19"/>
                                        </p:tgtEl>
                                      </p:cBhvr>
                                      <p:to x="100000" y="100000"/>
                                    </p:animScale>
                                  </p:childTnLst>
                                </p:cTn>
                              </p:par>
                            </p:childTnLst>
                          </p:cTn>
                        </p:par>
                      </p:childTnLst>
                    </p:cTn>
                  </p:par>
                  <p:par>
                    <p:cTn id="171" fill="hold">
                      <p:stCondLst>
                        <p:cond delay="indefinite"/>
                      </p:stCondLst>
                      <p:childTnLst>
                        <p:par>
                          <p:cTn id="172" fill="hold">
                            <p:stCondLst>
                              <p:cond delay="0"/>
                            </p:stCondLst>
                            <p:childTnLst>
                              <p:par>
                                <p:cTn id="173" presetID="14" presetClass="entr" presetSubtype="10" fill="hold" nodeType="clickEffect">
                                  <p:stCondLst>
                                    <p:cond delay="0"/>
                                  </p:stCondLst>
                                  <p:childTnLst>
                                    <p:set>
                                      <p:cBhvr>
                                        <p:cTn id="174" dur="1" fill="hold">
                                          <p:stCondLst>
                                            <p:cond delay="0"/>
                                          </p:stCondLst>
                                        </p:cTn>
                                        <p:tgtEl>
                                          <p:spTgt spid="16"/>
                                        </p:tgtEl>
                                        <p:attrNameLst>
                                          <p:attrName>style.visibility</p:attrName>
                                        </p:attrNameLst>
                                      </p:cBhvr>
                                      <p:to>
                                        <p:strVal val="visible"/>
                                      </p:to>
                                    </p:set>
                                    <p:animEffect transition="in" filter="randombar(horizontal)">
                                      <p:cBhvr>
                                        <p:cTn id="175" dur="500"/>
                                        <p:tgtEl>
                                          <p:spTgt spid="16"/>
                                        </p:tgtEl>
                                      </p:cBhvr>
                                    </p:animEffect>
                                  </p:childTnLst>
                                </p:cTn>
                              </p:par>
                            </p:childTnLst>
                          </p:cTn>
                        </p:par>
                      </p:childTnLst>
                    </p:cTn>
                  </p:par>
                  <p:par>
                    <p:cTn id="176" fill="hold">
                      <p:stCondLst>
                        <p:cond delay="indefinite"/>
                      </p:stCondLst>
                      <p:childTnLst>
                        <p:par>
                          <p:cTn id="177" fill="hold">
                            <p:stCondLst>
                              <p:cond delay="0"/>
                            </p:stCondLst>
                            <p:childTnLst>
                              <p:par>
                                <p:cTn id="178" presetID="6" presetClass="entr" presetSubtype="16" fill="hold" nodeType="clickEffect">
                                  <p:stCondLst>
                                    <p:cond delay="0"/>
                                  </p:stCondLst>
                                  <p:childTnLst>
                                    <p:set>
                                      <p:cBhvr>
                                        <p:cTn id="179" dur="1" fill="hold">
                                          <p:stCondLst>
                                            <p:cond delay="0"/>
                                          </p:stCondLst>
                                        </p:cTn>
                                        <p:tgtEl>
                                          <p:spTgt spid="18"/>
                                        </p:tgtEl>
                                        <p:attrNameLst>
                                          <p:attrName>style.visibility</p:attrName>
                                        </p:attrNameLst>
                                      </p:cBhvr>
                                      <p:to>
                                        <p:strVal val="visible"/>
                                      </p:to>
                                    </p:set>
                                    <p:animEffect transition="in" filter="circle(in)">
                                      <p:cBhvr>
                                        <p:cTn id="180" dur="2000"/>
                                        <p:tgtEl>
                                          <p:spTgt spid="18"/>
                                        </p:tgtEl>
                                      </p:cBhvr>
                                    </p:animEffect>
                                  </p:childTnLst>
                                </p:cTn>
                              </p:par>
                            </p:childTnLst>
                          </p:cTn>
                        </p:par>
                      </p:childTnLst>
                    </p:cTn>
                  </p:par>
                  <p:par>
                    <p:cTn id="181" fill="hold">
                      <p:stCondLst>
                        <p:cond delay="indefinite"/>
                      </p:stCondLst>
                      <p:childTnLst>
                        <p:par>
                          <p:cTn id="182" fill="hold">
                            <p:stCondLst>
                              <p:cond delay="0"/>
                            </p:stCondLst>
                            <p:childTnLst>
                              <p:par>
                                <p:cTn id="183" presetID="45" presetClass="entr" presetSubtype="0" fill="hold" grpId="0" nodeType="clickEffect">
                                  <p:stCondLst>
                                    <p:cond delay="0"/>
                                  </p:stCondLst>
                                  <p:childTnLst>
                                    <p:set>
                                      <p:cBhvr>
                                        <p:cTn id="184" dur="1" fill="hold">
                                          <p:stCondLst>
                                            <p:cond delay="0"/>
                                          </p:stCondLst>
                                        </p:cTn>
                                        <p:tgtEl>
                                          <p:spTgt spid="4"/>
                                        </p:tgtEl>
                                        <p:attrNameLst>
                                          <p:attrName>style.visibility</p:attrName>
                                        </p:attrNameLst>
                                      </p:cBhvr>
                                      <p:to>
                                        <p:strVal val="visible"/>
                                      </p:to>
                                    </p:set>
                                    <p:animEffect transition="in" filter="fade">
                                      <p:cBhvr>
                                        <p:cTn id="185" dur="2000"/>
                                        <p:tgtEl>
                                          <p:spTgt spid="4"/>
                                        </p:tgtEl>
                                      </p:cBhvr>
                                    </p:animEffect>
                                    <p:anim calcmode="lin" valueType="num">
                                      <p:cBhvr>
                                        <p:cTn id="186" dur="2000" fill="hold"/>
                                        <p:tgtEl>
                                          <p:spTgt spid="4"/>
                                        </p:tgtEl>
                                        <p:attrNameLst>
                                          <p:attrName>ppt_w</p:attrName>
                                        </p:attrNameLst>
                                      </p:cBhvr>
                                      <p:tavLst>
                                        <p:tav tm="0" fmla="#ppt_w*sin(2.5*pi*$)">
                                          <p:val>
                                            <p:fltVal val="0"/>
                                          </p:val>
                                        </p:tav>
                                        <p:tav tm="100000">
                                          <p:val>
                                            <p:fltVal val="1"/>
                                          </p:val>
                                        </p:tav>
                                      </p:tavLst>
                                    </p:anim>
                                    <p:anim calcmode="lin" valueType="num">
                                      <p:cBhvr>
                                        <p:cTn id="187"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4" grpId="0"/>
      <p:bldP spid="15" grpId="0"/>
      <p:bldP spid="19" grpId="0"/>
      <p:bldP spid="20"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647" y="258772"/>
            <a:ext cx="9270487"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approach -2</a:t>
            </a:r>
            <a:endParaRPr lang="en-US" sz="4400" b="1" cap="none" spc="0" dirty="0">
              <a:ln w="0"/>
              <a:solidFill>
                <a:schemeClr val="tx1"/>
              </a:solidFill>
              <a:effectLst>
                <a:outerShdw blurRad="38100" dist="19050" dir="2700000" algn="tl" rotWithShape="0">
                  <a:schemeClr val="dk1">
                    <a:alpha val="40000"/>
                  </a:schemeClr>
                </a:outerShdw>
              </a:effectLst>
            </a:endParaRPr>
          </a:p>
        </p:txBody>
      </p:sp>
      <p:sp>
        <p:nvSpPr>
          <p:cNvPr id="3" name="Rectangle 2"/>
          <p:cNvSpPr/>
          <p:nvPr/>
        </p:nvSpPr>
        <p:spPr>
          <a:xfrm>
            <a:off x="557647" y="1204889"/>
            <a:ext cx="11052462" cy="2677656"/>
          </a:xfrm>
          <a:prstGeom prst="rect">
            <a:avLst/>
          </a:prstGeom>
        </p:spPr>
        <p:txBody>
          <a:bodyPr wrap="square">
            <a:spAutoFit/>
          </a:bodyPr>
          <a:lstStyle/>
          <a:p>
            <a:r>
              <a:rPr lang="en-IN" sz="2400" b="1" dirty="0" smtClean="0"/>
              <a:t>ANN-approach-2: </a:t>
            </a:r>
          </a:p>
          <a:p>
            <a:endParaRPr lang="en-IN" sz="2400" b="1" dirty="0" smtClean="0"/>
          </a:p>
          <a:p>
            <a:r>
              <a:rPr lang="en-IN" sz="2400" dirty="0" smtClean="0"/>
              <a:t>query </a:t>
            </a:r>
            <a:r>
              <a:rPr lang="en-IN" sz="2400" dirty="0" smtClean="0">
                <a:sym typeface="Wingdings" panose="05000000000000000000" pitchFamily="2" charset="2"/>
              </a:rPr>
              <a:t> [region ,year]</a:t>
            </a:r>
          </a:p>
          <a:p>
            <a:endParaRPr lang="en-IN" sz="2400" dirty="0" smtClean="0">
              <a:sym typeface="Wingdings" panose="05000000000000000000" pitchFamily="2" charset="2"/>
            </a:endParaRPr>
          </a:p>
          <a:p>
            <a:r>
              <a:rPr lang="en-IN" sz="2400" dirty="0" smtClean="0">
                <a:sym typeface="Wingdings" panose="05000000000000000000" pitchFamily="2" charset="2"/>
              </a:rPr>
              <a:t>get-data  all data from 1950 to 2017</a:t>
            </a:r>
          </a:p>
          <a:p>
            <a:r>
              <a:rPr lang="en-IN" sz="2400" dirty="0">
                <a:sym typeface="Wingdings" panose="05000000000000000000" pitchFamily="2" charset="2"/>
              </a:rPr>
              <a:t>	</a:t>
            </a:r>
            <a:r>
              <a:rPr lang="en-IN" sz="2400" dirty="0" smtClean="0">
                <a:sym typeface="Wingdings" panose="05000000000000000000" pitchFamily="2" charset="2"/>
              </a:rPr>
              <a:t>			now predict Jan, ’18</a:t>
            </a:r>
            <a:r>
              <a:rPr lang="en-IN" sz="2400" dirty="0">
                <a:sym typeface="Wingdings" panose="05000000000000000000" pitchFamily="2" charset="2"/>
              </a:rPr>
              <a:t>;</a:t>
            </a:r>
            <a:r>
              <a:rPr lang="en-IN" sz="2400" dirty="0" smtClean="0">
                <a:sym typeface="Wingdings" panose="05000000000000000000" pitchFamily="2" charset="2"/>
              </a:rPr>
              <a:t> Feb, ’18; ….. Up to Dec, ‘query-year </a:t>
            </a:r>
          </a:p>
          <a:p>
            <a:endParaRPr lang="en-IN" sz="2400" dirty="0" smtClean="0">
              <a:sym typeface="Wingdings" panose="05000000000000000000" pitchFamily="2" charset="2"/>
            </a:endParaRPr>
          </a:p>
        </p:txBody>
      </p:sp>
    </p:spTree>
    <p:extLst>
      <p:ext uri="{BB962C8B-B14F-4D97-AF65-F5344CB8AC3E}">
        <p14:creationId xmlns:p14="http://schemas.microsoft.com/office/powerpoint/2010/main" val="193402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017" y="182058"/>
            <a:ext cx="7513595"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results</a:t>
            </a:r>
            <a:endParaRPr lang="en-US" sz="4400" b="1"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36" y="1094510"/>
            <a:ext cx="11770582" cy="5889024"/>
          </a:xfrm>
          <a:prstGeom prst="rect">
            <a:avLst/>
          </a:prstGeom>
        </p:spPr>
      </p:pic>
      <p:sp>
        <p:nvSpPr>
          <p:cNvPr id="6" name="Rounded Rectangle 5"/>
          <p:cNvSpPr/>
          <p:nvPr/>
        </p:nvSpPr>
        <p:spPr>
          <a:xfrm>
            <a:off x="9578103" y="286481"/>
            <a:ext cx="2613897" cy="66501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lgn="just">
              <a:spcAft>
                <a:spcPts val="0"/>
              </a:spcAft>
            </a:pPr>
            <a:r>
              <a:rPr lang="en-IN" sz="1400" b="1" dirty="0">
                <a:solidFill>
                  <a:srgbClr val="FF0000"/>
                </a:solidFill>
                <a:effectLst/>
                <a:latin typeface="Consolas" panose="020B0609020204030204" pitchFamily="49" charset="0"/>
                <a:ea typeface="Calibri" panose="020F0502020204030204" pitchFamily="34" charset="0"/>
                <a:cs typeface="Calibri" panose="020F0502020204030204" pitchFamily="34" charset="0"/>
              </a:rPr>
              <a:t>Red line</a:t>
            </a:r>
            <a:r>
              <a:rPr lang="en-IN" sz="1400" b="1" dirty="0">
                <a:effectLst/>
                <a:latin typeface="Consolas" panose="020B0609020204030204" pitchFamily="49" charset="0"/>
                <a:ea typeface="Calibri" panose="020F0502020204030204" pitchFamily="34" charset="0"/>
                <a:cs typeface="Calibri" panose="020F0502020204030204" pitchFamily="34" charset="0"/>
              </a:rPr>
              <a:t>: approach-1</a:t>
            </a:r>
            <a:endParaRPr lang="en-IN" dirty="0">
              <a:effectLst/>
              <a:ea typeface="Calibri" panose="020F0502020204030204" pitchFamily="34" charset="0"/>
              <a:cs typeface="Times New Roman" panose="02020603050405020304" pitchFamily="18" charset="0"/>
            </a:endParaRPr>
          </a:p>
          <a:p>
            <a:pPr marL="90170" algn="just">
              <a:spcAft>
                <a:spcPts val="0"/>
              </a:spcAft>
            </a:pPr>
            <a:r>
              <a:rPr lang="en-IN" sz="1400" b="1" dirty="0">
                <a:solidFill>
                  <a:srgbClr val="0070C0"/>
                </a:solidFill>
                <a:effectLst/>
                <a:latin typeface="Consolas" panose="020B0609020204030204" pitchFamily="49" charset="0"/>
                <a:ea typeface="Calibri" panose="020F0502020204030204" pitchFamily="34" charset="0"/>
                <a:cs typeface="Calibri" panose="020F0502020204030204" pitchFamily="34" charset="0"/>
              </a:rPr>
              <a:t>Blue line</a:t>
            </a:r>
            <a:r>
              <a:rPr lang="en-IN" sz="1400" b="1" dirty="0">
                <a:effectLst/>
                <a:latin typeface="Consolas" panose="020B0609020204030204" pitchFamily="49" charset="0"/>
                <a:ea typeface="Calibri" panose="020F0502020204030204" pitchFamily="34" charset="0"/>
                <a:cs typeface="Calibri" panose="020F0502020204030204" pitchFamily="34" charset="0"/>
              </a:rPr>
              <a:t>: approach-2</a:t>
            </a:r>
            <a:endParaRPr lang="en-IN" dirty="0">
              <a:effectLst/>
              <a:ea typeface="Calibri" panose="020F0502020204030204" pitchFamily="34" charset="0"/>
              <a:cs typeface="Times New Roman" panose="02020603050405020304" pitchFamily="18" charset="0"/>
            </a:endParaRPr>
          </a:p>
          <a:p>
            <a:pPr algn="ctr">
              <a:spcAft>
                <a:spcPts val="0"/>
              </a:spcAft>
            </a:pPr>
            <a:r>
              <a:rPr lang="en-IN" sz="11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3126851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417" y="286481"/>
            <a:ext cx="7513595" cy="769441"/>
          </a:xfrm>
          <a:prstGeom prst="rect">
            <a:avLst/>
          </a:prstGeom>
          <a:noFill/>
        </p:spPr>
        <p:txBody>
          <a:bodyPr wrap="none" lIns="91440" tIns="45720" rIns="91440" bIns="45720">
            <a:spAutoFit/>
          </a:bodyPr>
          <a:lstStyle/>
          <a:p>
            <a:pPr algn="ctr"/>
            <a:r>
              <a:rPr lang="en-US" sz="4400" b="1" cap="none" spc="0" dirty="0" smtClean="0">
                <a:ln w="0"/>
                <a:solidFill>
                  <a:schemeClr val="tx1"/>
                </a:solidFill>
                <a:effectLst>
                  <a:outerShdw blurRad="38100" dist="19050" dir="2700000" algn="tl" rotWithShape="0">
                    <a:schemeClr val="dk1">
                      <a:alpha val="40000"/>
                    </a:schemeClr>
                  </a:outerShdw>
                </a:effectLst>
              </a:rPr>
              <a:t>Experiment &amp; Result: results</a:t>
            </a:r>
            <a:endParaRPr lang="en-US" sz="4400" b="1" cap="none" spc="0" dirty="0">
              <a:ln w="0"/>
              <a:solidFill>
                <a:schemeClr val="tx1"/>
              </a:solidFill>
              <a:effectLst>
                <a:outerShdw blurRad="38100" dist="19050" dir="2700000" algn="tl" rotWithShape="0">
                  <a:schemeClr val="dk1">
                    <a:alpha val="40000"/>
                  </a:schemeClr>
                </a:outerShdw>
              </a:effectLs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472" y="1209811"/>
            <a:ext cx="11069782" cy="5437645"/>
          </a:xfrm>
          <a:prstGeom prst="rect">
            <a:avLst/>
          </a:prstGeom>
        </p:spPr>
      </p:pic>
      <p:sp>
        <p:nvSpPr>
          <p:cNvPr id="5" name="Rounded Rectangle 4"/>
          <p:cNvSpPr/>
          <p:nvPr/>
        </p:nvSpPr>
        <p:spPr>
          <a:xfrm>
            <a:off x="8989059" y="286481"/>
            <a:ext cx="3202941" cy="92333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lgn="just">
              <a:spcAft>
                <a:spcPts val="0"/>
              </a:spcAft>
            </a:pPr>
            <a:r>
              <a:rPr lang="en-IN" sz="1600" b="1" dirty="0">
                <a:solidFill>
                  <a:srgbClr val="FF0000"/>
                </a:solidFill>
                <a:effectLst/>
                <a:latin typeface="Consolas" panose="020B0609020204030204" pitchFamily="49" charset="0"/>
                <a:ea typeface="Calibri" panose="020F0502020204030204" pitchFamily="34" charset="0"/>
                <a:cs typeface="Calibri" panose="020F0502020204030204" pitchFamily="34" charset="0"/>
              </a:rPr>
              <a:t>Red line</a:t>
            </a:r>
            <a:r>
              <a:rPr lang="en-IN" sz="1600" b="1" dirty="0">
                <a:effectLst/>
                <a:latin typeface="Consolas" panose="020B0609020204030204" pitchFamily="49" charset="0"/>
                <a:ea typeface="Calibri" panose="020F0502020204030204" pitchFamily="34" charset="0"/>
                <a:cs typeface="Calibri" panose="020F0502020204030204" pitchFamily="34" charset="0"/>
              </a:rPr>
              <a:t>: </a:t>
            </a:r>
            <a:r>
              <a:rPr lang="en-IN" sz="1600" b="1" dirty="0" smtClean="0">
                <a:effectLst/>
                <a:latin typeface="Consolas" panose="020B0609020204030204" pitchFamily="49" charset="0"/>
                <a:ea typeface="Calibri" panose="020F0502020204030204" pitchFamily="34" charset="0"/>
                <a:cs typeface="Calibri" panose="020F0502020204030204" pitchFamily="34" charset="0"/>
              </a:rPr>
              <a:t>approach-1</a:t>
            </a:r>
            <a:endParaRPr lang="en-IN" sz="2000" dirty="0">
              <a:effectLst/>
              <a:ea typeface="Calibri" panose="020F0502020204030204" pitchFamily="34" charset="0"/>
              <a:cs typeface="Times New Roman" panose="02020603050405020304" pitchFamily="18" charset="0"/>
            </a:endParaRPr>
          </a:p>
          <a:p>
            <a:pPr marL="90170" algn="just">
              <a:spcAft>
                <a:spcPts val="0"/>
              </a:spcAft>
            </a:pPr>
            <a:r>
              <a:rPr lang="en-IN" sz="1600" b="1" dirty="0">
                <a:solidFill>
                  <a:srgbClr val="0070C0"/>
                </a:solidFill>
                <a:effectLst/>
                <a:latin typeface="Consolas" panose="020B0609020204030204" pitchFamily="49" charset="0"/>
                <a:ea typeface="Calibri" panose="020F0502020204030204" pitchFamily="34" charset="0"/>
                <a:cs typeface="Calibri" panose="020F0502020204030204" pitchFamily="34" charset="0"/>
              </a:rPr>
              <a:t>Blue line</a:t>
            </a:r>
            <a:r>
              <a:rPr lang="en-IN" sz="1600" b="1" dirty="0">
                <a:effectLst/>
                <a:latin typeface="Consolas" panose="020B0609020204030204" pitchFamily="49" charset="0"/>
                <a:ea typeface="Calibri" panose="020F0502020204030204" pitchFamily="34" charset="0"/>
                <a:cs typeface="Calibri" panose="020F0502020204030204" pitchFamily="34" charset="0"/>
              </a:rPr>
              <a:t>: </a:t>
            </a:r>
            <a:r>
              <a:rPr lang="en-IN" sz="1600" b="1" dirty="0" smtClean="0">
                <a:effectLst/>
                <a:latin typeface="Consolas" panose="020B0609020204030204" pitchFamily="49" charset="0"/>
                <a:ea typeface="Calibri" panose="020F0502020204030204" pitchFamily="34" charset="0"/>
                <a:cs typeface="Calibri" panose="020F0502020204030204" pitchFamily="34" charset="0"/>
              </a:rPr>
              <a:t>approach-2</a:t>
            </a:r>
            <a:endParaRPr lang="en-IN" sz="2000" dirty="0">
              <a:effectLst/>
              <a:ea typeface="Calibri" panose="020F0502020204030204" pitchFamily="34" charset="0"/>
              <a:cs typeface="Times New Roman" panose="02020603050405020304" pitchFamily="18" charset="0"/>
            </a:endParaRPr>
          </a:p>
          <a:p>
            <a:pPr marL="90170">
              <a:spcAft>
                <a:spcPts val="0"/>
              </a:spcAft>
            </a:pPr>
            <a:r>
              <a:rPr lang="en-IN" sz="1600" b="1" dirty="0">
                <a:solidFill>
                  <a:srgbClr val="00B050"/>
                </a:solidFill>
                <a:effectLst/>
                <a:latin typeface="Consolas" panose="020B0609020204030204" pitchFamily="49" charset="0"/>
                <a:ea typeface="Calibri" panose="020F0502020204030204" pitchFamily="34" charset="0"/>
                <a:cs typeface="Calibri" panose="020F0502020204030204" pitchFamily="34" charset="0"/>
              </a:rPr>
              <a:t>Green line</a:t>
            </a:r>
            <a:r>
              <a:rPr lang="en-IN" sz="1600" b="1" dirty="0">
                <a:effectLst/>
                <a:latin typeface="Consolas" panose="020B0609020204030204" pitchFamily="49" charset="0"/>
                <a:ea typeface="Calibri" panose="020F0502020204030204" pitchFamily="34" charset="0"/>
                <a:cs typeface="Calibri" panose="020F0502020204030204" pitchFamily="34" charset="0"/>
              </a:rPr>
              <a:t>: database data</a:t>
            </a:r>
            <a:endParaRPr lang="en-IN" sz="2000" dirty="0">
              <a:effectLst/>
              <a:ea typeface="Calibri" panose="020F0502020204030204" pitchFamily="34" charset="0"/>
              <a:cs typeface="Times New Roman" panose="02020603050405020304" pitchFamily="18" charset="0"/>
            </a:endParaRPr>
          </a:p>
          <a:p>
            <a:pPr algn="ctr">
              <a:spcAft>
                <a:spcPts val="0"/>
              </a:spcAft>
            </a:pPr>
            <a:r>
              <a:rPr lang="en-IN" sz="11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8663783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1891" y="1611592"/>
            <a:ext cx="10695709" cy="3785652"/>
          </a:xfrm>
          <a:prstGeom prst="rect">
            <a:avLst/>
          </a:prstGeom>
        </p:spPr>
        <p:txBody>
          <a:bodyPr wrap="square">
            <a:spAutoFit/>
          </a:bodyPr>
          <a:lstStyle/>
          <a:p>
            <a:r>
              <a:rPr lang="en-IN" sz="2000" dirty="0" smtClean="0"/>
              <a:t>Rainfall </a:t>
            </a:r>
            <a:r>
              <a:rPr lang="en-IN" sz="2000" dirty="0"/>
              <a:t>prediction is a beneficial but challenging task. </a:t>
            </a:r>
            <a:endParaRPr lang="en-IN" sz="2000" dirty="0" smtClean="0"/>
          </a:p>
          <a:p>
            <a:r>
              <a:rPr lang="en-IN" sz="2000" dirty="0" smtClean="0"/>
              <a:t>Data </a:t>
            </a:r>
            <a:r>
              <a:rPr lang="en-IN" sz="2000" dirty="0"/>
              <a:t>mining techniques have the ability to predict the rainfall by extracting and using the hidden knowledge from past weather </a:t>
            </a:r>
            <a:r>
              <a:rPr lang="en-IN" sz="2000" dirty="0" smtClean="0"/>
              <a:t>data. </a:t>
            </a:r>
          </a:p>
          <a:p>
            <a:r>
              <a:rPr lang="en-IN" sz="2000" dirty="0" smtClean="0"/>
              <a:t>Various </a:t>
            </a:r>
            <a:r>
              <a:rPr lang="en-IN" sz="2000" dirty="0"/>
              <a:t>models and techniques are available today for effective rainfall </a:t>
            </a:r>
            <a:r>
              <a:rPr lang="en-IN" sz="2000" dirty="0" smtClean="0"/>
              <a:t>prediction.</a:t>
            </a:r>
            <a:r>
              <a:rPr lang="en-IN" sz="2000" dirty="0"/>
              <a:t> </a:t>
            </a:r>
            <a:r>
              <a:rPr lang="en-IN" sz="2000" dirty="0" smtClean="0"/>
              <a:t>Here, I </a:t>
            </a:r>
            <a:r>
              <a:rPr lang="en-IN" sz="2000" dirty="0"/>
              <a:t>am </a:t>
            </a:r>
            <a:r>
              <a:rPr lang="en-IN" sz="2000" dirty="0" smtClean="0"/>
              <a:t>using </a:t>
            </a:r>
            <a:r>
              <a:rPr lang="en-IN" sz="2000" dirty="0"/>
              <a:t>ANN (Artificial Neural Network) to predict the future data. There are another option to predict the rainfall data are SVM (Support Vector Machine), RNN (Recurrent Neural Networks), ANFIS (Adaptive Neuro Fuzzy Inference System) etc. and after that if we comparison all of things then we get a better solution to predict Rainfall data. I start to project with the goal of weather prediction. But, with only rainfall prediction we did not predict the weather data. Therefore, if we add another criterion of the weather data prediction, like temperature, humidity, air-presser etc. then we predict a perfect weather condition. </a:t>
            </a:r>
          </a:p>
        </p:txBody>
      </p:sp>
      <p:sp>
        <p:nvSpPr>
          <p:cNvPr id="3" name="Rectangle 2"/>
          <p:cNvSpPr/>
          <p:nvPr/>
        </p:nvSpPr>
        <p:spPr>
          <a:xfrm>
            <a:off x="581891" y="426515"/>
            <a:ext cx="7128875" cy="769441"/>
          </a:xfrm>
          <a:prstGeom prst="rect">
            <a:avLst/>
          </a:prstGeom>
          <a:noFill/>
        </p:spPr>
        <p:txBody>
          <a:bodyPr wrap="none" lIns="91440" tIns="45720" rIns="91440" bIns="45720">
            <a:spAutoFit/>
          </a:bodyPr>
          <a:lstStyle/>
          <a:p>
            <a:pPr algn="ctr"/>
            <a:r>
              <a:rPr lang="en-US" sz="4400" b="1" smtClean="0">
                <a:ln w="0"/>
                <a:effectLst>
                  <a:outerShdw blurRad="38100" dist="19050" dir="2700000" algn="tl" rotWithShape="0">
                    <a:schemeClr val="dk1">
                      <a:alpha val="40000"/>
                    </a:schemeClr>
                  </a:outerShdw>
                </a:effectLst>
              </a:rPr>
              <a:t>Conclusion &amp; Future Work</a:t>
            </a:r>
            <a:endParaRPr lang="en-US" sz="4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45985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1831" y="258902"/>
            <a:ext cx="3239990" cy="769441"/>
          </a:xfrm>
          <a:prstGeom prst="rect">
            <a:avLst/>
          </a:prstGeom>
          <a:noFill/>
        </p:spPr>
        <p:txBody>
          <a:bodyPr wrap="none" lIns="91440" tIns="45720" rIns="91440" bIns="45720">
            <a:spAutoFit/>
          </a:bodyPr>
          <a:lstStyle/>
          <a:p>
            <a:pPr algn="ctr"/>
            <a:r>
              <a:rPr lang="en-US" sz="4400" b="1" dirty="0" smtClean="0">
                <a:ln w="0"/>
                <a:effectLst>
                  <a:outerShdw blurRad="38100" dist="19050" dir="2700000" algn="tl" rotWithShape="0">
                    <a:schemeClr val="dk1">
                      <a:alpha val="40000"/>
                    </a:schemeClr>
                  </a:outerShdw>
                </a:effectLst>
              </a:rPr>
              <a:t>References</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7" name="Rectangle 6"/>
          <p:cNvSpPr/>
          <p:nvPr/>
        </p:nvSpPr>
        <p:spPr>
          <a:xfrm>
            <a:off x="451831" y="1028343"/>
            <a:ext cx="10881187" cy="4524315"/>
          </a:xfrm>
          <a:prstGeom prst="rect">
            <a:avLst/>
          </a:prstGeom>
        </p:spPr>
        <p:txBody>
          <a:bodyPr wrap="square">
            <a:spAutoFit/>
          </a:bodyPr>
          <a:lstStyle/>
          <a:p>
            <a:r>
              <a:rPr lang="en-IN" dirty="0"/>
              <a:t>[01]. Administrator, N. C. (2017, august 07). NASA - What's the Difference Between Weather and Climate? Retrieved from nasa.gov: </a:t>
            </a:r>
            <a:r>
              <a:rPr lang="en-IN" dirty="0">
                <a:hlinkClick r:id="rId2"/>
              </a:rPr>
              <a:t>https://</a:t>
            </a:r>
            <a:r>
              <a:rPr lang="en-IN" dirty="0" smtClean="0">
                <a:hlinkClick r:id="rId2"/>
              </a:rPr>
              <a:t>www.nasa.gov</a:t>
            </a:r>
            <a:endParaRPr lang="en-IN" dirty="0" smtClean="0"/>
          </a:p>
          <a:p>
            <a:endParaRPr lang="en-IN" dirty="0" smtClean="0"/>
          </a:p>
          <a:p>
            <a:r>
              <a:rPr lang="en-IN" dirty="0" smtClean="0"/>
              <a:t>[</a:t>
            </a:r>
            <a:r>
              <a:rPr lang="en-IN" dirty="0"/>
              <a:t>02]. &amp; ISSAC, L. P. (2014, January). SQL vs NoSQL Database Differences Explained with few Example DB. Retrieved from thegeekstuff.com: </a:t>
            </a:r>
            <a:r>
              <a:rPr lang="en-IN" dirty="0">
                <a:hlinkClick r:id="rId3"/>
              </a:rPr>
              <a:t>https://</a:t>
            </a:r>
            <a:r>
              <a:rPr lang="en-IN" dirty="0" smtClean="0">
                <a:hlinkClick r:id="rId3"/>
              </a:rPr>
              <a:t>www.thegeekstuff.com</a:t>
            </a:r>
            <a:endParaRPr lang="en-IN" dirty="0" smtClean="0"/>
          </a:p>
          <a:p>
            <a:endParaRPr lang="en-IN" dirty="0"/>
          </a:p>
          <a:p>
            <a:r>
              <a:rPr lang="en-IN" dirty="0" smtClean="0"/>
              <a:t>[</a:t>
            </a:r>
            <a:r>
              <a:rPr lang="en-IN" dirty="0"/>
              <a:t>03]. J. J. (2015, </a:t>
            </a:r>
            <a:r>
              <a:rPr lang="en-IN" dirty="0" smtClean="0"/>
              <a:t>February). </a:t>
            </a:r>
            <a:r>
              <a:rPr lang="en-IN" dirty="0"/>
              <a:t>Why and when should I use NoSQL instead of SQL? Retrieved from quora.com: </a:t>
            </a:r>
            <a:r>
              <a:rPr lang="en-IN" u="sng" dirty="0">
                <a:solidFill>
                  <a:schemeClr val="accent6">
                    <a:lumMod val="60000"/>
                    <a:lumOff val="40000"/>
                  </a:schemeClr>
                </a:solidFill>
              </a:rPr>
              <a:t>https://www.quora.com/Why-and-when-should-I-use-NoSQL-instead-of-SQL </a:t>
            </a:r>
            <a:endParaRPr lang="en-IN" u="sng" dirty="0" smtClean="0">
              <a:solidFill>
                <a:schemeClr val="accent6">
                  <a:lumMod val="60000"/>
                  <a:lumOff val="40000"/>
                </a:schemeClr>
              </a:solidFill>
            </a:endParaRPr>
          </a:p>
          <a:p>
            <a:endParaRPr lang="en-IN" dirty="0" smtClean="0"/>
          </a:p>
          <a:p>
            <a:r>
              <a:rPr lang="en-IN" dirty="0" smtClean="0"/>
              <a:t>[</a:t>
            </a:r>
            <a:r>
              <a:rPr lang="en-IN" dirty="0"/>
              <a:t>04]. S. S. (2017, August). Artificial Neural Network (ANN) in Machine Learning. Retrieved from datasciencecentral.com: </a:t>
            </a:r>
            <a:r>
              <a:rPr lang="en-IN" u="sng" dirty="0">
                <a:solidFill>
                  <a:schemeClr val="accent6">
                    <a:lumMod val="60000"/>
                    <a:lumOff val="40000"/>
                  </a:schemeClr>
                </a:solidFill>
              </a:rPr>
              <a:t>https://www.datasciencecentral.com/profiles/blogs/artificial-neural-network-ann-inmachine-learning </a:t>
            </a:r>
            <a:endParaRPr lang="en-IN" u="sng" dirty="0" smtClean="0">
              <a:solidFill>
                <a:schemeClr val="accent6">
                  <a:lumMod val="60000"/>
                  <a:lumOff val="40000"/>
                </a:schemeClr>
              </a:solidFill>
            </a:endParaRPr>
          </a:p>
          <a:p>
            <a:endParaRPr lang="en-IN" dirty="0" smtClean="0"/>
          </a:p>
          <a:p>
            <a:r>
              <a:rPr lang="en-IN" dirty="0" smtClean="0"/>
              <a:t>[</a:t>
            </a:r>
            <a:r>
              <a:rPr lang="en-IN" dirty="0"/>
              <a:t>05]. J. R. (2019, April 30). Equalizing Seasonal Time Series Using Artificial Neural Networks in Predicting the Euro– Yuan Exchange Rate. 76. Retrieved from mdpi.com: </a:t>
            </a:r>
            <a:r>
              <a:rPr lang="en-IN" u="sng" dirty="0">
                <a:solidFill>
                  <a:schemeClr val="accent6">
                    <a:lumMod val="60000"/>
                    <a:lumOff val="40000"/>
                  </a:schemeClr>
                </a:solidFill>
              </a:rPr>
              <a:t>https://doi.org/10.3390/jrfm12020076 </a:t>
            </a:r>
            <a:endParaRPr lang="en-IN" u="sng" dirty="0" smtClean="0">
              <a:solidFill>
                <a:schemeClr val="accent6">
                  <a:lumMod val="60000"/>
                  <a:lumOff val="40000"/>
                </a:schemeClr>
              </a:solidFill>
            </a:endParaRPr>
          </a:p>
        </p:txBody>
      </p:sp>
    </p:spTree>
    <p:extLst>
      <p:ext uri="{BB962C8B-B14F-4D97-AF65-F5344CB8AC3E}">
        <p14:creationId xmlns:p14="http://schemas.microsoft.com/office/powerpoint/2010/main" val="21439868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1831" y="1207992"/>
            <a:ext cx="10617951" cy="2308324"/>
          </a:xfrm>
          <a:prstGeom prst="rect">
            <a:avLst/>
          </a:prstGeom>
        </p:spPr>
        <p:txBody>
          <a:bodyPr wrap="square">
            <a:spAutoFit/>
          </a:bodyPr>
          <a:lstStyle/>
          <a:p>
            <a:r>
              <a:rPr lang="en-IN" dirty="0"/>
              <a:t>[06] L S Rathore, S. D. (2013). STATE LEVEL CLIMATE CHANGE TRENDS IN INDIA. Lodi Road, New Delhi- 3 (India): India Meteorological Department. Retrieved from </a:t>
            </a:r>
            <a:r>
              <a:rPr lang="en-IN" dirty="0">
                <a:hlinkClick r:id="rId2"/>
              </a:rPr>
              <a:t>http://</a:t>
            </a:r>
            <a:r>
              <a:rPr lang="en-IN" dirty="0" smtClean="0">
                <a:hlinkClick r:id="rId2"/>
              </a:rPr>
              <a:t>www.imd.gov.in/pages/services_climate.php</a:t>
            </a:r>
            <a:endParaRPr lang="en-IN" dirty="0" smtClean="0"/>
          </a:p>
          <a:p>
            <a:endParaRPr lang="en-IN" dirty="0"/>
          </a:p>
          <a:p>
            <a:r>
              <a:rPr lang="en-IN" dirty="0" smtClean="0"/>
              <a:t>[07]. </a:t>
            </a:r>
            <a:r>
              <a:rPr lang="en-IN" dirty="0"/>
              <a:t>P. T. (2007). Sigmoid Functions and Their Usage in. Bahçeşehir University,, Faculty of Engineering and Natural Sciences, Computer Engineering Department. Beşiktaş, İstanbul / TÜRKİYE: -. Retrieved from </a:t>
            </a:r>
            <a:r>
              <a:rPr lang="en-IN" dirty="0" smtClean="0"/>
              <a:t>excel.ucf.edu: </a:t>
            </a:r>
            <a:r>
              <a:rPr lang="en-IN" u="sng" dirty="0" smtClean="0">
                <a:solidFill>
                  <a:schemeClr val="accent6">
                    <a:lumMod val="60000"/>
                    <a:lumOff val="40000"/>
                  </a:schemeClr>
                </a:solidFill>
              </a:rPr>
              <a:t>https</a:t>
            </a:r>
            <a:r>
              <a:rPr lang="en-IN" u="sng" dirty="0">
                <a:solidFill>
                  <a:schemeClr val="accent6">
                    <a:lumMod val="60000"/>
                    <a:lumOff val="40000"/>
                  </a:schemeClr>
                </a:solidFill>
              </a:rPr>
              <a:t>://excel.ucf.edu/classes/2007/Spring/appsII/Chapter1.pdf </a:t>
            </a:r>
            <a:endParaRPr lang="en-IN" dirty="0"/>
          </a:p>
        </p:txBody>
      </p:sp>
      <p:sp>
        <p:nvSpPr>
          <p:cNvPr id="3" name="Rectangle 2"/>
          <p:cNvSpPr/>
          <p:nvPr/>
        </p:nvSpPr>
        <p:spPr>
          <a:xfrm>
            <a:off x="451831" y="258902"/>
            <a:ext cx="3239990" cy="769441"/>
          </a:xfrm>
          <a:prstGeom prst="rect">
            <a:avLst/>
          </a:prstGeom>
          <a:noFill/>
        </p:spPr>
        <p:txBody>
          <a:bodyPr wrap="none" lIns="91440" tIns="45720" rIns="91440" bIns="45720">
            <a:spAutoFit/>
          </a:bodyPr>
          <a:lstStyle/>
          <a:p>
            <a:pPr algn="ctr"/>
            <a:r>
              <a:rPr lang="en-US" sz="4400" b="1" dirty="0" smtClean="0">
                <a:ln w="0"/>
                <a:effectLst>
                  <a:outerShdw blurRad="38100" dist="19050" dir="2700000" algn="tl" rotWithShape="0">
                    <a:schemeClr val="dk1">
                      <a:alpha val="40000"/>
                    </a:schemeClr>
                  </a:outerShdw>
                </a:effectLst>
              </a:rPr>
              <a:t>References</a:t>
            </a:r>
            <a:endParaRPr lang="en-US"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908498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6182" y="1943526"/>
            <a:ext cx="9414107" cy="3085673"/>
          </a:xfrm>
          <a:prstGeom prst="rect">
            <a:avLst/>
          </a:prstGeom>
        </p:spPr>
      </p:pic>
    </p:spTree>
    <p:extLst>
      <p:ext uri="{BB962C8B-B14F-4D97-AF65-F5344CB8AC3E}">
        <p14:creationId xmlns:p14="http://schemas.microsoft.com/office/powerpoint/2010/main" val="363544857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1562</TotalTime>
  <Words>1680</Words>
  <Application>Microsoft Office PowerPoint</Application>
  <PresentationFormat>Widescreen</PresentationFormat>
  <Paragraphs>306</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맑은 고딕</vt:lpstr>
      <vt:lpstr>Algerian</vt:lpstr>
      <vt:lpstr>Arial</vt:lpstr>
      <vt:lpstr>Calibri</vt:lpstr>
      <vt:lpstr>Calibri (Body)</vt:lpstr>
      <vt:lpstr>Century Gothic</vt:lpstr>
      <vt:lpstr>Century Gothic (Body)</vt:lpstr>
      <vt:lpstr>Consolas</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Programming</dc:creator>
  <cp:lastModifiedBy>python</cp:lastModifiedBy>
  <cp:revision>148</cp:revision>
  <dcterms:created xsi:type="dcterms:W3CDTF">2018-11-27T16:42:05Z</dcterms:created>
  <dcterms:modified xsi:type="dcterms:W3CDTF">2019-07-27T17:17:22Z</dcterms:modified>
</cp:coreProperties>
</file>